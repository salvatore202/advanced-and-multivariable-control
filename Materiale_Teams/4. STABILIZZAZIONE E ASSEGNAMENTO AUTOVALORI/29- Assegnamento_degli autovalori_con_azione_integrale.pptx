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24" r:id="rId2"/>
    <p:sldId id="494" r:id="rId3"/>
    <p:sldId id="495" r:id="rId4"/>
    <p:sldId id="496" r:id="rId5"/>
    <p:sldId id="497" r:id="rId6"/>
    <p:sldId id="502" r:id="rId7"/>
    <p:sldId id="512" r:id="rId8"/>
    <p:sldId id="514" r:id="rId9"/>
    <p:sldId id="515" r:id="rId10"/>
  </p:sldIdLst>
  <p:sldSz cx="9144000" cy="6858000" type="screen4x3"/>
  <p:notesSz cx="6794500" cy="9918700"/>
  <p:embeddedFontLst>
    <p:embeddedFont>
      <p:font typeface="Cambria Math" panose="02040503050406030204" pitchFamily="18" charset="0"/>
      <p:regular r:id="rId13"/>
    </p:embeddedFont>
    <p:embeddedFont>
      <p:font typeface="Garamond" panose="02020404030301010803" pitchFamily="18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  <p:embeddedFont>
      <p:font typeface="Wingdings 2" pitchFamily="2" charset="2"/>
      <p:regular r:id="rId22"/>
    </p:embeddedFont>
  </p:embeddedFontLst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8000"/>
    <a:srgbClr val="3D3D5B"/>
    <a:srgbClr val="666699"/>
    <a:srgbClr val="006600"/>
    <a:srgbClr val="BBBBD1"/>
    <a:srgbClr val="FFFF00"/>
    <a:srgbClr val="A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0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8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46" y="-108"/>
      </p:cViewPr>
      <p:guideLst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gs" Target="tags/tag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18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fld id="{54A5827C-85B4-43FE-BF17-E3823D5DD21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226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1700"/>
            <a:ext cx="49815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34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34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cs typeface="+mn-cs"/>
              </a:defRPr>
            </a:lvl1pPr>
          </a:lstStyle>
          <a:p>
            <a:pPr>
              <a:defRPr/>
            </a:pPr>
            <a:fld id="{F20BCF7C-BC30-4725-9DFC-152D64AED2A7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382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286250" y="6643688"/>
            <a:ext cx="457200" cy="214312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E25C708E-5992-4577-8A10-8AE712C908A3}" type="slidenum">
              <a:rPr lang="en-US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8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128792" cy="692696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670675"/>
            <a:ext cx="9144000" cy="214313"/>
          </a:xfrm>
          <a:solidFill>
            <a:schemeClr val="accent2"/>
          </a:solidFill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Control 2014-15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49472-3F9B-4117-B0DA-7708E932AFAD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0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835253"/>
            <a:ext cx="7772400" cy="1362075"/>
          </a:xfrm>
        </p:spPr>
        <p:txBody>
          <a:bodyPr anchorCtr="1"/>
          <a:lstStyle>
            <a:lvl1pPr algn="ctr">
              <a:defRPr sz="3600" b="0" cap="all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35729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9EC56-B7BD-49DA-9529-E90BF77B935F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3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3954462" cy="52562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150" y="1125538"/>
            <a:ext cx="3956050" cy="52562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24521-F7E7-4300-B487-560F81275FE0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1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9F80A-EDCA-497D-ACE3-547E4AB1AE1C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1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Carlo </a:t>
            </a:r>
            <a:r>
              <a:rPr lang="en-US" err="1"/>
              <a:t>Cosentino</a:t>
            </a:r>
            <a:r>
              <a:rPr lang="en-US"/>
              <a:t>	</a:t>
            </a:r>
            <a:r>
              <a:rPr lang="en-US" err="1"/>
              <a:t>Fondamenti</a:t>
            </a:r>
            <a:r>
              <a:rPr lang="en-US"/>
              <a:t> </a:t>
            </a:r>
            <a:r>
              <a:rPr lang="en-US" err="1"/>
              <a:t>di</a:t>
            </a:r>
            <a:r>
              <a:rPr lang="en-US"/>
              <a:t> </a:t>
            </a:r>
            <a:r>
              <a:rPr lang="en-US" err="1"/>
              <a:t>Automatica</a:t>
            </a:r>
            <a:r>
              <a:rPr lang="en-US"/>
              <a:t>, A.A. 2009/10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B93A7-8395-4E0C-A927-44BEA3456973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5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Prof. Carlo </a:t>
            </a:r>
            <a:r>
              <a:rPr lang="en-US" err="1"/>
              <a:t>Cosentino</a:t>
            </a:r>
            <a:r>
              <a:rPr lang="en-US"/>
              <a:t>	</a:t>
            </a:r>
            <a:r>
              <a:rPr lang="en-US" err="1"/>
              <a:t>Fondamenti</a:t>
            </a:r>
            <a:r>
              <a:rPr lang="en-US"/>
              <a:t> di </a:t>
            </a:r>
            <a:r>
              <a:rPr lang="en-US" err="1"/>
              <a:t>Automatica</a:t>
            </a:r>
            <a:r>
              <a:rPr lang="en-US"/>
              <a:t>, A.A. 2009/10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1EE81-C562-4971-8C77-8A535A8A0049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99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347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9552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A3B1D-697B-4E08-B062-C44BAE6197E7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3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499F6-254E-4BFC-AFD9-C8C2F16262D6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2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ChangeArrowheads="1"/>
          </p:cNvSpPr>
          <p:nvPr/>
        </p:nvSpPr>
        <p:spPr bwMode="auto">
          <a:xfrm>
            <a:off x="21094" y="-27384"/>
            <a:ext cx="9122906" cy="8366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it-IT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90047" y="66453"/>
            <a:ext cx="6948487" cy="626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Fare </a:t>
            </a:r>
            <a:r>
              <a:rPr lang="en-US" altLang="en-US" dirty="0" err="1"/>
              <a:t>clic</a:t>
            </a:r>
            <a:r>
              <a:rPr lang="en-US" altLang="en-US" dirty="0"/>
              <a:t> per </a:t>
            </a:r>
            <a:r>
              <a:rPr lang="en-US" altLang="en-US" dirty="0" err="1"/>
              <a:t>modificare</a:t>
            </a:r>
            <a:r>
              <a:rPr lang="en-US" altLang="en-US" dirty="0"/>
              <a:t> lo stile del </a:t>
            </a:r>
            <a:r>
              <a:rPr lang="en-US" altLang="en-US" dirty="0" err="1"/>
              <a:t>titolo</a:t>
            </a:r>
            <a:r>
              <a:rPr lang="en-US" altLang="en-US" dirty="0"/>
              <a:t> </a:t>
            </a:r>
            <a:r>
              <a:rPr lang="en-US" altLang="en-US" dirty="0" err="1"/>
              <a:t>dello</a:t>
            </a:r>
            <a:r>
              <a:rPr lang="en-US" altLang="en-US" dirty="0"/>
              <a:t> schema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062912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Fare </a:t>
            </a:r>
            <a:r>
              <a:rPr lang="en-US" altLang="en-US" dirty="0" err="1"/>
              <a:t>clic</a:t>
            </a:r>
            <a:r>
              <a:rPr lang="en-US" altLang="en-US" dirty="0"/>
              <a:t> per </a:t>
            </a:r>
            <a:r>
              <a:rPr lang="en-US" altLang="en-US" dirty="0" err="1"/>
              <a:t>modificare</a:t>
            </a:r>
            <a:r>
              <a:rPr lang="en-US" altLang="en-US" dirty="0"/>
              <a:t> </a:t>
            </a:r>
            <a:r>
              <a:rPr lang="en-US" altLang="en-US" dirty="0" err="1"/>
              <a:t>gli</a:t>
            </a:r>
            <a:r>
              <a:rPr lang="en-US" altLang="en-US" dirty="0"/>
              <a:t> </a:t>
            </a:r>
            <a:r>
              <a:rPr lang="en-US" altLang="en-US" dirty="0" err="1"/>
              <a:t>stili</a:t>
            </a:r>
            <a:r>
              <a:rPr lang="en-US" altLang="en-US" dirty="0"/>
              <a:t> del </a:t>
            </a:r>
            <a:r>
              <a:rPr lang="en-US" altLang="en-US" dirty="0" err="1"/>
              <a:t>testo</a:t>
            </a:r>
            <a:r>
              <a:rPr lang="en-US" altLang="en-US" dirty="0"/>
              <a:t> </a:t>
            </a:r>
            <a:r>
              <a:rPr lang="en-US" altLang="en-US" dirty="0" err="1"/>
              <a:t>dello</a:t>
            </a:r>
            <a:r>
              <a:rPr lang="en-US" altLang="en-US" dirty="0"/>
              <a:t> schema</a:t>
            </a:r>
          </a:p>
          <a:p>
            <a:pPr lvl="1"/>
            <a:r>
              <a:rPr lang="en-US" altLang="en-US" dirty="0"/>
              <a:t>Secondo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2"/>
            <a:r>
              <a:rPr lang="en-US" altLang="en-US" dirty="0" err="1"/>
              <a:t>Terzo</a:t>
            </a:r>
            <a:r>
              <a:rPr lang="en-US" altLang="en-US" dirty="0"/>
              <a:t>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3"/>
            <a:r>
              <a:rPr lang="en-US" altLang="en-US" dirty="0"/>
              <a:t>Quarto </a:t>
            </a:r>
            <a:r>
              <a:rPr lang="en-US" altLang="en-US" dirty="0" err="1"/>
              <a:t>livello</a:t>
            </a:r>
            <a:endParaRPr lang="en-US" altLang="en-US" dirty="0"/>
          </a:p>
          <a:p>
            <a:pPr lvl="4"/>
            <a:r>
              <a:rPr lang="en-US" altLang="en-US" dirty="0" err="1"/>
              <a:t>Quinto</a:t>
            </a:r>
            <a:r>
              <a:rPr lang="en-US" altLang="en-US" dirty="0"/>
              <a:t> </a:t>
            </a:r>
            <a:r>
              <a:rPr lang="en-US" altLang="en-US" dirty="0" err="1"/>
              <a:t>livello</a:t>
            </a:r>
            <a:endParaRPr lang="en-US" altLang="en-US" dirty="0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4214813" y="3001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it-IT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3688"/>
            <a:ext cx="9144000" cy="21431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tabLst>
                <a:tab pos="8882063" algn="r"/>
              </a:tabLst>
              <a:defRPr sz="1100" b="0">
                <a:solidFill>
                  <a:schemeClr val="hlink"/>
                </a:solidFill>
                <a:latin typeface="Palatino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Ambrsoino</a:t>
            </a:r>
            <a:r>
              <a:rPr lang="en-US" dirty="0"/>
              <a:t>	Automatic Control,  2014/15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86250" y="6572250"/>
            <a:ext cx="4572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cs typeface="+mn-cs"/>
              </a:defRPr>
            </a:lvl1pPr>
          </a:lstStyle>
          <a:p>
            <a:pPr>
              <a:defRPr/>
            </a:pPr>
            <a:fld id="{AA37A7FD-7FED-4DDD-9071-BB818C239E6E}" type="slidenum">
              <a:rPr lang="en-US"/>
              <a:pPr>
                <a:defRPr/>
              </a:pPr>
              <a:t>‹N›</a:t>
            </a:fld>
            <a:endParaRPr lang="en-US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4D2A221-42D3-0047-BEDC-5AC63F9306F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" y="-27384"/>
            <a:ext cx="840347" cy="8366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2" r:id="rId6"/>
    <p:sldLayoutId id="2147483898" r:id="rId7"/>
    <p:sldLayoutId id="2147483899" r:id="rId8"/>
    <p:sldLayoutId id="2147483900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BBBBD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BBBBD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30000"/>
        </a:spcAft>
        <a:buFont typeface="Wingdings 2" pitchFamily="18" charset="2"/>
        <a:buChar char="ñ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ò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ó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ô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30000"/>
        </a:spcAft>
        <a:buFont typeface="Wingdings 2" pitchFamily="18" charset="2"/>
        <a:buChar char="õ"/>
        <a:defRPr sz="14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645402"/>
            <a:ext cx="9144000" cy="2143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Palatino"/>
              </a:rPr>
              <a:t>Prof. Carlo Cosentino	Fondamenti di Automatica, A.A. 2013/14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85800" y="1744663"/>
            <a:ext cx="7772400" cy="14700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defRPr/>
            </a:pPr>
            <a: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Course of “</a:t>
            </a:r>
            <a:r>
              <a:rPr lang="it-IT" sz="2000" b="0" kern="0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Automatic</a:t>
            </a:r>
            <a: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Control”</a:t>
            </a:r>
            <a:br>
              <a:rPr lang="it-IT" sz="20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it-IT" sz="18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2019/20</a:t>
            </a:r>
          </a:p>
          <a:p>
            <a:pPr algn="ctr">
              <a:defRPr/>
            </a:pPr>
            <a:endParaRPr lang="it-IT" sz="1800" b="0" kern="0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>
              <a:defRPr/>
            </a:pPr>
            <a:r>
              <a:rPr lang="it-IT" sz="32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Assegnamento degli </a:t>
            </a:r>
            <a:r>
              <a:rPr lang="it-IT" sz="3200" b="0" kern="0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autovalori</a:t>
            </a:r>
            <a:r>
              <a:rPr lang="it-IT" sz="3200" b="0" kern="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con azione integrale</a:t>
            </a:r>
            <a:endParaRPr lang="en-US" sz="4400" b="0" kern="0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pPr marL="342900" lvl="0" indent="-342900" algn="ctr">
              <a:lnSpc>
                <a:spcPct val="150000"/>
              </a:lnSpc>
              <a:defRPr/>
            </a:pPr>
            <a:r>
              <a:rPr lang="en-US" sz="1800" i="1" kern="0" dirty="0">
                <a:solidFill>
                  <a:srgbClr val="000000"/>
                </a:solidFill>
                <a:latin typeface="Garamond"/>
              </a:rPr>
              <a:t>Prof. Roberto </a:t>
            </a:r>
            <a:r>
              <a:rPr lang="en-US" sz="1800" i="1" kern="0" dirty="0" err="1">
                <a:solidFill>
                  <a:srgbClr val="000000"/>
                </a:solidFill>
                <a:latin typeface="Garamond"/>
              </a:rPr>
              <a:t>Ambrosino</a:t>
            </a:r>
            <a:endParaRPr lang="en-US" sz="1800" i="1" kern="0" dirty="0">
              <a:solidFill>
                <a:srgbClr val="000000"/>
              </a:solidFill>
              <a:latin typeface="Garamond"/>
            </a:endParaRP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DIETI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Università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degli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</a:t>
            </a:r>
            <a:r>
              <a:rPr lang="en-US" sz="1600" b="0" kern="0" dirty="0" err="1">
                <a:solidFill>
                  <a:srgbClr val="000000"/>
                </a:solidFill>
                <a:latin typeface="Garamond"/>
              </a:rPr>
              <a:t>studi</a:t>
            </a: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 di Napoli Federico II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>
                <a:solidFill>
                  <a:srgbClr val="000000"/>
                </a:solidFill>
                <a:latin typeface="Garamond"/>
              </a:rPr>
              <a:t>Tel 081-5476782</a:t>
            </a:r>
          </a:p>
          <a:p>
            <a:pPr marL="342900" lvl="0" indent="-342900" algn="ctr">
              <a:lnSpc>
                <a:spcPct val="80000"/>
              </a:lnSpc>
              <a:defRPr/>
            </a:pPr>
            <a:r>
              <a:rPr lang="en-US" sz="1600" b="0" kern="0" dirty="0" err="1">
                <a:solidFill>
                  <a:srgbClr val="3333CC"/>
                </a:solidFill>
                <a:latin typeface="Garamond"/>
              </a:rPr>
              <a:t>roberto.ambrosino@unina.it</a:t>
            </a:r>
            <a:r>
              <a:rPr lang="en-US" sz="1600" b="0" kern="0" dirty="0">
                <a:solidFill>
                  <a:srgbClr val="3333CC"/>
                </a:solidFill>
                <a:latin typeface="Garamond"/>
              </a:rPr>
              <a:t> 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</p:spTree>
    <p:extLst>
      <p:ext uri="{BB962C8B-B14F-4D97-AF65-F5344CB8AC3E}">
        <p14:creationId xmlns:p14="http://schemas.microsoft.com/office/powerpoint/2010/main" val="1054025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81522"/>
                <a:ext cx="8784976" cy="5590728"/>
              </a:xfrm>
            </p:spPr>
            <p:txBody>
              <a:bodyPr/>
              <a:lstStyle/>
              <a:p>
                <a:r>
                  <a:rPr lang="it-IT" dirty="0"/>
                  <a:t>Consideriamo un sistema </a:t>
                </a:r>
                <a:r>
                  <a:rPr lang="it-IT" b="1" i="1" dirty="0">
                    <a:solidFill>
                      <a:schemeClr val="accent2"/>
                    </a:solidFill>
                  </a:rPr>
                  <a:t>Lineare Tempo Invariante – Tempo Continuo </a:t>
                </a:r>
                <a:r>
                  <a:rPr lang="it-IT" dirty="0"/>
                  <a:t>(</a:t>
                </a:r>
                <a:r>
                  <a:rPr lang="it-IT" b="1" i="1" dirty="0">
                    <a:solidFill>
                      <a:schemeClr val="accent2"/>
                    </a:solidFill>
                  </a:rPr>
                  <a:t>LTI-TC</a:t>
                </a:r>
                <a:r>
                  <a:rPr lang="it-IT" dirty="0"/>
                  <a:t>) in rappresentazione i-</a:t>
                </a:r>
                <a:r>
                  <a:rPr lang="it-IT" dirty="0" err="1"/>
                  <a:t>s</a:t>
                </a:r>
                <a:r>
                  <a:rPr lang="it-IT" dirty="0"/>
                  <a:t>-u:</a:t>
                </a: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acc>
                            <m:accPr>
                              <m:chr m:val="̇"/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 </m:t>
                          </m:r>
                          <m:r>
                            <a:rPr lang="it-IT" i="1" smtClean="0">
                              <a:latin typeface="Cambria Math"/>
                            </a:rPr>
                            <m:t>𝐴𝑥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+</m:t>
                          </m:r>
                          <m:r>
                            <a:rPr lang="it-IT" i="1" smtClean="0">
                              <a:latin typeface="Cambria Math"/>
                            </a:rPr>
                            <m:t>𝐵𝑢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it-IT" smtClean="0">
                              <a:latin typeface="Cambria Math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it-IT" smtClean="0"/>
                            <m:t>   </m:t>
                          </m:r>
                          <m:r>
                            <a:rPr lang="it-IT" i="1" smtClean="0">
                              <a:latin typeface="Cambria Math"/>
                            </a:rPr>
                            <m:t>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it-IT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 smtClean="0">
                                  <a:latin typeface="Cambria Math"/>
                                </a:rPr>
                                <m:t>0  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it-IT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i="1" smtClean="0">
                              <a:latin typeface="Cambria Math"/>
                            </a:rPr>
                            <m:t>=</m:t>
                          </m:r>
                          <m:r>
                            <a:rPr lang="it-IT" i="1" smtClean="0">
                              <a:latin typeface="Cambria Math"/>
                            </a:rPr>
                            <m:t>𝐶𝑥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a:rPr lang="it-IT" b="0" i="1" smtClean="0">
                              <a:latin typeface="Cambria Math"/>
                            </a:rPr>
                            <m:t>                           </m:t>
                          </m:r>
                        </m:e>
                      </m:mr>
                    </m:m>
                  </m:oMath>
                </a14:m>
                <a:r>
                  <a:rPr lang="it-IT" i="1" dirty="0">
                    <a:latin typeface="Cambria Math"/>
                  </a:rPr>
                  <a:t>		 </a:t>
                </a:r>
                <a:r>
                  <a:rPr lang="it-IT" dirty="0"/>
                  <a:t>(1)</a:t>
                </a:r>
              </a:p>
              <a:p>
                <a:pPr algn="just"/>
                <a:r>
                  <a:rPr lang="it-IT" dirty="0"/>
                  <a:t>Obiettivo di questa lezione è quella di affrontare il problema dell’assegnamento degli </a:t>
                </a:r>
                <a:r>
                  <a:rPr lang="it-IT" dirty="0" err="1"/>
                  <a:t>autovalori</a:t>
                </a:r>
                <a:r>
                  <a:rPr lang="it-IT" dirty="0"/>
                  <a:t> nell’ipotesi di inseguimento di un segnale di riferimento. </a:t>
                </a:r>
              </a:p>
              <a:p>
                <a:pPr algn="ctr"/>
                <a:r>
                  <a:rPr lang="it-IT" dirty="0"/>
                  <a:t>In questo caso, la legge ci controllo la si può generalmente esprimere nella  forma 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𝐾𝑥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81522"/>
                <a:ext cx="8784976" cy="5590728"/>
              </a:xfrm>
              <a:blipFill>
                <a:blip r:embed="rId2"/>
                <a:stretch>
                  <a:fillRect l="-433" t="-452" r="-1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79CA5E38-9144-EB4C-B7C0-49C363DB2A5A}"/>
              </a:ext>
            </a:extLst>
          </p:cNvPr>
          <p:cNvGrpSpPr/>
          <p:nvPr/>
        </p:nvGrpSpPr>
        <p:grpSpPr>
          <a:xfrm>
            <a:off x="2267744" y="4869160"/>
            <a:ext cx="5832650" cy="1656184"/>
            <a:chOff x="2267742" y="4895216"/>
            <a:chExt cx="5832650" cy="1656184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46C8614C-13A3-754A-8C6D-C4E92712D7E1}"/>
                </a:ext>
              </a:extLst>
            </p:cNvPr>
            <p:cNvSpPr/>
            <p:nvPr/>
          </p:nvSpPr>
          <p:spPr bwMode="auto">
            <a:xfrm>
              <a:off x="5076058" y="5214870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Sistema</a:t>
              </a:r>
            </a:p>
          </p:txBody>
        </p: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39166B52-2B07-1548-8AC9-F44CB3166C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8226" y="5466898"/>
              <a:ext cx="151216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367ACA51-9BA0-A145-8169-16398EE4C2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32142" y="5713540"/>
              <a:ext cx="0" cy="6120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nettore 1 14">
              <a:extLst>
                <a:ext uri="{FF2B5EF4-FFF2-40B4-BE49-F238E27FC236}">
                  <a16:creationId xmlns:a16="http://schemas.microsoft.com/office/drawing/2014/main" id="{5E1D8B5A-0FE3-5444-87AF-343EF0BC993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67742" y="6310114"/>
              <a:ext cx="3564400" cy="3992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/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i="1">
                            <a:latin typeface="Cambria Math"/>
                          </a:rPr>
                          <m:t>𝑦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2" name="Rettangolo 21">
                  <a:extLst>
                    <a:ext uri="{FF2B5EF4-FFF2-40B4-BE49-F238E27FC236}">
                      <a16:creationId xmlns:a16="http://schemas.microsoft.com/office/drawing/2014/main" id="{6DCFFCFD-21DB-EF4C-8911-D6715B56B3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4753" y="4900415"/>
                  <a:ext cx="823174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/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x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7FAC19A1-6E3D-0D42-9F4F-5AC8291CE8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142" y="5743355"/>
                  <a:ext cx="72334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069" t="-7895" b="-263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/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it-IT" b="0" i="1" dirty="0"/>
                    <a:t>u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24" name="Rettangolo 23">
                  <a:extLst>
                    <a:ext uri="{FF2B5EF4-FFF2-40B4-BE49-F238E27FC236}">
                      <a16:creationId xmlns:a16="http://schemas.microsoft.com/office/drawing/2014/main" id="{74F2ED2E-AF5A-EF48-BB0E-A58DCB0443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703" y="4895216"/>
                  <a:ext cx="72334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2069" t="-13889" b="-3055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9DF9AF8-0EA2-374D-9B5E-1B4BEDD7DE0F}"/>
                </a:ext>
              </a:extLst>
            </p:cNvPr>
            <p:cNvSpPr/>
            <p:nvPr/>
          </p:nvSpPr>
          <p:spPr bwMode="auto">
            <a:xfrm>
              <a:off x="3275854" y="6047344"/>
              <a:ext cx="1512168" cy="50405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K</a:t>
              </a:r>
            </a:p>
          </p:txBody>
        </p:sp>
      </p:grpSp>
      <p:sp>
        <p:nvSpPr>
          <p:cNvPr id="16" name="Ovale 15">
            <a:extLst>
              <a:ext uri="{FF2B5EF4-FFF2-40B4-BE49-F238E27FC236}">
                <a16:creationId xmlns:a16="http://schemas.microsoft.com/office/drawing/2014/main" id="{2E959D6F-AEED-C548-8D2B-CCCF59B09B3C}"/>
              </a:ext>
            </a:extLst>
          </p:cNvPr>
          <p:cNvSpPr/>
          <p:nvPr/>
        </p:nvSpPr>
        <p:spPr bwMode="auto">
          <a:xfrm>
            <a:off x="2087726" y="5241288"/>
            <a:ext cx="360040" cy="389657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00B8D8FA-E15C-3C47-A6A2-38313DA24B06}"/>
              </a:ext>
            </a:extLst>
          </p:cNvPr>
          <p:cNvCxnSpPr>
            <a:stCxn id="16" idx="6"/>
            <a:endCxn id="8" idx="1"/>
          </p:cNvCxnSpPr>
          <p:nvPr/>
        </p:nvCxnSpPr>
        <p:spPr bwMode="auto">
          <a:xfrm>
            <a:off x="2447766" y="5436117"/>
            <a:ext cx="2628294" cy="47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D4C6838-91B0-294E-A44A-CBC737E60D83}"/>
              </a:ext>
            </a:extLst>
          </p:cNvPr>
          <p:cNvCxnSpPr>
            <a:cxnSpLocks/>
          </p:cNvCxnSpPr>
          <p:nvPr/>
        </p:nvCxnSpPr>
        <p:spPr bwMode="auto">
          <a:xfrm>
            <a:off x="863588" y="5458106"/>
            <a:ext cx="1224135" cy="47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30D83382-7270-1344-9BC5-34C8E3A3F7AD}"/>
                  </a:ext>
                </a:extLst>
              </p:cNvPr>
              <p:cNvSpPr/>
              <p:nvPr/>
            </p:nvSpPr>
            <p:spPr>
              <a:xfrm>
                <a:off x="863588" y="4957981"/>
                <a:ext cx="8231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30D83382-7270-1344-9BC5-34C8E3A3F7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4957981"/>
                <a:ext cx="823174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E98762B-2064-C949-B702-870162C2F069}"/>
              </a:ext>
            </a:extLst>
          </p:cNvPr>
          <p:cNvSpPr txBox="1"/>
          <p:nvPr/>
        </p:nvSpPr>
        <p:spPr>
          <a:xfrm>
            <a:off x="1844266" y="4947030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E57BEC5-EBFF-A04F-94CC-1DBF628838D3}"/>
              </a:ext>
            </a:extLst>
          </p:cNvPr>
          <p:cNvCxnSpPr>
            <a:endCxn id="16" idx="4"/>
          </p:cNvCxnSpPr>
          <p:nvPr/>
        </p:nvCxnSpPr>
        <p:spPr bwMode="auto">
          <a:xfrm flipV="1">
            <a:off x="2267744" y="5630945"/>
            <a:ext cx="2" cy="6930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0762269-142B-544A-B73D-1387B8D0073C}"/>
              </a:ext>
            </a:extLst>
          </p:cNvPr>
          <p:cNvSpPr txBox="1"/>
          <p:nvPr/>
        </p:nvSpPr>
        <p:spPr>
          <a:xfrm>
            <a:off x="1906369" y="5546247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79796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56714" y="908720"/>
                <a:ext cx="9030572" cy="5590728"/>
              </a:xfrm>
            </p:spPr>
            <p:txBody>
              <a:bodyPr/>
              <a:lstStyle/>
              <a:p>
                <a:r>
                  <a:rPr lang="it-IT" dirty="0"/>
                  <a:t>Il segnale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i="1" dirty="0">
                    <a:latin typeface="Cambria Math"/>
                  </a:rPr>
                  <a:t> </a:t>
                </a:r>
                <a:r>
                  <a:rPr lang="it-IT" dirty="0"/>
                  <a:t>deve essere scelto in modo tale da assicurare buone performance di inseguimento del segnale di riferimento.</a:t>
                </a:r>
              </a:p>
              <a:p>
                <a:pPr algn="just"/>
                <a:r>
                  <a:rPr lang="it-IT" dirty="0"/>
                  <a:t>Ponendoci come obiettivo quello di assicurare errore nullo all’inseguimento di un segnale di riferimento a gradino, il possibile schema di controllo a ciclo chiuso dovrà prevedere la presenza di un’azione integrale. </a:t>
                </a:r>
              </a:p>
              <a:p>
                <a:pPr algn="just"/>
                <a:endParaRPr lang="it-IT" dirty="0"/>
              </a:p>
              <a:p>
                <a:pPr algn="just"/>
                <a:endParaRPr lang="it-IT" dirty="0"/>
              </a:p>
              <a:p>
                <a:pPr algn="just"/>
                <a:endParaRPr lang="it-IT" dirty="0"/>
              </a:p>
              <a:p>
                <a:pPr marL="0" indent="0" algn="just">
                  <a:buNone/>
                </a:pPr>
                <a:endParaRPr lang="it-IT" sz="1000" dirty="0"/>
              </a:p>
              <a:p>
                <a:pPr algn="just"/>
                <a:r>
                  <a:rPr lang="it-IT" dirty="0"/>
                  <a:t>Il problema i  questo caso è come scegliere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dirty="0"/>
                  <a:t>,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in modo da assegnare le dinamiche a ciclo chiuso. </a:t>
                </a:r>
              </a:p>
              <a:p>
                <a:pPr algn="just"/>
                <a:r>
                  <a:rPr lang="it-IT" b="1" dirty="0"/>
                  <a:t>NOTA: la chiusura del ciclo esterno di retroazione rende inutile il piazzamento degli </a:t>
                </a:r>
                <a:r>
                  <a:rPr lang="it-IT" b="1" dirty="0" err="1"/>
                  <a:t>autovalori</a:t>
                </a:r>
                <a:r>
                  <a:rPr lang="it-IT" b="1" dirty="0"/>
                  <a:t> fatto sul sistema chiuso sull’anello interno. Inoltre la presenza dell’integratore aumenta la dimensione dello spazio di stato a cc. 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4" y="908720"/>
                <a:ext cx="9030572" cy="5590728"/>
              </a:xfrm>
              <a:blipFill>
                <a:blip r:embed="rId2"/>
                <a:stretch>
                  <a:fillRect l="-421" t="-682" r="-1262" b="-5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D55A0E8D-2ADA-7A4B-8E97-096F89B3CEC9}"/>
              </a:ext>
            </a:extLst>
          </p:cNvPr>
          <p:cNvGrpSpPr/>
          <p:nvPr/>
        </p:nvGrpSpPr>
        <p:grpSpPr>
          <a:xfrm>
            <a:off x="56714" y="2920852"/>
            <a:ext cx="8979782" cy="1876300"/>
            <a:chOff x="-15294" y="2920852"/>
            <a:chExt cx="8979782" cy="1876300"/>
          </a:xfrm>
        </p:grpSpPr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79CA5E38-9144-EB4C-B7C0-49C363DB2A5A}"/>
                </a:ext>
              </a:extLst>
            </p:cNvPr>
            <p:cNvGrpSpPr/>
            <p:nvPr/>
          </p:nvGrpSpPr>
          <p:grpSpPr>
            <a:xfrm>
              <a:off x="4391980" y="2920852"/>
              <a:ext cx="4572508" cy="1656184"/>
              <a:chOff x="3527884" y="4895216"/>
              <a:chExt cx="4572508" cy="1656184"/>
            </a:xfrm>
          </p:grpSpPr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46C8614C-13A3-754A-8C6D-C4E92712D7E1}"/>
                  </a:ext>
                </a:extLst>
              </p:cNvPr>
              <p:cNvSpPr/>
              <p:nvPr/>
            </p:nvSpPr>
            <p:spPr bwMode="auto">
              <a:xfrm>
                <a:off x="5076058" y="5214870"/>
                <a:ext cx="1512168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Sistema</a:t>
                </a:r>
              </a:p>
            </p:txBody>
          </p:sp>
          <p:cxnSp>
            <p:nvCxnSpPr>
              <p:cNvPr id="10" name="Connettore 2 9">
                <a:extLst>
                  <a:ext uri="{FF2B5EF4-FFF2-40B4-BE49-F238E27FC236}">
                    <a16:creationId xmlns:a16="http://schemas.microsoft.com/office/drawing/2014/main" id="{39166B52-2B07-1548-8AC9-F44CB3166C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88226" y="5466898"/>
                <a:ext cx="151216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367ACA51-9BA0-A145-8169-16398EE4C2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32142" y="5713540"/>
                <a:ext cx="0" cy="59657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Connettore 1 14">
                <a:extLst>
                  <a:ext uri="{FF2B5EF4-FFF2-40B4-BE49-F238E27FC236}">
                    <a16:creationId xmlns:a16="http://schemas.microsoft.com/office/drawing/2014/main" id="{5E1D8B5A-0FE3-5444-87AF-343EF0BC99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527884" y="6310114"/>
                <a:ext cx="2304258" cy="45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/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/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x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069" t="-7895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/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u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069" t="-13889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it-IT" sz="2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2E959D6F-AEED-C548-8D2B-CCCF59B09B3C}"/>
                </a:ext>
              </a:extLst>
            </p:cNvPr>
            <p:cNvSpPr/>
            <p:nvPr/>
          </p:nvSpPr>
          <p:spPr bwMode="auto">
            <a:xfrm>
              <a:off x="4211960" y="3292980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00B8D8FA-E15C-3C47-A6A2-38313DA24B06}"/>
                </a:ext>
              </a:extLst>
            </p:cNvPr>
            <p:cNvCxnSpPr>
              <a:stCxn id="16" idx="6"/>
              <a:endCxn id="8" idx="1"/>
            </p:cNvCxnSpPr>
            <p:nvPr/>
          </p:nvCxnSpPr>
          <p:spPr bwMode="auto">
            <a:xfrm>
              <a:off x="4572000" y="3487809"/>
              <a:ext cx="1368154" cy="472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0D4C6838-91B0-294E-A44A-CBC737E60D83}"/>
                </a:ext>
              </a:extLst>
            </p:cNvPr>
            <p:cNvCxnSpPr>
              <a:cxnSpLocks/>
              <a:stCxn id="28" idx="3"/>
              <a:endCxn id="16" idx="2"/>
            </p:cNvCxnSpPr>
            <p:nvPr/>
          </p:nvCxnSpPr>
          <p:spPr bwMode="auto">
            <a:xfrm>
              <a:off x="3472038" y="3487148"/>
              <a:ext cx="739922" cy="6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/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1538" b="-162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7E98762B-2064-C949-B702-870162C2F069}"/>
                </a:ext>
              </a:extLst>
            </p:cNvPr>
            <p:cNvSpPr txBox="1"/>
            <p:nvPr/>
          </p:nvSpPr>
          <p:spPr>
            <a:xfrm>
              <a:off x="3875537" y="3429000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DE57BEC5-EBFF-A04F-94CC-1DBF628838D3}"/>
                </a:ext>
              </a:extLst>
            </p:cNvPr>
            <p:cNvCxnSpPr>
              <a:cxnSpLocks/>
              <a:endCxn id="16" idx="4"/>
            </p:cNvCxnSpPr>
            <p:nvPr/>
          </p:nvCxnSpPr>
          <p:spPr bwMode="auto">
            <a:xfrm flipV="1">
              <a:off x="4391980" y="3682637"/>
              <a:ext cx="0" cy="653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E0762269-142B-544A-B73D-1387B8D0073C}"/>
                </a:ext>
              </a:extLst>
            </p:cNvPr>
            <p:cNvSpPr txBox="1"/>
            <p:nvPr/>
          </p:nvSpPr>
          <p:spPr>
            <a:xfrm>
              <a:off x="4437923" y="358909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/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BF3BF3AC-EDD7-EA40-A993-A769B46933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478599"/>
              <a:ext cx="0" cy="13185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548B2F0D-383D-8D45-A4E1-6DDEBB7049B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87623" y="4793854"/>
              <a:ext cx="6761093" cy="31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/>
                <p:nvPr/>
              </p:nvSpPr>
              <p:spPr bwMode="auto">
                <a:xfrm>
                  <a:off x="1894578" y="3235120"/>
                  <a:ext cx="589190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it-IT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 ∫</m:t>
                        </m:r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94578" y="3235120"/>
                  <a:ext cx="589190" cy="504056"/>
                </a:xfrm>
                <a:prstGeom prst="rect">
                  <a:avLst/>
                </a:prstGeom>
                <a:blipFill>
                  <a:blip r:embed="rId9"/>
                  <a:stretch>
                    <a:fillRect l="-14583" b="-12195"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879A1A82-017E-7641-ABE9-1B694CE8B9E5}"/>
                </a:ext>
              </a:extLst>
            </p:cNvPr>
            <p:cNvCxnSpPr>
              <a:cxnSpLocks/>
              <a:endCxn id="28" idx="1"/>
            </p:cNvCxnSpPr>
            <p:nvPr/>
          </p:nvCxnSpPr>
          <p:spPr bwMode="auto">
            <a:xfrm>
              <a:off x="2507383" y="3487148"/>
              <a:ext cx="25295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28C0DF72-5E9F-1644-937B-1337C69B7CB0}"/>
                </a:ext>
              </a:extLst>
            </p:cNvPr>
            <p:cNvSpPr/>
            <p:nvPr/>
          </p:nvSpPr>
          <p:spPr bwMode="auto">
            <a:xfrm>
              <a:off x="1010872" y="3315296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5" name="Connettore 2 44">
              <a:extLst>
                <a:ext uri="{FF2B5EF4-FFF2-40B4-BE49-F238E27FC236}">
                  <a16:creationId xmlns:a16="http://schemas.microsoft.com/office/drawing/2014/main" id="{EE89F334-23D5-0640-B518-D2FF3D9B25E1}"/>
                </a:ext>
              </a:extLst>
            </p:cNvPr>
            <p:cNvCxnSpPr>
              <a:cxnSpLocks/>
              <a:endCxn id="42" idx="4"/>
            </p:cNvCxnSpPr>
            <p:nvPr/>
          </p:nvCxnSpPr>
          <p:spPr bwMode="auto">
            <a:xfrm flipV="1">
              <a:off x="1187623" y="3704953"/>
              <a:ext cx="3269" cy="1088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Connettore 2 47">
              <a:extLst>
                <a:ext uri="{FF2B5EF4-FFF2-40B4-BE49-F238E27FC236}">
                  <a16:creationId xmlns:a16="http://schemas.microsoft.com/office/drawing/2014/main" id="{5C489783-D8F7-8C44-9B95-6EAEC4C99D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70912" y="3510124"/>
              <a:ext cx="53679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A403ADF2-5298-9844-BFB9-532419A85F1A}"/>
                </a:ext>
              </a:extLst>
            </p:cNvPr>
            <p:cNvSpPr txBox="1"/>
            <p:nvPr/>
          </p:nvSpPr>
          <p:spPr>
            <a:xfrm>
              <a:off x="735372" y="308446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837FF206-C407-D443-998D-3947B45F2B7B}"/>
                </a:ext>
              </a:extLst>
            </p:cNvPr>
            <p:cNvSpPr txBox="1"/>
            <p:nvPr/>
          </p:nvSpPr>
          <p:spPr>
            <a:xfrm>
              <a:off x="1205038" y="3590953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-</a:t>
              </a: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8A9A2B70-13D0-DD45-ACE9-4FFE60BFB0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3528" y="3510124"/>
              <a:ext cx="6873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/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1563" b="-1578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9D8B12D2-78B0-F340-962C-8F14635C55A9}"/>
                  </a:ext>
                </a:extLst>
              </p:cNvPr>
              <p:cNvSpPr/>
              <p:nvPr/>
            </p:nvSpPr>
            <p:spPr>
              <a:xfrm>
                <a:off x="2173519" y="3801440"/>
                <a:ext cx="12637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9D8B12D2-78B0-F340-962C-8F14635C55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519" y="3801440"/>
                <a:ext cx="1263744" cy="461665"/>
              </a:xfrm>
              <a:prstGeom prst="rect">
                <a:avLst/>
              </a:prstGeom>
              <a:blipFill>
                <a:blip r:embed="rId11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41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</p:spPr>
            <p:txBody>
              <a:bodyPr/>
              <a:lstStyle/>
              <a:p>
                <a:r>
                  <a:rPr lang="it-IT" dirty="0"/>
                  <a:t>Un possibile approccio per assegnare gli </a:t>
                </a:r>
                <a:r>
                  <a:rPr lang="it-IT" dirty="0" err="1"/>
                  <a:t>autovalori</a:t>
                </a:r>
                <a:r>
                  <a:rPr lang="it-IT" dirty="0"/>
                  <a:t> del sistema a ciclo chiuso è quello di associare all’azione integrale una variabile di stato aggiuntiva e considerare il sistema allargato composto da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it-IT" dirty="0"/>
                  <a:t> variabili di stato 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acc>
                                <m:accPr>
                                  <m:chr m:val="̇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it-IT" i="1">
                                  <a:latin typeface="Cambria Math"/>
                                </a:rPr>
                                <m:t>= </m:t>
                              </m:r>
                              <m:r>
                                <a:rPr lang="it-IT" i="1">
                                  <a:latin typeface="Cambria Math"/>
                                </a:rPr>
                                <m:t>𝐴𝑥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it-IT" i="1">
                                  <a:latin typeface="Cambria Math"/>
                                </a:rPr>
                                <m:t>𝐵𝑢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lang="it-IT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t-IT" dirty="0"/>
                  <a:t>        </a:t>
                </a:r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dirty="0"/>
                  <a:t>                             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it-IT" b="0" dirty="0"/>
                  <a:t>Da cui, indicando </a:t>
                </a:r>
                <a:r>
                  <a:rPr lang="it-IT" dirty="0"/>
                  <a:t>con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it-IT" dirty="0"/>
                  <a:t> lo stato allargato, il sistema </a:t>
                </a:r>
                <a:r>
                  <a:rPr lang="it-IT" b="1" dirty="0">
                    <a:solidFill>
                      <a:schemeClr val="accent2"/>
                    </a:solidFill>
                  </a:rPr>
                  <a:t>a ciclo chiuso con u(t) libero</a:t>
                </a:r>
                <a:r>
                  <a:rPr lang="it-IT" dirty="0"/>
                  <a:t> risulta</a:t>
                </a: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endParaRPr lang="it-IT" sz="10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̃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acc>
                        <m:accPr>
                          <m:chr m:val="̃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  <a:p>
                <a:pPr algn="just"/>
                <a:endParaRPr lang="it-IT" dirty="0"/>
              </a:p>
              <a:p>
                <a:pPr marL="0" indent="0" algn="just">
                  <a:buNone/>
                </a:pPr>
                <a:endParaRPr lang="it-IT" sz="1000" dirty="0"/>
              </a:p>
            </p:txBody>
          </p:sp>
        </mc:Choice>
        <mc:Fallback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  <a:blipFill>
                <a:blip r:embed="rId2"/>
                <a:stretch>
                  <a:fillRect l="-562" t="-488" r="-1264" b="-529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D55A0E8D-2ADA-7A4B-8E97-096F89B3CEC9}"/>
              </a:ext>
            </a:extLst>
          </p:cNvPr>
          <p:cNvGrpSpPr/>
          <p:nvPr/>
        </p:nvGrpSpPr>
        <p:grpSpPr>
          <a:xfrm>
            <a:off x="56714" y="1844824"/>
            <a:ext cx="8979782" cy="1876300"/>
            <a:chOff x="-15294" y="2920852"/>
            <a:chExt cx="8979782" cy="1876300"/>
          </a:xfrm>
        </p:grpSpPr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79CA5E38-9144-EB4C-B7C0-49C363DB2A5A}"/>
                </a:ext>
              </a:extLst>
            </p:cNvPr>
            <p:cNvGrpSpPr/>
            <p:nvPr/>
          </p:nvGrpSpPr>
          <p:grpSpPr>
            <a:xfrm>
              <a:off x="4391980" y="2920852"/>
              <a:ext cx="4572508" cy="1656184"/>
              <a:chOff x="3527884" y="4895216"/>
              <a:chExt cx="4572508" cy="1656184"/>
            </a:xfrm>
          </p:grpSpPr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46C8614C-13A3-754A-8C6D-C4E92712D7E1}"/>
                  </a:ext>
                </a:extLst>
              </p:cNvPr>
              <p:cNvSpPr/>
              <p:nvPr/>
            </p:nvSpPr>
            <p:spPr bwMode="auto">
              <a:xfrm>
                <a:off x="5076058" y="5214870"/>
                <a:ext cx="1512168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Sistema</a:t>
                </a:r>
              </a:p>
            </p:txBody>
          </p:sp>
          <p:cxnSp>
            <p:nvCxnSpPr>
              <p:cNvPr id="10" name="Connettore 2 9">
                <a:extLst>
                  <a:ext uri="{FF2B5EF4-FFF2-40B4-BE49-F238E27FC236}">
                    <a16:creationId xmlns:a16="http://schemas.microsoft.com/office/drawing/2014/main" id="{39166B52-2B07-1548-8AC9-F44CB3166C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88226" y="5466898"/>
                <a:ext cx="151216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367ACA51-9BA0-A145-8169-16398EE4C2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32142" y="5713540"/>
                <a:ext cx="0" cy="59657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Connettore 1 14">
                <a:extLst>
                  <a:ext uri="{FF2B5EF4-FFF2-40B4-BE49-F238E27FC236}">
                    <a16:creationId xmlns:a16="http://schemas.microsoft.com/office/drawing/2014/main" id="{5E1D8B5A-0FE3-5444-87AF-343EF0BC99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527884" y="6310114"/>
                <a:ext cx="2304258" cy="45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/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/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x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069" t="-7895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/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u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069" t="-13889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it-IT" sz="2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2E959D6F-AEED-C548-8D2B-CCCF59B09B3C}"/>
                </a:ext>
              </a:extLst>
            </p:cNvPr>
            <p:cNvSpPr/>
            <p:nvPr/>
          </p:nvSpPr>
          <p:spPr bwMode="auto">
            <a:xfrm>
              <a:off x="4211960" y="3292980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00B8D8FA-E15C-3C47-A6A2-38313DA24B06}"/>
                </a:ext>
              </a:extLst>
            </p:cNvPr>
            <p:cNvCxnSpPr>
              <a:stCxn id="16" idx="6"/>
              <a:endCxn id="8" idx="1"/>
            </p:cNvCxnSpPr>
            <p:nvPr/>
          </p:nvCxnSpPr>
          <p:spPr bwMode="auto">
            <a:xfrm>
              <a:off x="4572000" y="3487809"/>
              <a:ext cx="1368154" cy="472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0D4C6838-91B0-294E-A44A-CBC737E60D83}"/>
                </a:ext>
              </a:extLst>
            </p:cNvPr>
            <p:cNvCxnSpPr>
              <a:cxnSpLocks/>
              <a:stCxn id="28" idx="3"/>
              <a:endCxn id="16" idx="2"/>
            </p:cNvCxnSpPr>
            <p:nvPr/>
          </p:nvCxnSpPr>
          <p:spPr bwMode="auto">
            <a:xfrm>
              <a:off x="3472038" y="3487148"/>
              <a:ext cx="739922" cy="6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/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1538" b="-1578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7E98762B-2064-C949-B702-870162C2F069}"/>
                </a:ext>
              </a:extLst>
            </p:cNvPr>
            <p:cNvSpPr txBox="1"/>
            <p:nvPr/>
          </p:nvSpPr>
          <p:spPr>
            <a:xfrm>
              <a:off x="3875537" y="3429000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DE57BEC5-EBFF-A04F-94CC-1DBF628838D3}"/>
                </a:ext>
              </a:extLst>
            </p:cNvPr>
            <p:cNvCxnSpPr>
              <a:cxnSpLocks/>
              <a:endCxn id="16" idx="4"/>
            </p:cNvCxnSpPr>
            <p:nvPr/>
          </p:nvCxnSpPr>
          <p:spPr bwMode="auto">
            <a:xfrm flipV="1">
              <a:off x="4391980" y="3682637"/>
              <a:ext cx="0" cy="653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E0762269-142B-544A-B73D-1387B8D0073C}"/>
                </a:ext>
              </a:extLst>
            </p:cNvPr>
            <p:cNvSpPr txBox="1"/>
            <p:nvPr/>
          </p:nvSpPr>
          <p:spPr>
            <a:xfrm>
              <a:off x="4437923" y="358909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/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BF3BF3AC-EDD7-EA40-A993-A769B46933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478599"/>
              <a:ext cx="0" cy="13185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548B2F0D-383D-8D45-A4E1-6DDEBB7049B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87623" y="4793854"/>
              <a:ext cx="6761093" cy="31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/>
                <p:nvPr/>
              </p:nvSpPr>
              <p:spPr bwMode="auto">
                <a:xfrm>
                  <a:off x="1763688" y="3235120"/>
                  <a:ext cx="589190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it-IT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 ∫</m:t>
                        </m:r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3688" y="3235120"/>
                  <a:ext cx="589190" cy="504056"/>
                </a:xfrm>
                <a:prstGeom prst="rect">
                  <a:avLst/>
                </a:prstGeom>
                <a:blipFill>
                  <a:blip r:embed="rId9"/>
                  <a:stretch>
                    <a:fillRect l="-14583" b="-11905"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879A1A82-017E-7641-ABE9-1B694CE8B9E5}"/>
                </a:ext>
              </a:extLst>
            </p:cNvPr>
            <p:cNvCxnSpPr>
              <a:cxnSpLocks/>
              <a:endCxn id="28" idx="1"/>
            </p:cNvCxnSpPr>
            <p:nvPr/>
          </p:nvCxnSpPr>
          <p:spPr bwMode="auto">
            <a:xfrm>
              <a:off x="2352878" y="3487148"/>
              <a:ext cx="40746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28C0DF72-5E9F-1644-937B-1337C69B7CB0}"/>
                </a:ext>
              </a:extLst>
            </p:cNvPr>
            <p:cNvSpPr/>
            <p:nvPr/>
          </p:nvSpPr>
          <p:spPr bwMode="auto">
            <a:xfrm>
              <a:off x="1010872" y="3315296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5" name="Connettore 2 44">
              <a:extLst>
                <a:ext uri="{FF2B5EF4-FFF2-40B4-BE49-F238E27FC236}">
                  <a16:creationId xmlns:a16="http://schemas.microsoft.com/office/drawing/2014/main" id="{EE89F334-23D5-0640-B518-D2FF3D9B25E1}"/>
                </a:ext>
              </a:extLst>
            </p:cNvPr>
            <p:cNvCxnSpPr>
              <a:cxnSpLocks/>
              <a:endCxn id="42" idx="4"/>
            </p:cNvCxnSpPr>
            <p:nvPr/>
          </p:nvCxnSpPr>
          <p:spPr bwMode="auto">
            <a:xfrm flipV="1">
              <a:off x="1187623" y="3704953"/>
              <a:ext cx="3269" cy="1088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Connettore 2 47">
              <a:extLst>
                <a:ext uri="{FF2B5EF4-FFF2-40B4-BE49-F238E27FC236}">
                  <a16:creationId xmlns:a16="http://schemas.microsoft.com/office/drawing/2014/main" id="{5C489783-D8F7-8C44-9B95-6EAEC4C99D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70912" y="3510124"/>
              <a:ext cx="39277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A403ADF2-5298-9844-BFB9-532419A85F1A}"/>
                </a:ext>
              </a:extLst>
            </p:cNvPr>
            <p:cNvSpPr txBox="1"/>
            <p:nvPr/>
          </p:nvSpPr>
          <p:spPr>
            <a:xfrm>
              <a:off x="735372" y="308446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837FF206-C407-D443-998D-3947B45F2B7B}"/>
                </a:ext>
              </a:extLst>
            </p:cNvPr>
            <p:cNvSpPr txBox="1"/>
            <p:nvPr/>
          </p:nvSpPr>
          <p:spPr>
            <a:xfrm>
              <a:off x="1205038" y="3590953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-</a:t>
              </a: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8A9A2B70-13D0-DD45-ACE9-4FFE60BFB0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3528" y="3510124"/>
              <a:ext cx="6873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/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1563" b="-162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E0F8F27E-1421-2142-B6AE-EBFB4BE3AFD6}"/>
                  </a:ext>
                </a:extLst>
              </p:cNvPr>
              <p:cNvSpPr/>
              <p:nvPr/>
            </p:nvSpPr>
            <p:spPr>
              <a:xfrm>
                <a:off x="2087911" y="2708920"/>
                <a:ext cx="12637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E0F8F27E-1421-2142-B6AE-EBFB4BE3A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911" y="2708920"/>
                <a:ext cx="1263744" cy="461665"/>
              </a:xfrm>
              <a:prstGeom prst="rect">
                <a:avLst/>
              </a:prstGeom>
              <a:blipFill>
                <a:blip r:embed="rId11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651D5D0-F815-AF48-94D3-C8CF77792C5C}"/>
                  </a:ext>
                </a:extLst>
              </p:cNvPr>
              <p:cNvSpPr txBox="1"/>
              <p:nvPr/>
            </p:nvSpPr>
            <p:spPr>
              <a:xfrm>
                <a:off x="3681460" y="5616782"/>
                <a:ext cx="280526" cy="3795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651D5D0-F815-AF48-94D3-C8CF77792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460" y="5616782"/>
                <a:ext cx="280526" cy="379591"/>
              </a:xfrm>
              <a:prstGeom prst="rect">
                <a:avLst/>
              </a:prstGeom>
              <a:blipFill>
                <a:blip r:embed="rId12"/>
                <a:stretch>
                  <a:fillRect l="-21739" t="-9677" r="-21739" b="-64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tangolo 16">
                <a:extLst>
                  <a:ext uri="{FF2B5EF4-FFF2-40B4-BE49-F238E27FC236}">
                    <a16:creationId xmlns:a16="http://schemas.microsoft.com/office/drawing/2014/main" id="{4E871227-3CAE-9E48-839F-F08EE3C3A60A}"/>
                  </a:ext>
                </a:extLst>
              </p:cNvPr>
              <p:cNvSpPr/>
              <p:nvPr/>
            </p:nvSpPr>
            <p:spPr>
              <a:xfrm>
                <a:off x="5023677" y="5571161"/>
                <a:ext cx="484427" cy="470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Rettangolo 16">
                <a:extLst>
                  <a:ext uri="{FF2B5EF4-FFF2-40B4-BE49-F238E27FC236}">
                    <a16:creationId xmlns:a16="http://schemas.microsoft.com/office/drawing/2014/main" id="{4E871227-3CAE-9E48-839F-F08EE3C3A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677" y="5571161"/>
                <a:ext cx="484427" cy="4708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782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</p:spPr>
            <p:txBody>
              <a:bodyPr/>
              <a:lstStyle/>
              <a:p>
                <a:r>
                  <a:rPr lang="it-IT" dirty="0"/>
                  <a:t>Considerando il sistema allargato, le matrici di guadagno con retroazione di stato possono essere calcolate a partire dalla coppia di matrici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</a:t>
                </a:r>
              </a:p>
              <a:p>
                <a:endParaRPr lang="it-IT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i="1"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acc>
                          <m:accPr>
                            <m:chr m:val="̃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̃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acc>
                          <m:accPr>
                            <m:chr m:val="̃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       con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b="0" dirty="0"/>
              </a:p>
              <a:p>
                <a:pPr algn="just"/>
                <a:r>
                  <a:rPr lang="it-IT" dirty="0"/>
                  <a:t>Per la scelta dei modi di evoluzione del sistema allargato, al modo n+1 relativo all’integratore conviene associare una costante di tempo minore di quelle associate al sistema originale, in modo tale che questa non influenzi le dinamiche complessive del sistema.</a:t>
                </a:r>
              </a:p>
              <a:p>
                <a:pPr marL="0" indent="0" algn="just">
                  <a:buNone/>
                </a:pPr>
                <a:endParaRPr lang="it-IT" sz="1000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  <a:blipFill>
                <a:blip r:embed="rId2"/>
                <a:stretch>
                  <a:fillRect l="-421" t="-489" r="-5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1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/>
              <p:nvPr/>
            </p:nvSpPr>
            <p:spPr>
              <a:xfrm>
                <a:off x="122362" y="997479"/>
                <a:ext cx="8784976" cy="5168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Consideriamo un sistema dinamico nella forma: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kern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d>
                        <m:dPr>
                          <m:ctrlP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it-IT" sz="2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it-IT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marL="457200" lvl="0" indent="-457200" algn="just" eaLnBrk="0" hangingPunct="0">
                  <a:spcBef>
                    <a:spcPct val="50000"/>
                  </a:spcBef>
                  <a:spcAft>
                    <a:spcPct val="30000"/>
                  </a:spcAft>
                  <a:buFont typeface="Arial" panose="020B0604020202020204" pitchFamily="34" charset="0"/>
                  <a:buChar char="•"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Progettare un controllore in retroazione di stato con la formula di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</a:rPr>
                  <a:t>Ackermann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 avente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</a:rPr>
                  <a:t>autovalori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 desiderati a ciclo chiuso in:</a:t>
                </a: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it-IT" sz="20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it-IT" sz="20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±2</m:t>
                      </m:r>
                      <m:r>
                        <a:rPr lang="it-IT" sz="20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it-IT" sz="20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,   </m:t>
                      </m:r>
                      <m:sSub>
                        <m:sSubPr>
                          <m:ctrlP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it-IT" sz="20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20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</a:endParaRPr>
              </a:p>
              <a:p>
                <a:pPr marL="457200" indent="-457200" algn="just" eaLnBrk="0" hangingPunct="0">
                  <a:spcBef>
                    <a:spcPct val="50000"/>
                  </a:spcBef>
                  <a:spcAft>
                    <a:spcPct val="30000"/>
                  </a:spcAft>
                  <a:buFont typeface="Arial" panose="020B0604020202020204" pitchFamily="34" charset="0"/>
                  <a:buChar char="•"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Progettare un controllore in retroazione di stato con la formula di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</a:rPr>
                  <a:t>Ackermann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 che assicuri errore nullo a regime per segnale a gradino e avente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</a:rPr>
                  <a:t>autovalori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 desiderati a ciclo chiuso come al punto 1.</a:t>
                </a: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Svolgere tale progettazione sia analiticamente che con l’ausilio del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  <a:cs typeface="+mn-cs"/>
                  </a:rPr>
                  <a:t>Matlab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e verificare le performance del sistema a ciclo chiuso nel caso di risposta al gradino</a:t>
                </a:r>
              </a:p>
            </p:txBody>
          </p:sp>
        </mc:Choice>
        <mc:Fallback xmlns="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" y="997479"/>
                <a:ext cx="8784976" cy="5168916"/>
              </a:xfrm>
              <a:prstGeom prst="rect">
                <a:avLst/>
              </a:prstGeom>
              <a:blipFill>
                <a:blip r:embed="rId2"/>
                <a:stretch>
                  <a:fillRect l="-723" t="-735" r="-1445" b="-9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2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72008"/>
            <a:ext cx="7560840" cy="692696"/>
          </a:xfrm>
        </p:spPr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981522"/>
            <a:ext cx="8784976" cy="5111774"/>
          </a:xfrm>
        </p:spPr>
        <p:txBody>
          <a:bodyPr/>
          <a:lstStyle/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>
              <a:solidFill>
                <a:schemeClr val="accent2"/>
              </a:solidFill>
            </a:endParaRP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/>
              <p:nvPr/>
            </p:nvSpPr>
            <p:spPr>
              <a:xfrm>
                <a:off x="122362" y="997479"/>
                <a:ext cx="9021638" cy="5813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La matrice di raggiungibilità del sistema a ciclo aperto risulta</a:t>
                </a:r>
              </a:p>
              <a:p>
                <a:pPr lvl="0" algn="ctr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sub>
                    </m:sSub>
                    <m:r>
                      <a:rPr lang="it-IT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sz="2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t-IT" sz="2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−25</m:t>
                              </m:r>
                            </m:e>
                            <m:e>
                              <m:r>
                                <a:rPr lang="it-IT" sz="2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   </m:t>
                    </m:r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𝑟𝑎𝑛𝑘</m:t>
                    </m:r>
                    <m:d>
                      <m:dPr>
                        <m:ctrlPr>
                          <a:rPr lang="it-IT" sz="20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𝑀</m:t>
                            </m:r>
                          </m:e>
                          <m:sub>
                            <m:r>
                              <a:rPr lang="it-IT" sz="2000" b="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it-IT" sz="20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lvl="0" algn="just" eaLnBrk="0" hangingPunct="0">
                  <a:spcBef>
                    <a:spcPct val="50000"/>
                  </a:spcBef>
                  <a:spcAft>
                    <a:spcPct val="30000"/>
                  </a:spcAft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Gli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</a:rPr>
                  <a:t>autovalori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</a:rPr>
                  <a:t> a ciclo chiuso desiderati definiscono un polinomio caratteristico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it-IT" sz="20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+25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+50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marL="0" indent="0" algn="ctr">
                  <a:buNone/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marL="0" indent="0" algn="just">
                  <a:buNone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Il polinomio caratteristico valutato in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risulta quindi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20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−16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marL="0" indent="0" algn="just">
                  <a:buNone/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marL="0" indent="0" algn="just">
                  <a:buNone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da cui, il controllore in retroazione di stato calcolato con la formula di </a:t>
                </a:r>
                <a:r>
                  <a:rPr lang="it-IT" sz="2000" b="0" kern="0" dirty="0" err="1">
                    <a:solidFill>
                      <a:srgbClr val="000000"/>
                    </a:solidFill>
                    <a:latin typeface="Garamond"/>
                    <a:cs typeface="+mn-cs"/>
                  </a:rPr>
                  <a:t>Ackermann</a:t>
                </a: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risulta</a:t>
                </a:r>
              </a:p>
              <a:p>
                <a:pPr marL="0" indent="0" algn="just">
                  <a:buNone/>
                </a:pPr>
                <a:endParaRPr lang="it-IT" sz="2000" b="0" kern="0" dirty="0">
                  <a:solidFill>
                    <a:srgbClr val="000000"/>
                  </a:solidFill>
                  <a:latin typeface="Garamond"/>
                  <a:cs typeface="+mn-cs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it-IT" sz="2000" b="0" i="1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̅"/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m:rPr>
                          <m:nor/>
                        </m:rPr>
                        <a:rPr lang="it-IT" sz="2000" dirty="0"/>
                        <m:t> </m:t>
                      </m:r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0  0 …  0  1</m:t>
                          </m:r>
                        </m:e>
                      </m:d>
                      <m:sSubSup>
                        <m:sSubSupPr>
                          <m:ctrlPr>
                            <a:rPr lang="it-IT" sz="20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𝐵𝐾</m:t>
                          </m:r>
                        </m:sub>
                      </m:sSub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2000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=[−10  −2.8  −1.2]</m:t>
                      </m:r>
                    </m:oMath>
                  </m:oMathPara>
                </a14:m>
                <a:endParaRPr lang="it-IT" sz="2000" b="0" kern="0" dirty="0">
                  <a:solidFill>
                    <a:srgbClr val="000000"/>
                  </a:solidFill>
                  <a:latin typeface="Garamond"/>
                </a:endParaRPr>
              </a:p>
              <a:p>
                <a:pPr marL="0" indent="0" algn="just">
                  <a:buNone/>
                </a:pPr>
                <a:r>
                  <a:rPr lang="it-IT" sz="2000" b="0" kern="0" dirty="0">
                    <a:solidFill>
                      <a:srgbClr val="000000"/>
                    </a:solidFill>
                    <a:latin typeface="Garamond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B2CA46CE-65FC-2444-870B-A0C86D231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2" y="997479"/>
                <a:ext cx="9021638" cy="5813130"/>
              </a:xfrm>
              <a:prstGeom prst="rect">
                <a:avLst/>
              </a:prstGeom>
              <a:blipFill>
                <a:blip r:embed="rId2"/>
                <a:stretch>
                  <a:fillRect l="-703" t="-655" b="-8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03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56714" y="836712"/>
                <a:ext cx="9030572" cy="4191362"/>
              </a:xfrm>
            </p:spPr>
            <p:txBody>
              <a:bodyPr/>
              <a:lstStyle/>
              <a:p>
                <a:r>
                  <a:rPr lang="it-IT" dirty="0"/>
                  <a:t>Al fine di assicurare errore nullo per riferimento al gradino, consideriamo il sistema allargato con l’aggiunta dell’integratore composto da 4 variabili di stato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endParaRPr lang="it-IT" sz="1000" b="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endParaRPr lang="it-IT" sz="10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0"/>
                  </a:spcAft>
                </a:pPr>
                <a:endParaRPr lang="it-IT" sz="10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acc>
                        <m:accPr>
                          <m:chr m:val="̃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con</a:t>
                </a:r>
              </a:p>
            </p:txBody>
          </p:sp>
        </mc:Choice>
        <mc:Fallback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4" y="836712"/>
                <a:ext cx="9030572" cy="4191362"/>
              </a:xfrm>
              <a:blipFill>
                <a:blip r:embed="rId2"/>
                <a:stretch>
                  <a:fillRect l="-702" t="-604" b="-57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D55A0E8D-2ADA-7A4B-8E97-096F89B3CEC9}"/>
              </a:ext>
            </a:extLst>
          </p:cNvPr>
          <p:cNvGrpSpPr/>
          <p:nvPr/>
        </p:nvGrpSpPr>
        <p:grpSpPr>
          <a:xfrm>
            <a:off x="56714" y="1844824"/>
            <a:ext cx="8979782" cy="1876300"/>
            <a:chOff x="-15294" y="2920852"/>
            <a:chExt cx="8979782" cy="1876300"/>
          </a:xfrm>
        </p:grpSpPr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79CA5E38-9144-EB4C-B7C0-49C363DB2A5A}"/>
                </a:ext>
              </a:extLst>
            </p:cNvPr>
            <p:cNvGrpSpPr/>
            <p:nvPr/>
          </p:nvGrpSpPr>
          <p:grpSpPr>
            <a:xfrm>
              <a:off x="4391980" y="2920852"/>
              <a:ext cx="4572508" cy="1656184"/>
              <a:chOff x="3527884" y="4895216"/>
              <a:chExt cx="4572508" cy="1656184"/>
            </a:xfrm>
          </p:grpSpPr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46C8614C-13A3-754A-8C6D-C4E92712D7E1}"/>
                  </a:ext>
                </a:extLst>
              </p:cNvPr>
              <p:cNvSpPr/>
              <p:nvPr/>
            </p:nvSpPr>
            <p:spPr bwMode="auto">
              <a:xfrm>
                <a:off x="5076058" y="5214870"/>
                <a:ext cx="1512168" cy="504056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Sistema</a:t>
                </a:r>
              </a:p>
            </p:txBody>
          </p:sp>
          <p:cxnSp>
            <p:nvCxnSpPr>
              <p:cNvPr id="10" name="Connettore 2 9">
                <a:extLst>
                  <a:ext uri="{FF2B5EF4-FFF2-40B4-BE49-F238E27FC236}">
                    <a16:creationId xmlns:a16="http://schemas.microsoft.com/office/drawing/2014/main" id="{39166B52-2B07-1548-8AC9-F44CB3166C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588226" y="5466898"/>
                <a:ext cx="151216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367ACA51-9BA0-A145-8169-16398EE4C2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32142" y="5713540"/>
                <a:ext cx="0" cy="59657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Connettore 1 14">
                <a:extLst>
                  <a:ext uri="{FF2B5EF4-FFF2-40B4-BE49-F238E27FC236}">
                    <a16:creationId xmlns:a16="http://schemas.microsoft.com/office/drawing/2014/main" id="{5E1D8B5A-0FE3-5444-87AF-343EF0BC99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527884" y="6310114"/>
                <a:ext cx="2304258" cy="45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/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22" name="Rettangolo 21">
                    <a:extLst>
                      <a:ext uri="{FF2B5EF4-FFF2-40B4-BE49-F238E27FC236}">
                        <a16:creationId xmlns:a16="http://schemas.microsoft.com/office/drawing/2014/main" id="{6DCFFCFD-21DB-EF4C-8911-D6715B56B3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753" y="4900415"/>
                    <a:ext cx="823174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/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x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3" name="Rettangolo 22">
                    <a:extLst>
                      <a:ext uri="{FF2B5EF4-FFF2-40B4-BE49-F238E27FC236}">
                        <a16:creationId xmlns:a16="http://schemas.microsoft.com/office/drawing/2014/main" id="{7FAC19A1-6E3D-0D42-9F4F-5AC8291CE8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2142" y="5743355"/>
                    <a:ext cx="72334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069" t="-7895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/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it-IT" b="0" i="1" dirty="0"/>
                      <a:t>u</a:t>
                    </a:r>
                    <a14:m>
                      <m:oMath xmlns:m="http://schemas.openxmlformats.org/officeDocument/2006/math"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oMath>
                    </a14:m>
                    <a:endParaRPr lang="it-IT" i="1" dirty="0"/>
                  </a:p>
                </p:txBody>
              </p:sp>
            </mc:Choice>
            <mc:Fallback xmlns="">
              <p:sp>
                <p:nvSpPr>
                  <p:cNvPr id="24" name="Rettangolo 23">
                    <a:extLst>
                      <a:ext uri="{FF2B5EF4-FFF2-40B4-BE49-F238E27FC236}">
                        <a16:creationId xmlns:a16="http://schemas.microsoft.com/office/drawing/2014/main" id="{74F2ED2E-AF5A-EF48-BB0E-A58DCB0443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6703" y="4895216"/>
                    <a:ext cx="72334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069" t="-13889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kumimoji="0" lang="it-IT" sz="24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it-IT" sz="24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Rettangolo 3">
                    <a:extLst>
                      <a:ext uri="{FF2B5EF4-FFF2-40B4-BE49-F238E27FC236}">
                        <a16:creationId xmlns:a16="http://schemas.microsoft.com/office/drawing/2014/main" id="{19DF9AF8-0EA2-374D-9B5E-1B4BEDD7DE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87232" y="6047344"/>
                    <a:ext cx="788824" cy="50405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2E959D6F-AEED-C548-8D2B-CCCF59B09B3C}"/>
                </a:ext>
              </a:extLst>
            </p:cNvPr>
            <p:cNvSpPr/>
            <p:nvPr/>
          </p:nvSpPr>
          <p:spPr bwMode="auto">
            <a:xfrm>
              <a:off x="4211960" y="3292980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00B8D8FA-E15C-3C47-A6A2-38313DA24B06}"/>
                </a:ext>
              </a:extLst>
            </p:cNvPr>
            <p:cNvCxnSpPr>
              <a:stCxn id="16" idx="6"/>
              <a:endCxn id="8" idx="1"/>
            </p:cNvCxnSpPr>
            <p:nvPr/>
          </p:nvCxnSpPr>
          <p:spPr bwMode="auto">
            <a:xfrm>
              <a:off x="4572000" y="3487809"/>
              <a:ext cx="1368154" cy="472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0D4C6838-91B0-294E-A44A-CBC737E60D83}"/>
                </a:ext>
              </a:extLst>
            </p:cNvPr>
            <p:cNvCxnSpPr>
              <a:cxnSpLocks/>
              <a:stCxn id="28" idx="3"/>
              <a:endCxn id="16" idx="2"/>
            </p:cNvCxnSpPr>
            <p:nvPr/>
          </p:nvCxnSpPr>
          <p:spPr bwMode="auto">
            <a:xfrm>
              <a:off x="3472038" y="3487148"/>
              <a:ext cx="739922" cy="66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/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30D83382-7270-1344-9BC5-34C8E3A3F7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6405" y="2957747"/>
                  <a:ext cx="823174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1538" b="-1578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7E98762B-2064-C949-B702-870162C2F069}"/>
                </a:ext>
              </a:extLst>
            </p:cNvPr>
            <p:cNvSpPr txBox="1"/>
            <p:nvPr/>
          </p:nvSpPr>
          <p:spPr>
            <a:xfrm>
              <a:off x="3875537" y="3429000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DE57BEC5-EBFF-A04F-94CC-1DBF628838D3}"/>
                </a:ext>
              </a:extLst>
            </p:cNvPr>
            <p:cNvCxnSpPr>
              <a:cxnSpLocks/>
              <a:endCxn id="16" idx="4"/>
            </p:cNvCxnSpPr>
            <p:nvPr/>
          </p:nvCxnSpPr>
          <p:spPr bwMode="auto">
            <a:xfrm flipV="1">
              <a:off x="4391980" y="3682637"/>
              <a:ext cx="0" cy="653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E0762269-142B-544A-B73D-1387B8D0073C}"/>
                </a:ext>
              </a:extLst>
            </p:cNvPr>
            <p:cNvSpPr txBox="1"/>
            <p:nvPr/>
          </p:nvSpPr>
          <p:spPr>
            <a:xfrm>
              <a:off x="4437923" y="358909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/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28" name="Rettangolo 27">
                  <a:extLst>
                    <a:ext uri="{FF2B5EF4-FFF2-40B4-BE49-F238E27FC236}">
                      <a16:creationId xmlns:a16="http://schemas.microsoft.com/office/drawing/2014/main" id="{6BEE7915-C104-F24B-8151-83B7DB99C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0342" y="3235120"/>
                  <a:ext cx="711696" cy="5040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BF3BF3AC-EDD7-EA40-A993-A769B46933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478599"/>
              <a:ext cx="0" cy="13185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548B2F0D-383D-8D45-A4E1-6DDEBB7049B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87623" y="4793854"/>
              <a:ext cx="6761093" cy="31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/>
                <p:nvPr/>
              </p:nvSpPr>
              <p:spPr bwMode="auto">
                <a:xfrm>
                  <a:off x="1763688" y="3235120"/>
                  <a:ext cx="589190" cy="504056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it-IT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 ∫</m:t>
                        </m:r>
                      </m:oMath>
                    </m:oMathPara>
                  </a14:m>
                  <a:endParaRPr kumimoji="0" lang="it-IT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5" name="Rettangolo 34">
                  <a:extLst>
                    <a:ext uri="{FF2B5EF4-FFF2-40B4-BE49-F238E27FC236}">
                      <a16:creationId xmlns:a16="http://schemas.microsoft.com/office/drawing/2014/main" id="{227DD0D9-DC6E-7F46-AE43-6F756D913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63688" y="3235120"/>
                  <a:ext cx="589190" cy="504056"/>
                </a:xfrm>
                <a:prstGeom prst="rect">
                  <a:avLst/>
                </a:prstGeom>
                <a:blipFill>
                  <a:blip r:embed="rId9"/>
                  <a:stretch>
                    <a:fillRect l="-14583" b="-11905"/>
                  </a:stretch>
                </a:blip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879A1A82-017E-7641-ABE9-1B694CE8B9E5}"/>
                </a:ext>
              </a:extLst>
            </p:cNvPr>
            <p:cNvCxnSpPr>
              <a:cxnSpLocks/>
              <a:endCxn id="28" idx="1"/>
            </p:cNvCxnSpPr>
            <p:nvPr/>
          </p:nvCxnSpPr>
          <p:spPr bwMode="auto">
            <a:xfrm>
              <a:off x="2352878" y="3487148"/>
              <a:ext cx="40746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28C0DF72-5E9F-1644-937B-1337C69B7CB0}"/>
                </a:ext>
              </a:extLst>
            </p:cNvPr>
            <p:cNvSpPr/>
            <p:nvPr/>
          </p:nvSpPr>
          <p:spPr bwMode="auto">
            <a:xfrm>
              <a:off x="1010872" y="3315296"/>
              <a:ext cx="360040" cy="389657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45" name="Connettore 2 44">
              <a:extLst>
                <a:ext uri="{FF2B5EF4-FFF2-40B4-BE49-F238E27FC236}">
                  <a16:creationId xmlns:a16="http://schemas.microsoft.com/office/drawing/2014/main" id="{EE89F334-23D5-0640-B518-D2FF3D9B25E1}"/>
                </a:ext>
              </a:extLst>
            </p:cNvPr>
            <p:cNvCxnSpPr>
              <a:cxnSpLocks/>
              <a:endCxn id="42" idx="4"/>
            </p:cNvCxnSpPr>
            <p:nvPr/>
          </p:nvCxnSpPr>
          <p:spPr bwMode="auto">
            <a:xfrm flipV="1">
              <a:off x="1187623" y="3704953"/>
              <a:ext cx="3269" cy="10889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Connettore 2 47">
              <a:extLst>
                <a:ext uri="{FF2B5EF4-FFF2-40B4-BE49-F238E27FC236}">
                  <a16:creationId xmlns:a16="http://schemas.microsoft.com/office/drawing/2014/main" id="{5C489783-D8F7-8C44-9B95-6EAEC4C99D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70912" y="3510124"/>
              <a:ext cx="392776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A403ADF2-5298-9844-BFB9-532419A85F1A}"/>
                </a:ext>
              </a:extLst>
            </p:cNvPr>
            <p:cNvSpPr txBox="1"/>
            <p:nvPr/>
          </p:nvSpPr>
          <p:spPr>
            <a:xfrm>
              <a:off x="735372" y="308446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+</a:t>
              </a: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837FF206-C407-D443-998D-3947B45F2B7B}"/>
                </a:ext>
              </a:extLst>
            </p:cNvPr>
            <p:cNvSpPr txBox="1"/>
            <p:nvPr/>
          </p:nvSpPr>
          <p:spPr>
            <a:xfrm>
              <a:off x="1205038" y="3590953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-</a:t>
              </a: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8A9A2B70-13D0-DD45-ACE9-4FFE60BFB0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3528" y="3510124"/>
              <a:ext cx="6873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/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56" name="Rettangolo 55">
                  <a:extLst>
                    <a:ext uri="{FF2B5EF4-FFF2-40B4-BE49-F238E27FC236}">
                      <a16:creationId xmlns:a16="http://schemas.microsoft.com/office/drawing/2014/main" id="{08A6FF03-62C7-4442-A408-E7417B3C21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294" y="3013355"/>
                  <a:ext cx="800027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1563" b="-1621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E0F8F27E-1421-2142-B6AE-EBFB4BE3AFD6}"/>
                  </a:ext>
                </a:extLst>
              </p:cNvPr>
              <p:cNvSpPr/>
              <p:nvPr/>
            </p:nvSpPr>
            <p:spPr>
              <a:xfrm>
                <a:off x="2087911" y="2708920"/>
                <a:ext cx="12637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E0F8F27E-1421-2142-B6AE-EBFB4BE3A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911" y="2708920"/>
                <a:ext cx="1263744" cy="461665"/>
              </a:xfrm>
              <a:prstGeom prst="rect">
                <a:avLst/>
              </a:prstGeom>
              <a:blipFill>
                <a:blip r:embed="rId11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651D5D0-F815-AF48-94D3-C8CF77792C5C}"/>
                  </a:ext>
                </a:extLst>
              </p:cNvPr>
              <p:cNvSpPr txBox="1"/>
              <p:nvPr/>
            </p:nvSpPr>
            <p:spPr>
              <a:xfrm>
                <a:off x="2298256" y="5055458"/>
                <a:ext cx="4391780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      ;      </m:t>
                      </m:r>
                      <m:acc>
                        <m:accPr>
                          <m:chr m:val="̃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b="0" dirty="0"/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651D5D0-F815-AF48-94D3-C8CF77792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56" y="5055458"/>
                <a:ext cx="4391780" cy="1133900"/>
              </a:xfrm>
              <a:prstGeom prst="rect">
                <a:avLst/>
              </a:prstGeom>
              <a:blipFill>
                <a:blip r:embed="rId12"/>
                <a:stretch>
                  <a:fillRect l="-576" b="-54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10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0" y="6671071"/>
            <a:ext cx="9144000" cy="214313"/>
          </a:xfrm>
        </p:spPr>
        <p:txBody>
          <a:bodyPr/>
          <a:lstStyle/>
          <a:p>
            <a:pPr>
              <a:defRPr/>
            </a:pPr>
            <a:r>
              <a:rPr lang="en-US" dirty="0"/>
              <a:t>Prof. Roberto </a:t>
            </a:r>
            <a:r>
              <a:rPr lang="en-US" dirty="0" err="1"/>
              <a:t>Ambrosino</a:t>
            </a:r>
            <a:r>
              <a:rPr lang="en-US" dirty="0"/>
              <a:t>	Automatic  Control  2019/20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Assegnamento degli </a:t>
            </a:r>
            <a:r>
              <a:rPr lang="it-IT" dirty="0" err="1"/>
              <a:t>autovalori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</p:spPr>
            <p:txBody>
              <a:bodyPr/>
              <a:lstStyle/>
              <a:p>
                <a:pPr algn="just"/>
                <a:r>
                  <a:rPr lang="it-IT" dirty="0"/>
                  <a:t>Al fine di applicare la formula di </a:t>
                </a:r>
                <a:r>
                  <a:rPr lang="it-IT" dirty="0" err="1"/>
                  <a:t>Ackermann</a:t>
                </a:r>
                <a:r>
                  <a:rPr lang="it-IT" dirty="0"/>
                  <a:t> alla coppia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l’autovalore addizionale del sistema allargato è stato fissato in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30, </m:t>
                    </m:r>
                  </m:oMath>
                </a14:m>
                <a:r>
                  <a:rPr lang="it-IT" dirty="0"/>
                  <a:t>in modo da definire una costante di tempo minore rispetto a quelle del sistema di partenza. </a:t>
                </a:r>
              </a:p>
              <a:p>
                <a:pPr algn="just"/>
                <a:r>
                  <a:rPr lang="it-IT" dirty="0"/>
                  <a:t>La matrice di raggiungibilità del sistema risulta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it-IT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it-IT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</m:mr>
                          <m:mr>
                            <m:e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155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−25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−625</m:t>
                              </m:r>
                            </m:e>
                          </m:mr>
                          <m:mr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t-IT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t-IT" dirty="0">
                    <a:solidFill>
                      <a:srgbClr val="00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 </m:t>
                    </m:r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it-IT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it-IT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it-IT" dirty="0">
                  <a:solidFill>
                    <a:srgbClr val="000000"/>
                  </a:solidFill>
                </a:endParaRPr>
              </a:p>
              <a:p>
                <a:pPr algn="just"/>
                <a:r>
                  <a:rPr lang="it-IT" dirty="0">
                    <a:solidFill>
                      <a:srgbClr val="000000"/>
                    </a:solidFill>
                  </a:rPr>
                  <a:t>Il controllore calcolato con la formula di </a:t>
                </a:r>
                <a:r>
                  <a:rPr lang="it-IT" dirty="0" err="1">
                    <a:solidFill>
                      <a:srgbClr val="000000"/>
                    </a:solidFill>
                  </a:rPr>
                  <a:t>Ackermann</a:t>
                </a:r>
                <a:r>
                  <a:rPr lang="it-IT" dirty="0">
                    <a:solidFill>
                      <a:srgbClr val="000000"/>
                    </a:solidFill>
                  </a:rPr>
                  <a:t> risulta</a:t>
                </a:r>
              </a:p>
              <a:p>
                <a:pPr algn="just"/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m:rPr>
                          <m:nor/>
                        </m:rPr>
                        <a:rPr lang="it-IT" dirty="0"/>
                        <m:t> 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  −</m:t>
                      </m:r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68.8</m:t>
                      </m:r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−</m:t>
                      </m:r>
                      <m:r>
                        <a:rPr lang="it-IT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it-IT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.2    300</m:t>
                      </m:r>
                      <m:r>
                        <a:rPr lang="it-IT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dirty="0">
                  <a:solidFill>
                    <a:srgbClr val="000000"/>
                  </a:solidFill>
                </a:endParaRPr>
              </a:p>
              <a:p>
                <a:pPr marL="0" indent="0" algn="just">
                  <a:buNone/>
                </a:pPr>
                <a:endParaRPr lang="it-IT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14" y="836712"/>
                <a:ext cx="9030572" cy="5184576"/>
              </a:xfrm>
              <a:blipFill>
                <a:blip r:embed="rId2"/>
                <a:stretch>
                  <a:fillRect l="-421" t="-244" r="-5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315233-6E47-4760-BC98-AB196018917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66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CARLO@ZSQZHD0P69FCEKCE" val="2976"/>
  <p:tag name="DEFAULTDISPLAYSOURCE" val="\documentclass{slides}\pagestyle{empty}&#10;\usepackage{amsmath}&#10;\usepackage{amsfonts}&#10;\begin{document}&#10;\begin{align*}&#10;&#10;\end{align*}&#10;\end{document}&#10;"/>
  <p:tag name="EMBEDFONTS" val="1"/>
</p:tagLst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Verdana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DF14A0A7E7A51419A46051E6F391250" ma:contentTypeVersion="0" ma:contentTypeDescription="Creare un nuovo documento." ma:contentTypeScope="" ma:versionID="60bf65bfbfb5cdc364fc884ed05b0e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5194ef39032683069acb23aaa50848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D7E1F4-04D4-49AF-BFD0-81835F671306}"/>
</file>

<file path=customXml/itemProps2.xml><?xml version="1.0" encoding="utf-8"?>
<ds:datastoreItem xmlns:ds="http://schemas.openxmlformats.org/officeDocument/2006/customXml" ds:itemID="{2120298A-0035-48B5-9BA8-0E37388FE8A4}"/>
</file>

<file path=customXml/itemProps3.xml><?xml version="1.0" encoding="utf-8"?>
<ds:datastoreItem xmlns:ds="http://schemas.openxmlformats.org/officeDocument/2006/customXml" ds:itemID="{BCC0C60F-A71E-454E-85B4-A6A4856BEEF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41942</TotalTime>
  <Words>927</Words>
  <Application>Microsoft Macintosh PowerPoint</Application>
  <PresentationFormat>Presentazione su schermo (4:3)</PresentationFormat>
  <Paragraphs>152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Times New Roman</vt:lpstr>
      <vt:lpstr>Palatino</vt:lpstr>
      <vt:lpstr>Cambria Math</vt:lpstr>
      <vt:lpstr>Garamond</vt:lpstr>
      <vt:lpstr>Arial</vt:lpstr>
      <vt:lpstr>Wingdings 2</vt:lpstr>
      <vt:lpstr>Verdana</vt:lpstr>
      <vt:lpstr>Struttura predefinita</vt:lpstr>
      <vt:lpstr>Presentazione standard di PowerPoint</vt:lpstr>
      <vt:lpstr>Assegnamento degli autovalori</vt:lpstr>
      <vt:lpstr>Assegnamento degli autovalori</vt:lpstr>
      <vt:lpstr>Assegnamento degli autovalori</vt:lpstr>
      <vt:lpstr>Assegnamento degli autovalori</vt:lpstr>
      <vt:lpstr>Esempio</vt:lpstr>
      <vt:lpstr>Esempio</vt:lpstr>
      <vt:lpstr>Assegnamento degli autovalori</vt:lpstr>
      <vt:lpstr>Assegnamento degli autovalori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</dc:creator>
  <cp:lastModifiedBy>ROBERTO AMBROSINO</cp:lastModifiedBy>
  <cp:revision>965</cp:revision>
  <cp:lastPrinted>2020-05-24T21:29:08Z</cp:lastPrinted>
  <dcterms:created xsi:type="dcterms:W3CDTF">1601-01-01T00:00:00Z</dcterms:created>
  <dcterms:modified xsi:type="dcterms:W3CDTF">2023-12-14T12:18:49Z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0x0101004DF14A0A7E7A51419A46051E6F391250</vt:lpwstr>
  </property>
</Properties>
</file>