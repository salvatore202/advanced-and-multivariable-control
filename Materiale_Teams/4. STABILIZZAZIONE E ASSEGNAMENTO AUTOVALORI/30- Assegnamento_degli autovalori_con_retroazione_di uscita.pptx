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entation.xml" ContentType="application/vnd.openxmlformats-officedocument.presentationml.presentation.main+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8"/>
  </p:notesMasterIdLst>
  <p:handoutMasterIdLst>
    <p:handoutMasterId r:id="rId19"/>
  </p:handoutMasterIdLst>
  <p:sldIdLst>
    <p:sldId id="424" r:id="rId2"/>
    <p:sldId id="494" r:id="rId3"/>
    <p:sldId id="496" r:id="rId4"/>
    <p:sldId id="495" r:id="rId5"/>
    <p:sldId id="497" r:id="rId6"/>
    <p:sldId id="498" r:id="rId7"/>
    <p:sldId id="499" r:id="rId8"/>
    <p:sldId id="500" r:id="rId9"/>
    <p:sldId id="501" r:id="rId10"/>
    <p:sldId id="502" r:id="rId11"/>
    <p:sldId id="503" r:id="rId12"/>
    <p:sldId id="504" r:id="rId13"/>
    <p:sldId id="505" r:id="rId14"/>
    <p:sldId id="506" r:id="rId15"/>
    <p:sldId id="507" r:id="rId16"/>
    <p:sldId id="508" r:id="rId17"/>
  </p:sldIdLst>
  <p:sldSz cx="9144000" cy="6858000" type="screen4x3"/>
  <p:notesSz cx="6794500" cy="9918700"/>
  <p:embeddedFontLst>
    <p:embeddedFont>
      <p:font typeface="Cambria Math" panose="02040503050406030204" pitchFamily="18" charset="0"/>
      <p:regular r:id="rId20"/>
    </p:embeddedFont>
    <p:embeddedFont>
      <p:font typeface="Garamond" panose="02020404030301010803" pitchFamily="18" charset="0"/>
      <p:regular r:id="rId21"/>
      <p:bold r:id="rId22"/>
      <p:italic r:id="rId23"/>
      <p:boldItalic r:id="rId24"/>
    </p:embeddedFont>
    <p:embeddedFont>
      <p:font typeface="Verdana" panose="020B0604030504040204" pitchFamily="34" charset="0"/>
      <p:regular r:id="rId25"/>
      <p:bold r:id="rId26"/>
      <p:italic r:id="rId27"/>
      <p:boldItalic r:id="rId28"/>
    </p:embeddedFont>
    <p:embeddedFont>
      <p:font typeface="Wingdings 2" pitchFamily="2" charset="2"/>
      <p:regular r:id="rId29"/>
    </p:embeddedFont>
  </p:embeddedFontLst>
  <p:custDataLst>
    <p:tags r:id="rId30"/>
  </p:custDataLst>
  <p:defaultTextStyle>
    <a:defPPr>
      <a:defRPr lang="en-US"/>
    </a:defPPr>
    <a:lvl1pPr algn="l" rtl="0" fontAlgn="base">
      <a:spcBef>
        <a:spcPct val="0"/>
      </a:spcBef>
      <a:spcAft>
        <a:spcPct val="0"/>
      </a:spcAft>
      <a:defRPr sz="2400" b="1" kern="1200">
        <a:solidFill>
          <a:schemeClr val="tx1"/>
        </a:solidFill>
        <a:latin typeface="Times New Roman" pitchFamily="18" charset="0"/>
        <a:ea typeface="+mn-ea"/>
        <a:cs typeface="Arial" pitchFamily="34" charset="0"/>
      </a:defRPr>
    </a:lvl1pPr>
    <a:lvl2pPr marL="457200" algn="l" rtl="0" fontAlgn="base">
      <a:spcBef>
        <a:spcPct val="0"/>
      </a:spcBef>
      <a:spcAft>
        <a:spcPct val="0"/>
      </a:spcAft>
      <a:defRPr sz="2400" b="1" kern="1200">
        <a:solidFill>
          <a:schemeClr val="tx1"/>
        </a:solidFill>
        <a:latin typeface="Times New Roman" pitchFamily="18" charset="0"/>
        <a:ea typeface="+mn-ea"/>
        <a:cs typeface="Arial" pitchFamily="34" charset="0"/>
      </a:defRPr>
    </a:lvl2pPr>
    <a:lvl3pPr marL="914400" algn="l" rtl="0" fontAlgn="base">
      <a:spcBef>
        <a:spcPct val="0"/>
      </a:spcBef>
      <a:spcAft>
        <a:spcPct val="0"/>
      </a:spcAft>
      <a:defRPr sz="2400" b="1" kern="1200">
        <a:solidFill>
          <a:schemeClr val="tx1"/>
        </a:solidFill>
        <a:latin typeface="Times New Roman" pitchFamily="18" charset="0"/>
        <a:ea typeface="+mn-ea"/>
        <a:cs typeface="Arial" pitchFamily="34" charset="0"/>
      </a:defRPr>
    </a:lvl3pPr>
    <a:lvl4pPr marL="1371600" algn="l" rtl="0" fontAlgn="base">
      <a:spcBef>
        <a:spcPct val="0"/>
      </a:spcBef>
      <a:spcAft>
        <a:spcPct val="0"/>
      </a:spcAft>
      <a:defRPr sz="2400" b="1" kern="1200">
        <a:solidFill>
          <a:schemeClr val="tx1"/>
        </a:solidFill>
        <a:latin typeface="Times New Roman" pitchFamily="18" charset="0"/>
        <a:ea typeface="+mn-ea"/>
        <a:cs typeface="Arial" pitchFamily="34" charset="0"/>
      </a:defRPr>
    </a:lvl4pPr>
    <a:lvl5pPr marL="1828800" algn="l" rtl="0" fontAlgn="base">
      <a:spcBef>
        <a:spcPct val="0"/>
      </a:spcBef>
      <a:spcAft>
        <a:spcPct val="0"/>
      </a:spcAft>
      <a:defRPr sz="2400" b="1" kern="1200">
        <a:solidFill>
          <a:schemeClr val="tx1"/>
        </a:solidFill>
        <a:latin typeface="Times New Roman" pitchFamily="18" charset="0"/>
        <a:ea typeface="+mn-ea"/>
        <a:cs typeface="Arial" pitchFamily="34" charset="0"/>
      </a:defRPr>
    </a:lvl5pPr>
    <a:lvl6pPr marL="2286000" algn="l" defTabSz="914400" rtl="0" eaLnBrk="1" latinLnBrk="0" hangingPunct="1">
      <a:defRPr sz="2400" b="1" kern="1200">
        <a:solidFill>
          <a:schemeClr val="tx1"/>
        </a:solidFill>
        <a:latin typeface="Times New Roman" pitchFamily="18" charset="0"/>
        <a:ea typeface="+mn-ea"/>
        <a:cs typeface="Arial" pitchFamily="34" charset="0"/>
      </a:defRPr>
    </a:lvl6pPr>
    <a:lvl7pPr marL="2743200" algn="l" defTabSz="914400" rtl="0" eaLnBrk="1" latinLnBrk="0" hangingPunct="1">
      <a:defRPr sz="2400" b="1" kern="1200">
        <a:solidFill>
          <a:schemeClr val="tx1"/>
        </a:solidFill>
        <a:latin typeface="Times New Roman" pitchFamily="18" charset="0"/>
        <a:ea typeface="+mn-ea"/>
        <a:cs typeface="Arial" pitchFamily="34" charset="0"/>
      </a:defRPr>
    </a:lvl7pPr>
    <a:lvl8pPr marL="3200400" algn="l" defTabSz="914400" rtl="0" eaLnBrk="1" latinLnBrk="0" hangingPunct="1">
      <a:defRPr sz="2400" b="1" kern="1200">
        <a:solidFill>
          <a:schemeClr val="tx1"/>
        </a:solidFill>
        <a:latin typeface="Times New Roman" pitchFamily="18" charset="0"/>
        <a:ea typeface="+mn-ea"/>
        <a:cs typeface="Arial" pitchFamily="34" charset="0"/>
      </a:defRPr>
    </a:lvl8pPr>
    <a:lvl9pPr marL="3657600" algn="l" defTabSz="914400" rtl="0" eaLnBrk="1" latinLnBrk="0" hangingPunct="1">
      <a:defRPr sz="2400" b="1" kern="1200">
        <a:solidFill>
          <a:schemeClr val="tx1"/>
        </a:solidFill>
        <a:latin typeface="Times New Roman" pitchFamily="18"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4">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808000"/>
    <a:srgbClr val="3D3D5B"/>
    <a:srgbClr val="666699"/>
    <a:srgbClr val="006600"/>
    <a:srgbClr val="BBBBD1"/>
    <a:srgbClr val="FFFF00"/>
    <a:srgbClr val="A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89" autoAdjust="0"/>
    <p:restoredTop sz="94587" autoAdjust="0"/>
  </p:normalViewPr>
  <p:slideViewPr>
    <p:cSldViewPr>
      <p:cViewPr varScale="1">
        <p:scale>
          <a:sx n="115" d="100"/>
          <a:sy n="115" d="100"/>
        </p:scale>
        <p:origin x="162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946" y="-108"/>
      </p:cViewPr>
      <p:guideLst>
        <p:guide orient="horz" pos="3124"/>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ags" Target="tags/tag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bwMode="auto">
          <a:xfrm>
            <a:off x="0" y="0"/>
            <a:ext cx="294481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cs typeface="+mn-cs"/>
              </a:defRPr>
            </a:lvl1pPr>
          </a:lstStyle>
          <a:p>
            <a:pPr>
              <a:defRPr/>
            </a:pPr>
            <a:endParaRPr lang="it-IT"/>
          </a:p>
        </p:txBody>
      </p:sp>
      <p:sp>
        <p:nvSpPr>
          <p:cNvPr id="96259" name="Rectangle 3"/>
          <p:cNvSpPr>
            <a:spLocks noGrp="1" noChangeArrowheads="1"/>
          </p:cNvSpPr>
          <p:nvPr>
            <p:ph type="dt" sz="quarter" idx="1"/>
          </p:nvPr>
        </p:nvSpPr>
        <p:spPr bwMode="auto">
          <a:xfrm>
            <a:off x="3848100" y="0"/>
            <a:ext cx="294481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cs typeface="+mn-cs"/>
              </a:defRPr>
            </a:lvl1pPr>
          </a:lstStyle>
          <a:p>
            <a:pPr>
              <a:defRPr/>
            </a:pPr>
            <a:endParaRPr lang="it-IT"/>
          </a:p>
        </p:txBody>
      </p:sp>
      <p:sp>
        <p:nvSpPr>
          <p:cNvPr id="96260" name="Rectangle 4"/>
          <p:cNvSpPr>
            <a:spLocks noGrp="1" noChangeArrowheads="1"/>
          </p:cNvSpPr>
          <p:nvPr>
            <p:ph type="ftr" sz="quarter" idx="2"/>
          </p:nvPr>
        </p:nvSpPr>
        <p:spPr bwMode="auto">
          <a:xfrm>
            <a:off x="0" y="9421813"/>
            <a:ext cx="294481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cs typeface="+mn-cs"/>
              </a:defRPr>
            </a:lvl1pPr>
          </a:lstStyle>
          <a:p>
            <a:pPr>
              <a:defRPr/>
            </a:pPr>
            <a:endParaRPr lang="it-IT"/>
          </a:p>
        </p:txBody>
      </p:sp>
      <p:sp>
        <p:nvSpPr>
          <p:cNvPr id="96261" name="Rectangle 5"/>
          <p:cNvSpPr>
            <a:spLocks noGrp="1" noChangeArrowheads="1"/>
          </p:cNvSpPr>
          <p:nvPr>
            <p:ph type="sldNum" sz="quarter" idx="3"/>
          </p:nvPr>
        </p:nvSpPr>
        <p:spPr bwMode="auto">
          <a:xfrm>
            <a:off x="3848100" y="9421813"/>
            <a:ext cx="294481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cs typeface="+mn-cs"/>
              </a:defRPr>
            </a:lvl1pPr>
          </a:lstStyle>
          <a:p>
            <a:pPr>
              <a:defRPr/>
            </a:pPr>
            <a:fld id="{54A5827C-85B4-43FE-BF17-E3823D5DD215}" type="slidenum">
              <a:rPr lang="it-IT"/>
              <a:pPr>
                <a:defRPr/>
              </a:pPr>
              <a:t>‹N›</a:t>
            </a:fld>
            <a:endParaRPr lang="it-IT"/>
          </a:p>
        </p:txBody>
      </p:sp>
    </p:spTree>
    <p:extLst>
      <p:ext uri="{BB962C8B-B14F-4D97-AF65-F5344CB8AC3E}">
        <p14:creationId xmlns:p14="http://schemas.microsoft.com/office/powerpoint/2010/main" val="15512260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4481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cs typeface="+mn-cs"/>
              </a:defRPr>
            </a:lvl1pPr>
          </a:lstStyle>
          <a:p>
            <a:pPr>
              <a:defRPr/>
            </a:pPr>
            <a:endParaRPr lang="en-US"/>
          </a:p>
        </p:txBody>
      </p:sp>
      <p:sp>
        <p:nvSpPr>
          <p:cNvPr id="5123" name="Rectangle 3"/>
          <p:cNvSpPr>
            <a:spLocks noGrp="1" noChangeArrowheads="1"/>
          </p:cNvSpPr>
          <p:nvPr>
            <p:ph type="dt" idx="1"/>
          </p:nvPr>
        </p:nvSpPr>
        <p:spPr bwMode="auto">
          <a:xfrm>
            <a:off x="3849688" y="0"/>
            <a:ext cx="2944812"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cs typeface="+mn-cs"/>
              </a:defRPr>
            </a:lvl1pPr>
          </a:lstStyle>
          <a:p>
            <a:pPr>
              <a:defRPr/>
            </a:pPr>
            <a:endParaRPr lang="en-US"/>
          </a:p>
        </p:txBody>
      </p:sp>
      <p:sp>
        <p:nvSpPr>
          <p:cNvPr id="59396" name="Rectangle 4"/>
          <p:cNvSpPr>
            <a:spLocks noGrp="1" noRot="1" noChangeAspect="1" noChangeArrowheads="1" noTextEdit="1"/>
          </p:cNvSpPr>
          <p:nvPr>
            <p:ph type="sldImg" idx="2"/>
          </p:nvPr>
        </p:nvSpPr>
        <p:spPr bwMode="auto">
          <a:xfrm>
            <a:off x="917575" y="744538"/>
            <a:ext cx="4959350" cy="37195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06463" y="4711700"/>
            <a:ext cx="4981575" cy="44624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Fare clic per modificare gli stili del testo dello schema</a:t>
            </a:r>
          </a:p>
          <a:p>
            <a:pPr lvl="1"/>
            <a:r>
              <a:rPr lang="en-US" noProof="0"/>
              <a:t>Secondo livello</a:t>
            </a:r>
          </a:p>
          <a:p>
            <a:pPr lvl="2"/>
            <a:r>
              <a:rPr lang="en-US" noProof="0"/>
              <a:t>Terzo livello</a:t>
            </a:r>
          </a:p>
          <a:p>
            <a:pPr lvl="3"/>
            <a:r>
              <a:rPr lang="en-US" noProof="0"/>
              <a:t>Quarto livello</a:t>
            </a:r>
          </a:p>
          <a:p>
            <a:pPr lvl="4"/>
            <a:r>
              <a:rPr lang="en-US" noProof="0"/>
              <a:t>Quinto livello</a:t>
            </a:r>
          </a:p>
        </p:txBody>
      </p:sp>
      <p:sp>
        <p:nvSpPr>
          <p:cNvPr id="5126" name="Rectangle 6"/>
          <p:cNvSpPr>
            <a:spLocks noGrp="1" noChangeArrowheads="1"/>
          </p:cNvSpPr>
          <p:nvPr>
            <p:ph type="ftr" sz="quarter" idx="4"/>
          </p:nvPr>
        </p:nvSpPr>
        <p:spPr bwMode="auto">
          <a:xfrm>
            <a:off x="0" y="9423400"/>
            <a:ext cx="294481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cs typeface="+mn-cs"/>
              </a:defRPr>
            </a:lvl1pPr>
          </a:lstStyle>
          <a:p>
            <a:pPr>
              <a:defRPr/>
            </a:pPr>
            <a:endParaRPr lang="en-US"/>
          </a:p>
        </p:txBody>
      </p:sp>
      <p:sp>
        <p:nvSpPr>
          <p:cNvPr id="5127" name="Rectangle 7"/>
          <p:cNvSpPr>
            <a:spLocks noGrp="1" noChangeArrowheads="1"/>
          </p:cNvSpPr>
          <p:nvPr>
            <p:ph type="sldNum" sz="quarter" idx="5"/>
          </p:nvPr>
        </p:nvSpPr>
        <p:spPr bwMode="auto">
          <a:xfrm>
            <a:off x="3849688" y="9423400"/>
            <a:ext cx="2944812"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cs typeface="+mn-cs"/>
              </a:defRPr>
            </a:lvl1pPr>
          </a:lstStyle>
          <a:p>
            <a:pPr>
              <a:defRPr/>
            </a:pPr>
            <a:fld id="{F20BCF7C-BC30-4725-9DFC-152D64AED2A7}" type="slidenum">
              <a:rPr lang="en-US"/>
              <a:pPr>
                <a:defRPr/>
              </a:pPr>
              <a:t>‹N›</a:t>
            </a:fld>
            <a:endParaRPr lang="en-US"/>
          </a:p>
        </p:txBody>
      </p:sp>
    </p:spTree>
    <p:extLst>
      <p:ext uri="{BB962C8B-B14F-4D97-AF65-F5344CB8AC3E}">
        <p14:creationId xmlns:p14="http://schemas.microsoft.com/office/powerpoint/2010/main" val="5374382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pPr>
              <a:defRPr/>
            </a:pPr>
            <a:fld id="{F20BCF7C-BC30-4725-9DFC-152D64AED2A7}" type="slidenum">
              <a:rPr lang="en-US" smtClean="0"/>
              <a:pPr>
                <a:defRPr/>
              </a:pPr>
              <a:t>14</a:t>
            </a:fld>
            <a:endParaRPr lang="en-US"/>
          </a:p>
        </p:txBody>
      </p:sp>
    </p:spTree>
    <p:extLst>
      <p:ext uri="{BB962C8B-B14F-4D97-AF65-F5344CB8AC3E}">
        <p14:creationId xmlns:p14="http://schemas.microsoft.com/office/powerpoint/2010/main" val="660679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pPr>
              <a:defRPr/>
            </a:pPr>
            <a:fld id="{F20BCF7C-BC30-4725-9DFC-152D64AED2A7}" type="slidenum">
              <a:rPr lang="en-US" smtClean="0"/>
              <a:pPr>
                <a:defRPr/>
              </a:pPr>
              <a:t>15</a:t>
            </a:fld>
            <a:endParaRPr lang="en-US"/>
          </a:p>
        </p:txBody>
      </p:sp>
    </p:spTree>
    <p:extLst>
      <p:ext uri="{BB962C8B-B14F-4D97-AF65-F5344CB8AC3E}">
        <p14:creationId xmlns:p14="http://schemas.microsoft.com/office/powerpoint/2010/main" val="1931423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pPr>
              <a:defRPr/>
            </a:pPr>
            <a:fld id="{F20BCF7C-BC30-4725-9DFC-152D64AED2A7}" type="slidenum">
              <a:rPr lang="en-US" smtClean="0"/>
              <a:pPr>
                <a:defRPr/>
              </a:pPr>
              <a:t>16</a:t>
            </a:fld>
            <a:endParaRPr lang="en-US"/>
          </a:p>
        </p:txBody>
      </p:sp>
    </p:spTree>
    <p:extLst>
      <p:ext uri="{BB962C8B-B14F-4D97-AF65-F5344CB8AC3E}">
        <p14:creationId xmlns:p14="http://schemas.microsoft.com/office/powerpoint/2010/main" val="2018980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it-IT"/>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it-IT"/>
          </a:p>
        </p:txBody>
      </p:sp>
      <p:sp>
        <p:nvSpPr>
          <p:cNvPr id="4" name="Rectangle 8"/>
          <p:cNvSpPr>
            <a:spLocks noGrp="1" noChangeArrowheads="1"/>
          </p:cNvSpPr>
          <p:nvPr>
            <p:ph type="sldNum" sz="quarter" idx="10"/>
          </p:nvPr>
        </p:nvSpPr>
        <p:spPr>
          <a:xfrm>
            <a:off x="4286250" y="6643688"/>
            <a:ext cx="457200" cy="214312"/>
          </a:xfrm>
        </p:spPr>
        <p:txBody>
          <a:bodyPr/>
          <a:lstStyle>
            <a:lvl1pPr>
              <a:defRPr sz="1200"/>
            </a:lvl1pPr>
          </a:lstStyle>
          <a:p>
            <a:pPr>
              <a:defRPr/>
            </a:pPr>
            <a:fld id="{E25C708E-5992-4577-8A10-8AE712C908A3}" type="slidenum">
              <a:rPr lang="en-US"/>
              <a:pPr>
                <a:defRPr/>
              </a:pPr>
              <a:t>‹N›</a:t>
            </a:fld>
            <a:endParaRPr lang="en-US" dirty="0"/>
          </a:p>
        </p:txBody>
      </p:sp>
    </p:spTree>
    <p:extLst>
      <p:ext uri="{BB962C8B-B14F-4D97-AF65-F5344CB8AC3E}">
        <p14:creationId xmlns:p14="http://schemas.microsoft.com/office/powerpoint/2010/main" val="1061282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03648" y="72008"/>
            <a:ext cx="7128792" cy="692696"/>
          </a:xfrm>
          <a:solidFill>
            <a:schemeClr val="accent2"/>
          </a:solidFill>
        </p:spPr>
        <p:txBody>
          <a:bodyPr/>
          <a:lstStyle/>
          <a:p>
            <a:r>
              <a:rPr lang="en-US" dirty="0"/>
              <a:t>Click to edit Master title style</a:t>
            </a:r>
            <a:endParaRPr lang="it-IT" dirty="0"/>
          </a:p>
        </p:txBody>
      </p:sp>
      <p:sp>
        <p:nvSpPr>
          <p:cNvPr id="3" name="Content Placeholder 2"/>
          <p:cNvSpPr>
            <a:spLocks noGrp="1"/>
          </p:cNvSpPr>
          <p:nvPr>
            <p:ph idx="1"/>
          </p:nvPr>
        </p:nvSpPr>
        <p:spPr/>
        <p:txBody>
          <a:bodyPr/>
          <a:lstStyle>
            <a:lvl2pPr>
              <a:defRPr sz="1800"/>
            </a:lvl2pPr>
            <a:lvl3pPr>
              <a:defRPr sz="16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it-IT" dirty="0"/>
          </a:p>
        </p:txBody>
      </p:sp>
      <p:sp>
        <p:nvSpPr>
          <p:cNvPr id="4" name="Rectangle 11"/>
          <p:cNvSpPr>
            <a:spLocks noGrp="1" noChangeArrowheads="1"/>
          </p:cNvSpPr>
          <p:nvPr>
            <p:ph type="ftr" sz="quarter" idx="10"/>
          </p:nvPr>
        </p:nvSpPr>
        <p:spPr>
          <a:xfrm>
            <a:off x="0" y="6670675"/>
            <a:ext cx="9144000" cy="214313"/>
          </a:xfrm>
          <a:solidFill>
            <a:schemeClr val="accent2"/>
          </a:solidFill>
        </p:spPr>
        <p:txBody>
          <a:bodyPr/>
          <a:lstStyle>
            <a:lvl1pPr>
              <a:defRPr dirty="0" smtClean="0"/>
            </a:lvl1pPr>
          </a:lstStyle>
          <a:p>
            <a:pPr>
              <a:defRPr/>
            </a:pPr>
            <a:r>
              <a:rPr lang="en-US" dirty="0"/>
              <a:t>Prof. Roberto </a:t>
            </a:r>
            <a:r>
              <a:rPr lang="en-US" dirty="0" err="1"/>
              <a:t>Ambrosino</a:t>
            </a:r>
            <a:r>
              <a:rPr lang="en-US" dirty="0"/>
              <a:t>	Automatic Control 2014-15</a:t>
            </a:r>
          </a:p>
        </p:txBody>
      </p:sp>
      <p:sp>
        <p:nvSpPr>
          <p:cNvPr id="5" name="Rectangle 6"/>
          <p:cNvSpPr>
            <a:spLocks noGrp="1" noChangeArrowheads="1"/>
          </p:cNvSpPr>
          <p:nvPr>
            <p:ph type="sldNum" sz="quarter" idx="11"/>
          </p:nvPr>
        </p:nvSpPr>
        <p:spPr/>
        <p:txBody>
          <a:bodyPr/>
          <a:lstStyle>
            <a:lvl1pPr>
              <a:defRPr/>
            </a:lvl1pPr>
          </a:lstStyle>
          <a:p>
            <a:pPr>
              <a:defRPr/>
            </a:pPr>
            <a:fld id="{5E349472-3F9B-4117-B0DA-7708E932AFAD}" type="slidenum">
              <a:rPr lang="en-US"/>
              <a:pPr>
                <a:defRPr/>
              </a:pPr>
              <a:t>‹N›</a:t>
            </a:fld>
            <a:endParaRPr lang="en-US"/>
          </a:p>
        </p:txBody>
      </p:sp>
    </p:spTree>
    <p:extLst>
      <p:ext uri="{BB962C8B-B14F-4D97-AF65-F5344CB8AC3E}">
        <p14:creationId xmlns:p14="http://schemas.microsoft.com/office/powerpoint/2010/main" val="3214503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835253"/>
            <a:ext cx="7772400" cy="1362075"/>
          </a:xfrm>
        </p:spPr>
        <p:txBody>
          <a:bodyPr anchorCtr="1"/>
          <a:lstStyle>
            <a:lvl1pPr algn="ctr">
              <a:defRPr sz="3600" b="0" cap="all"/>
            </a:lvl1pPr>
          </a:lstStyle>
          <a:p>
            <a:r>
              <a:rPr lang="en-US" dirty="0"/>
              <a:t>Click to edit Master title style</a:t>
            </a:r>
            <a:endParaRPr lang="it-IT" dirty="0"/>
          </a:p>
        </p:txBody>
      </p:sp>
      <p:sp>
        <p:nvSpPr>
          <p:cNvPr id="3" name="Text Placeholder 2"/>
          <p:cNvSpPr>
            <a:spLocks noGrp="1"/>
          </p:cNvSpPr>
          <p:nvPr>
            <p:ph type="body" idx="1"/>
          </p:nvPr>
        </p:nvSpPr>
        <p:spPr>
          <a:xfrm>
            <a:off x="722313" y="1357298"/>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Rectangle 6"/>
          <p:cNvSpPr>
            <a:spLocks noGrp="1" noChangeArrowheads="1"/>
          </p:cNvSpPr>
          <p:nvPr>
            <p:ph type="sldNum" sz="quarter" idx="10"/>
          </p:nvPr>
        </p:nvSpPr>
        <p:spPr/>
        <p:txBody>
          <a:bodyPr/>
          <a:lstStyle>
            <a:lvl1pPr>
              <a:defRPr/>
            </a:lvl1pPr>
          </a:lstStyle>
          <a:p>
            <a:pPr>
              <a:defRPr/>
            </a:pPr>
            <a:fld id="{3FB9EC56-B7BD-49DA-9529-E90BF77B935F}" type="slidenum">
              <a:rPr lang="en-US"/>
              <a:pPr>
                <a:defRPr/>
              </a:pPr>
              <a:t>‹N›</a:t>
            </a:fld>
            <a:endParaRPr lang="en-US"/>
          </a:p>
        </p:txBody>
      </p:sp>
    </p:spTree>
    <p:extLst>
      <p:ext uri="{BB962C8B-B14F-4D97-AF65-F5344CB8AC3E}">
        <p14:creationId xmlns:p14="http://schemas.microsoft.com/office/powerpoint/2010/main" val="3933539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Content Placeholder 2"/>
          <p:cNvSpPr>
            <a:spLocks noGrp="1"/>
          </p:cNvSpPr>
          <p:nvPr>
            <p:ph sz="half" idx="1"/>
          </p:nvPr>
        </p:nvSpPr>
        <p:spPr>
          <a:xfrm>
            <a:off x="395288" y="1125538"/>
            <a:ext cx="3954462" cy="5256212"/>
          </a:xfrm>
        </p:spPr>
        <p:txBody>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it-IT" dirty="0"/>
          </a:p>
        </p:txBody>
      </p:sp>
      <p:sp>
        <p:nvSpPr>
          <p:cNvPr id="4" name="Content Placeholder 3"/>
          <p:cNvSpPr>
            <a:spLocks noGrp="1"/>
          </p:cNvSpPr>
          <p:nvPr>
            <p:ph sz="half" idx="2"/>
          </p:nvPr>
        </p:nvSpPr>
        <p:spPr>
          <a:xfrm>
            <a:off x="4502150" y="1125538"/>
            <a:ext cx="3956050" cy="5256212"/>
          </a:xfrm>
        </p:spPr>
        <p:txBody>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it-IT" dirty="0"/>
          </a:p>
        </p:txBody>
      </p:sp>
      <p:sp>
        <p:nvSpPr>
          <p:cNvPr id="5" name="Rectangle 6"/>
          <p:cNvSpPr>
            <a:spLocks noGrp="1" noChangeArrowheads="1"/>
          </p:cNvSpPr>
          <p:nvPr>
            <p:ph type="sldNum" sz="quarter" idx="10"/>
          </p:nvPr>
        </p:nvSpPr>
        <p:spPr/>
        <p:txBody>
          <a:bodyPr/>
          <a:lstStyle>
            <a:lvl1pPr>
              <a:defRPr/>
            </a:lvl1pPr>
          </a:lstStyle>
          <a:p>
            <a:pPr>
              <a:defRPr/>
            </a:pPr>
            <a:fld id="{1F124521-F7E7-4300-B487-560F81275FE0}" type="slidenum">
              <a:rPr lang="en-US"/>
              <a:pPr>
                <a:defRPr/>
              </a:pPr>
              <a:t>‹N›</a:t>
            </a:fld>
            <a:endParaRPr lang="en-US"/>
          </a:p>
        </p:txBody>
      </p:sp>
    </p:spTree>
    <p:extLst>
      <p:ext uri="{BB962C8B-B14F-4D97-AF65-F5344CB8AC3E}">
        <p14:creationId xmlns:p14="http://schemas.microsoft.com/office/powerpoint/2010/main" val="1296715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Rectangle 6"/>
          <p:cNvSpPr>
            <a:spLocks noGrp="1" noChangeArrowheads="1"/>
          </p:cNvSpPr>
          <p:nvPr>
            <p:ph type="sldNum" sz="quarter" idx="10"/>
          </p:nvPr>
        </p:nvSpPr>
        <p:spPr/>
        <p:txBody>
          <a:bodyPr/>
          <a:lstStyle>
            <a:lvl1pPr>
              <a:defRPr/>
            </a:lvl1pPr>
          </a:lstStyle>
          <a:p>
            <a:pPr>
              <a:defRPr/>
            </a:pPr>
            <a:fld id="{5D29F80A-EDCA-497D-ACE3-547E4AB1AE1C}" type="slidenum">
              <a:rPr lang="en-US"/>
              <a:pPr>
                <a:defRPr/>
              </a:pPr>
              <a:t>‹N›</a:t>
            </a:fld>
            <a:endParaRPr lang="en-US"/>
          </a:p>
        </p:txBody>
      </p:sp>
    </p:spTree>
    <p:extLst>
      <p:ext uri="{BB962C8B-B14F-4D97-AF65-F5344CB8AC3E}">
        <p14:creationId xmlns:p14="http://schemas.microsoft.com/office/powerpoint/2010/main" val="1649313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ftr" sz="quarter" idx="10"/>
          </p:nvPr>
        </p:nvSpPr>
        <p:spPr>
          <a:ln/>
        </p:spPr>
        <p:txBody>
          <a:bodyPr/>
          <a:lstStyle>
            <a:lvl1pPr>
              <a:defRPr/>
            </a:lvl1pPr>
          </a:lstStyle>
          <a:p>
            <a:pPr>
              <a:defRPr/>
            </a:pPr>
            <a:r>
              <a:rPr lang="en-US"/>
              <a:t>Prof. Carlo </a:t>
            </a:r>
            <a:r>
              <a:rPr lang="en-US" err="1"/>
              <a:t>Cosentino</a:t>
            </a:r>
            <a:r>
              <a:rPr lang="en-US"/>
              <a:t>	</a:t>
            </a:r>
            <a:r>
              <a:rPr lang="en-US" err="1"/>
              <a:t>Fondamenti</a:t>
            </a:r>
            <a:r>
              <a:rPr lang="en-US"/>
              <a:t> </a:t>
            </a:r>
            <a:r>
              <a:rPr lang="en-US" err="1"/>
              <a:t>di</a:t>
            </a:r>
            <a:r>
              <a:rPr lang="en-US"/>
              <a:t> </a:t>
            </a:r>
            <a:r>
              <a:rPr lang="en-US" err="1"/>
              <a:t>Automatica</a:t>
            </a:r>
            <a:r>
              <a:rPr lang="en-US"/>
              <a:t>, A.A. 2009/10</a:t>
            </a:r>
          </a:p>
        </p:txBody>
      </p:sp>
      <p:sp>
        <p:nvSpPr>
          <p:cNvPr id="3" name="Rectangle 6"/>
          <p:cNvSpPr>
            <a:spLocks noGrp="1" noChangeArrowheads="1"/>
          </p:cNvSpPr>
          <p:nvPr>
            <p:ph type="sldNum" sz="quarter" idx="11"/>
          </p:nvPr>
        </p:nvSpPr>
        <p:spPr>
          <a:ln/>
        </p:spPr>
        <p:txBody>
          <a:bodyPr/>
          <a:lstStyle>
            <a:lvl1pPr>
              <a:defRPr/>
            </a:lvl1pPr>
          </a:lstStyle>
          <a:p>
            <a:pPr>
              <a:defRPr/>
            </a:pPr>
            <a:fld id="{58CB93A7-8395-4E0C-A927-44BEA3456973}" type="slidenum">
              <a:rPr lang="en-US"/>
              <a:pPr>
                <a:defRPr/>
              </a:pPr>
              <a:t>‹N›</a:t>
            </a:fld>
            <a:endParaRPr lang="en-US"/>
          </a:p>
        </p:txBody>
      </p:sp>
    </p:spTree>
    <p:extLst>
      <p:ext uri="{BB962C8B-B14F-4D97-AF65-F5344CB8AC3E}">
        <p14:creationId xmlns:p14="http://schemas.microsoft.com/office/powerpoint/2010/main" val="999552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en-US"/>
          </a:p>
        </p:txBody>
      </p:sp>
      <p:sp>
        <p:nvSpPr>
          <p:cNvPr id="3" name="Segnaposto piè di pagina 2"/>
          <p:cNvSpPr>
            <a:spLocks noGrp="1"/>
          </p:cNvSpPr>
          <p:nvPr>
            <p:ph type="ftr" sz="quarter" idx="10"/>
          </p:nvPr>
        </p:nvSpPr>
        <p:spPr/>
        <p:txBody>
          <a:bodyPr/>
          <a:lstStyle>
            <a:lvl1pPr>
              <a:defRPr/>
            </a:lvl1pPr>
          </a:lstStyle>
          <a:p>
            <a:pPr>
              <a:defRPr/>
            </a:pPr>
            <a:r>
              <a:rPr lang="en-US"/>
              <a:t>Prof. Carlo </a:t>
            </a:r>
            <a:r>
              <a:rPr lang="en-US" err="1"/>
              <a:t>Cosentino</a:t>
            </a:r>
            <a:r>
              <a:rPr lang="en-US"/>
              <a:t>	</a:t>
            </a:r>
            <a:r>
              <a:rPr lang="en-US" err="1"/>
              <a:t>Fondamenti</a:t>
            </a:r>
            <a:r>
              <a:rPr lang="en-US"/>
              <a:t> di </a:t>
            </a:r>
            <a:r>
              <a:rPr lang="en-US" err="1"/>
              <a:t>Automatica</a:t>
            </a:r>
            <a:r>
              <a:rPr lang="en-US"/>
              <a:t>, A.A. 2009/10</a:t>
            </a:r>
          </a:p>
        </p:txBody>
      </p:sp>
      <p:sp>
        <p:nvSpPr>
          <p:cNvPr id="4" name="Segnaposto numero diapositiva 3"/>
          <p:cNvSpPr>
            <a:spLocks noGrp="1"/>
          </p:cNvSpPr>
          <p:nvPr>
            <p:ph type="sldNum" sz="quarter" idx="11"/>
          </p:nvPr>
        </p:nvSpPr>
        <p:spPr/>
        <p:txBody>
          <a:bodyPr/>
          <a:lstStyle>
            <a:lvl1pPr>
              <a:defRPr/>
            </a:lvl1pPr>
          </a:lstStyle>
          <a:p>
            <a:pPr>
              <a:defRPr/>
            </a:pPr>
            <a:fld id="{4781EE81-C562-4971-8C77-8A535A8A0049}" type="slidenum">
              <a:rPr lang="en-US"/>
              <a:pPr>
                <a:defRPr/>
              </a:pPr>
              <a:t>‹N›</a:t>
            </a:fld>
            <a:endParaRPr lang="en-US"/>
          </a:p>
        </p:txBody>
      </p:sp>
    </p:spTree>
    <p:extLst>
      <p:ext uri="{BB962C8B-B14F-4D97-AF65-F5344CB8AC3E}">
        <p14:creationId xmlns:p14="http://schemas.microsoft.com/office/powerpoint/2010/main" val="3391325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915992"/>
            <a:ext cx="3008313" cy="1162050"/>
          </a:xfrm>
        </p:spPr>
        <p:txBody>
          <a:bodyPr anchor="b"/>
          <a:lstStyle>
            <a:lvl1pPr algn="l">
              <a:defRPr sz="2000" b="1"/>
            </a:lvl1pPr>
          </a:lstStyle>
          <a:p>
            <a:r>
              <a:rPr lang="en-US"/>
              <a:t>Click to edit Master title style</a:t>
            </a:r>
            <a:endParaRPr lang="it-IT"/>
          </a:p>
        </p:txBody>
      </p:sp>
      <p:sp>
        <p:nvSpPr>
          <p:cNvPr id="3" name="Content Placeholder 2"/>
          <p:cNvSpPr>
            <a:spLocks noGrp="1"/>
          </p:cNvSpPr>
          <p:nvPr>
            <p:ph idx="1"/>
          </p:nvPr>
        </p:nvSpPr>
        <p:spPr>
          <a:xfrm>
            <a:off x="3575050" y="93347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Text Placeholder 3"/>
          <p:cNvSpPr>
            <a:spLocks noGrp="1"/>
          </p:cNvSpPr>
          <p:nvPr>
            <p:ph type="body" sz="half" idx="2"/>
          </p:nvPr>
        </p:nvSpPr>
        <p:spPr>
          <a:xfrm>
            <a:off x="457200" y="209552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p:txBody>
          <a:bodyPr/>
          <a:lstStyle>
            <a:lvl1pPr>
              <a:defRPr/>
            </a:lvl1pPr>
          </a:lstStyle>
          <a:p>
            <a:pPr>
              <a:defRPr/>
            </a:pPr>
            <a:fld id="{491A3B1D-697B-4E08-B062-C44BAE6197E7}" type="slidenum">
              <a:rPr lang="en-US"/>
              <a:pPr>
                <a:defRPr/>
              </a:pPr>
              <a:t>‹N›</a:t>
            </a:fld>
            <a:endParaRPr lang="en-US"/>
          </a:p>
        </p:txBody>
      </p:sp>
    </p:spTree>
    <p:extLst>
      <p:ext uri="{BB962C8B-B14F-4D97-AF65-F5344CB8AC3E}">
        <p14:creationId xmlns:p14="http://schemas.microsoft.com/office/powerpoint/2010/main" val="2091031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it-IT"/>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p:txBody>
          <a:bodyPr/>
          <a:lstStyle>
            <a:lvl1pPr>
              <a:defRPr/>
            </a:lvl1pPr>
          </a:lstStyle>
          <a:p>
            <a:pPr>
              <a:defRPr/>
            </a:pPr>
            <a:fld id="{AF7499F6-254E-4BFC-AFD9-C8C2F16262D6}" type="slidenum">
              <a:rPr lang="en-US"/>
              <a:pPr>
                <a:defRPr/>
              </a:pPr>
              <a:t>‹N›</a:t>
            </a:fld>
            <a:endParaRPr lang="en-US"/>
          </a:p>
        </p:txBody>
      </p:sp>
    </p:spTree>
    <p:extLst>
      <p:ext uri="{BB962C8B-B14F-4D97-AF65-F5344CB8AC3E}">
        <p14:creationId xmlns:p14="http://schemas.microsoft.com/office/powerpoint/2010/main" val="2266026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9"/>
          <p:cNvSpPr>
            <a:spLocks noChangeArrowheads="1"/>
          </p:cNvSpPr>
          <p:nvPr/>
        </p:nvSpPr>
        <p:spPr bwMode="auto">
          <a:xfrm>
            <a:off x="21094" y="-27384"/>
            <a:ext cx="9122906" cy="836613"/>
          </a:xfrm>
          <a:prstGeom prst="rect">
            <a:avLst/>
          </a:prstGeom>
          <a:solidFill>
            <a:schemeClr val="accent2"/>
          </a:solidFill>
          <a:ln>
            <a:noFill/>
          </a:ln>
        </p:spPr>
        <p:txBody>
          <a:bodyPr wrap="none" anchor="ctr"/>
          <a:lstStyle>
            <a:lvl1pPr eaLnBrk="0" hangingPunct="0">
              <a:defRPr sz="2400" b="1">
                <a:solidFill>
                  <a:schemeClr val="tx1"/>
                </a:solidFill>
                <a:latin typeface="Times New Roman" pitchFamily="18" charset="0"/>
                <a:cs typeface="Arial" pitchFamily="34" charset="0"/>
              </a:defRPr>
            </a:lvl1pPr>
            <a:lvl2pPr marL="742950" indent="-285750" eaLnBrk="0" hangingPunct="0">
              <a:defRPr sz="2400" b="1">
                <a:solidFill>
                  <a:schemeClr val="tx1"/>
                </a:solidFill>
                <a:latin typeface="Times New Roman" pitchFamily="18" charset="0"/>
                <a:cs typeface="Arial" pitchFamily="34" charset="0"/>
              </a:defRPr>
            </a:lvl2pPr>
            <a:lvl3pPr marL="1143000" indent="-228600" eaLnBrk="0" hangingPunct="0">
              <a:defRPr sz="2400" b="1">
                <a:solidFill>
                  <a:schemeClr val="tx1"/>
                </a:solidFill>
                <a:latin typeface="Times New Roman" pitchFamily="18" charset="0"/>
                <a:cs typeface="Arial" pitchFamily="34" charset="0"/>
              </a:defRPr>
            </a:lvl3pPr>
            <a:lvl4pPr marL="1600200" indent="-228600" eaLnBrk="0" hangingPunct="0">
              <a:defRPr sz="2400" b="1">
                <a:solidFill>
                  <a:schemeClr val="tx1"/>
                </a:solidFill>
                <a:latin typeface="Times New Roman" pitchFamily="18" charset="0"/>
                <a:cs typeface="Arial" pitchFamily="34" charset="0"/>
              </a:defRPr>
            </a:lvl4pPr>
            <a:lvl5pPr marL="2057400" indent="-228600" eaLnBrk="0" hangingPunct="0">
              <a:defRPr sz="2400" b="1">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pitchFamily="34" charset="0"/>
              </a:defRPr>
            </a:lvl9pPr>
          </a:lstStyle>
          <a:p>
            <a:pPr eaLnBrk="1" hangingPunct="1">
              <a:defRPr/>
            </a:pPr>
            <a:endParaRPr lang="it-IT" altLang="en-US"/>
          </a:p>
        </p:txBody>
      </p:sp>
      <p:sp>
        <p:nvSpPr>
          <p:cNvPr id="1027" name="Rectangle 2"/>
          <p:cNvSpPr>
            <a:spLocks noGrp="1" noChangeArrowheads="1"/>
          </p:cNvSpPr>
          <p:nvPr>
            <p:ph type="title"/>
          </p:nvPr>
        </p:nvSpPr>
        <p:spPr bwMode="auto">
          <a:xfrm>
            <a:off x="1090047" y="66453"/>
            <a:ext cx="6948487" cy="626243"/>
          </a:xfrm>
          <a:prstGeom prst="rect">
            <a:avLst/>
          </a:prstGeom>
          <a:solidFill>
            <a:schemeClr val="accent2"/>
          </a:solidFill>
          <a:ln>
            <a:noFill/>
          </a:ln>
        </p:spPr>
        <p:txBody>
          <a:bodyPr vert="horz" wrap="square" lIns="91440" tIns="45720" rIns="91440" bIns="45720" numCol="1" anchor="ctr" anchorCtr="0" compatLnSpc="1">
            <a:prstTxWarp prst="textNoShape">
              <a:avLst/>
            </a:prstTxWarp>
          </a:bodyPr>
          <a:lstStyle/>
          <a:p>
            <a:pPr lvl="0"/>
            <a:r>
              <a:rPr lang="en-US" altLang="en-US" dirty="0"/>
              <a:t>Fare </a:t>
            </a:r>
            <a:r>
              <a:rPr lang="en-US" altLang="en-US" dirty="0" err="1"/>
              <a:t>clic</a:t>
            </a:r>
            <a:r>
              <a:rPr lang="en-US" altLang="en-US" dirty="0"/>
              <a:t> per </a:t>
            </a:r>
            <a:r>
              <a:rPr lang="en-US" altLang="en-US" dirty="0" err="1"/>
              <a:t>modificare</a:t>
            </a:r>
            <a:r>
              <a:rPr lang="en-US" altLang="en-US" dirty="0"/>
              <a:t> lo stile del </a:t>
            </a:r>
            <a:r>
              <a:rPr lang="en-US" altLang="en-US" dirty="0" err="1"/>
              <a:t>titolo</a:t>
            </a:r>
            <a:r>
              <a:rPr lang="en-US" altLang="en-US" dirty="0"/>
              <a:t> </a:t>
            </a:r>
            <a:r>
              <a:rPr lang="en-US" altLang="en-US" dirty="0" err="1"/>
              <a:t>dello</a:t>
            </a:r>
            <a:r>
              <a:rPr lang="en-US" altLang="en-US" dirty="0"/>
              <a:t> schema</a:t>
            </a:r>
          </a:p>
        </p:txBody>
      </p:sp>
      <p:sp>
        <p:nvSpPr>
          <p:cNvPr id="1028" name="Rectangle 3"/>
          <p:cNvSpPr>
            <a:spLocks noGrp="1" noChangeArrowheads="1"/>
          </p:cNvSpPr>
          <p:nvPr>
            <p:ph type="body" idx="1"/>
          </p:nvPr>
        </p:nvSpPr>
        <p:spPr bwMode="auto">
          <a:xfrm>
            <a:off x="395288" y="1125538"/>
            <a:ext cx="8062912"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Fare </a:t>
            </a:r>
            <a:r>
              <a:rPr lang="en-US" altLang="en-US" dirty="0" err="1"/>
              <a:t>clic</a:t>
            </a:r>
            <a:r>
              <a:rPr lang="en-US" altLang="en-US" dirty="0"/>
              <a:t> per </a:t>
            </a:r>
            <a:r>
              <a:rPr lang="en-US" altLang="en-US" dirty="0" err="1"/>
              <a:t>modificare</a:t>
            </a:r>
            <a:r>
              <a:rPr lang="en-US" altLang="en-US" dirty="0"/>
              <a:t> </a:t>
            </a:r>
            <a:r>
              <a:rPr lang="en-US" altLang="en-US" dirty="0" err="1"/>
              <a:t>gli</a:t>
            </a:r>
            <a:r>
              <a:rPr lang="en-US" altLang="en-US" dirty="0"/>
              <a:t> </a:t>
            </a:r>
            <a:r>
              <a:rPr lang="en-US" altLang="en-US" dirty="0" err="1"/>
              <a:t>stili</a:t>
            </a:r>
            <a:r>
              <a:rPr lang="en-US" altLang="en-US" dirty="0"/>
              <a:t> del </a:t>
            </a:r>
            <a:r>
              <a:rPr lang="en-US" altLang="en-US" dirty="0" err="1"/>
              <a:t>testo</a:t>
            </a:r>
            <a:r>
              <a:rPr lang="en-US" altLang="en-US" dirty="0"/>
              <a:t> </a:t>
            </a:r>
            <a:r>
              <a:rPr lang="en-US" altLang="en-US" dirty="0" err="1"/>
              <a:t>dello</a:t>
            </a:r>
            <a:r>
              <a:rPr lang="en-US" altLang="en-US" dirty="0"/>
              <a:t> schema</a:t>
            </a:r>
          </a:p>
          <a:p>
            <a:pPr lvl="1"/>
            <a:r>
              <a:rPr lang="en-US" altLang="en-US" dirty="0"/>
              <a:t>Secondo </a:t>
            </a:r>
            <a:r>
              <a:rPr lang="en-US" altLang="en-US" dirty="0" err="1"/>
              <a:t>livello</a:t>
            </a:r>
            <a:endParaRPr lang="en-US" altLang="en-US" dirty="0"/>
          </a:p>
          <a:p>
            <a:pPr lvl="2"/>
            <a:r>
              <a:rPr lang="en-US" altLang="en-US" dirty="0" err="1"/>
              <a:t>Terzo</a:t>
            </a:r>
            <a:r>
              <a:rPr lang="en-US" altLang="en-US" dirty="0"/>
              <a:t> </a:t>
            </a:r>
            <a:r>
              <a:rPr lang="en-US" altLang="en-US" dirty="0" err="1"/>
              <a:t>livello</a:t>
            </a:r>
            <a:endParaRPr lang="en-US" altLang="en-US" dirty="0"/>
          </a:p>
          <a:p>
            <a:pPr lvl="3"/>
            <a:r>
              <a:rPr lang="en-US" altLang="en-US" dirty="0"/>
              <a:t>Quarto </a:t>
            </a:r>
            <a:r>
              <a:rPr lang="en-US" altLang="en-US" dirty="0" err="1"/>
              <a:t>livello</a:t>
            </a:r>
            <a:endParaRPr lang="en-US" altLang="en-US" dirty="0"/>
          </a:p>
          <a:p>
            <a:pPr lvl="4"/>
            <a:r>
              <a:rPr lang="en-US" altLang="en-US" dirty="0" err="1"/>
              <a:t>Quinto</a:t>
            </a:r>
            <a:r>
              <a:rPr lang="en-US" altLang="en-US" dirty="0"/>
              <a:t> </a:t>
            </a:r>
            <a:r>
              <a:rPr lang="en-US" altLang="en-US" dirty="0" err="1"/>
              <a:t>livello</a:t>
            </a:r>
            <a:endParaRPr lang="en-US" altLang="en-US" dirty="0"/>
          </a:p>
        </p:txBody>
      </p:sp>
      <p:sp>
        <p:nvSpPr>
          <p:cNvPr id="1029" name="Rectangle 10"/>
          <p:cNvSpPr>
            <a:spLocks noChangeArrowheads="1"/>
          </p:cNvSpPr>
          <p:nvPr/>
        </p:nvSpPr>
        <p:spPr bwMode="auto">
          <a:xfrm>
            <a:off x="4214813" y="3001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Times New Roman" pitchFamily="18" charset="0"/>
                <a:cs typeface="Arial" pitchFamily="34" charset="0"/>
              </a:defRPr>
            </a:lvl1pPr>
            <a:lvl2pPr marL="742950" indent="-285750" eaLnBrk="0" hangingPunct="0">
              <a:defRPr sz="2400" b="1">
                <a:solidFill>
                  <a:schemeClr val="tx1"/>
                </a:solidFill>
                <a:latin typeface="Times New Roman" pitchFamily="18" charset="0"/>
                <a:cs typeface="Arial" pitchFamily="34" charset="0"/>
              </a:defRPr>
            </a:lvl2pPr>
            <a:lvl3pPr marL="1143000" indent="-228600" eaLnBrk="0" hangingPunct="0">
              <a:defRPr sz="2400" b="1">
                <a:solidFill>
                  <a:schemeClr val="tx1"/>
                </a:solidFill>
                <a:latin typeface="Times New Roman" pitchFamily="18" charset="0"/>
                <a:cs typeface="Arial" pitchFamily="34" charset="0"/>
              </a:defRPr>
            </a:lvl3pPr>
            <a:lvl4pPr marL="1600200" indent="-228600" eaLnBrk="0" hangingPunct="0">
              <a:defRPr sz="2400" b="1">
                <a:solidFill>
                  <a:schemeClr val="tx1"/>
                </a:solidFill>
                <a:latin typeface="Times New Roman" pitchFamily="18" charset="0"/>
                <a:cs typeface="Arial" pitchFamily="34" charset="0"/>
              </a:defRPr>
            </a:lvl4pPr>
            <a:lvl5pPr marL="2057400" indent="-228600" eaLnBrk="0" hangingPunct="0">
              <a:defRPr sz="2400" b="1">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b="1">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b="1">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b="1">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b="1">
                <a:solidFill>
                  <a:schemeClr val="tx1"/>
                </a:solidFill>
                <a:latin typeface="Times New Roman" pitchFamily="18" charset="0"/>
                <a:cs typeface="Arial" pitchFamily="34" charset="0"/>
              </a:defRPr>
            </a:lvl9pPr>
          </a:lstStyle>
          <a:p>
            <a:pPr eaLnBrk="1" hangingPunct="1">
              <a:defRPr/>
            </a:pPr>
            <a:endParaRPr lang="it-IT" altLang="en-US"/>
          </a:p>
        </p:txBody>
      </p:sp>
      <p:sp>
        <p:nvSpPr>
          <p:cNvPr id="1035" name="Rectangle 11"/>
          <p:cNvSpPr>
            <a:spLocks noGrp="1" noChangeArrowheads="1"/>
          </p:cNvSpPr>
          <p:nvPr>
            <p:ph type="ftr" sz="quarter" idx="3"/>
          </p:nvPr>
        </p:nvSpPr>
        <p:spPr bwMode="auto">
          <a:xfrm>
            <a:off x="0" y="6643688"/>
            <a:ext cx="9144000" cy="214312"/>
          </a:xfrm>
          <a:prstGeom prst="rect">
            <a:avLst/>
          </a:prstGeom>
          <a:solidFill>
            <a:schemeClr val="accent2"/>
          </a:solidFill>
          <a:ln w="9525">
            <a:noFill/>
            <a:miter lim="800000"/>
            <a:headEnd/>
            <a:tailEnd/>
          </a:ln>
          <a:effectLst/>
        </p:spPr>
        <p:txBody>
          <a:bodyPr vert="horz" wrap="square" lIns="91440" tIns="45720" rIns="91440" bIns="45720" numCol="1" anchor="t" anchorCtr="0" compatLnSpc="1">
            <a:prstTxWarp prst="textNoShape">
              <a:avLst/>
            </a:prstTxWarp>
          </a:bodyPr>
          <a:lstStyle>
            <a:lvl1pPr>
              <a:tabLst>
                <a:tab pos="8882063" algn="r"/>
              </a:tabLst>
              <a:defRPr sz="1100" b="0">
                <a:solidFill>
                  <a:schemeClr val="hlink"/>
                </a:solidFill>
                <a:latin typeface="Palatino" pitchFamily="18" charset="0"/>
                <a:cs typeface="+mn-cs"/>
              </a:defRPr>
            </a:lvl1pPr>
          </a:lstStyle>
          <a:p>
            <a:pPr>
              <a:defRPr/>
            </a:pPr>
            <a:r>
              <a:rPr lang="en-US" dirty="0"/>
              <a:t>Prof. Roberto </a:t>
            </a:r>
            <a:r>
              <a:rPr lang="en-US" dirty="0" err="1"/>
              <a:t>Ambrsoino</a:t>
            </a:r>
            <a:r>
              <a:rPr lang="en-US" dirty="0"/>
              <a:t>	Automatic Control,  2014/15</a:t>
            </a:r>
          </a:p>
        </p:txBody>
      </p:sp>
      <p:sp>
        <p:nvSpPr>
          <p:cNvPr id="1030" name="Rectangle 6"/>
          <p:cNvSpPr>
            <a:spLocks noGrp="1" noChangeArrowheads="1"/>
          </p:cNvSpPr>
          <p:nvPr>
            <p:ph type="sldNum" sz="quarter" idx="4"/>
          </p:nvPr>
        </p:nvSpPr>
        <p:spPr bwMode="auto">
          <a:xfrm>
            <a:off x="4286250" y="6572250"/>
            <a:ext cx="457200" cy="2857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cs typeface="+mn-cs"/>
              </a:defRPr>
            </a:lvl1pPr>
          </a:lstStyle>
          <a:p>
            <a:pPr>
              <a:defRPr/>
            </a:pPr>
            <a:fld id="{AA37A7FD-7FED-4DDD-9071-BB818C239E6E}" type="slidenum">
              <a:rPr lang="en-US"/>
              <a:pPr>
                <a:defRPr/>
              </a:pPr>
              <a:t>‹N›</a:t>
            </a:fld>
            <a:endParaRPr lang="en-US"/>
          </a:p>
        </p:txBody>
      </p:sp>
      <p:pic>
        <p:nvPicPr>
          <p:cNvPr id="10" name="Immagine 9">
            <a:extLst>
              <a:ext uri="{FF2B5EF4-FFF2-40B4-BE49-F238E27FC236}">
                <a16:creationId xmlns:a16="http://schemas.microsoft.com/office/drawing/2014/main" id="{24D2A221-42D3-0047-BEDC-5AC63F9306F7}"/>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958" y="-27384"/>
            <a:ext cx="840347" cy="836613"/>
          </a:xfrm>
          <a:prstGeom prst="rect">
            <a:avLst/>
          </a:prstGeom>
        </p:spPr>
      </p:pic>
    </p:spTree>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2" r:id="rId6"/>
    <p:sldLayoutId id="2147483898" r:id="rId7"/>
    <p:sldLayoutId id="2147483899" r:id="rId8"/>
    <p:sldLayoutId id="2147483900" r:id="rId9"/>
  </p:sldLayoutIdLst>
  <p:hf hdr="0" dt="0"/>
  <p:txStyles>
    <p:titleStyle>
      <a:lvl1pPr algn="l" rtl="0" eaLnBrk="0" fontAlgn="base" hangingPunct="0">
        <a:spcBef>
          <a:spcPct val="0"/>
        </a:spcBef>
        <a:spcAft>
          <a:spcPct val="0"/>
        </a:spcAft>
        <a:defRPr sz="2400">
          <a:solidFill>
            <a:srgbClr val="BBBBD1"/>
          </a:solidFill>
          <a:latin typeface="+mj-lt"/>
          <a:ea typeface="+mj-ea"/>
          <a:cs typeface="+mj-cs"/>
        </a:defRPr>
      </a:lvl1pPr>
      <a:lvl2pPr algn="l" rtl="0" eaLnBrk="0" fontAlgn="base" hangingPunct="0">
        <a:spcBef>
          <a:spcPct val="0"/>
        </a:spcBef>
        <a:spcAft>
          <a:spcPct val="0"/>
        </a:spcAft>
        <a:defRPr sz="2400">
          <a:solidFill>
            <a:srgbClr val="BBBBD1"/>
          </a:solidFill>
          <a:latin typeface="Verdana" pitchFamily="34" charset="0"/>
        </a:defRPr>
      </a:lvl2pPr>
      <a:lvl3pPr algn="l" rtl="0" eaLnBrk="0" fontAlgn="base" hangingPunct="0">
        <a:spcBef>
          <a:spcPct val="0"/>
        </a:spcBef>
        <a:spcAft>
          <a:spcPct val="0"/>
        </a:spcAft>
        <a:defRPr sz="2400">
          <a:solidFill>
            <a:srgbClr val="BBBBD1"/>
          </a:solidFill>
          <a:latin typeface="Verdana" pitchFamily="34" charset="0"/>
        </a:defRPr>
      </a:lvl3pPr>
      <a:lvl4pPr algn="l" rtl="0" eaLnBrk="0" fontAlgn="base" hangingPunct="0">
        <a:spcBef>
          <a:spcPct val="0"/>
        </a:spcBef>
        <a:spcAft>
          <a:spcPct val="0"/>
        </a:spcAft>
        <a:defRPr sz="2400">
          <a:solidFill>
            <a:srgbClr val="BBBBD1"/>
          </a:solidFill>
          <a:latin typeface="Verdana" pitchFamily="34" charset="0"/>
        </a:defRPr>
      </a:lvl4pPr>
      <a:lvl5pPr algn="l" rtl="0" eaLnBrk="0" fontAlgn="base" hangingPunct="0">
        <a:spcBef>
          <a:spcPct val="0"/>
        </a:spcBef>
        <a:spcAft>
          <a:spcPct val="0"/>
        </a:spcAft>
        <a:defRPr sz="2400">
          <a:solidFill>
            <a:srgbClr val="BBBBD1"/>
          </a:solidFill>
          <a:latin typeface="Verdana" pitchFamily="34" charset="0"/>
        </a:defRPr>
      </a:lvl5pPr>
      <a:lvl6pPr marL="457200" algn="l" rtl="0" fontAlgn="base">
        <a:spcBef>
          <a:spcPct val="0"/>
        </a:spcBef>
        <a:spcAft>
          <a:spcPct val="0"/>
        </a:spcAft>
        <a:defRPr sz="2800">
          <a:solidFill>
            <a:srgbClr val="BBBBD1"/>
          </a:solidFill>
          <a:latin typeface="Verdana" pitchFamily="34" charset="0"/>
        </a:defRPr>
      </a:lvl6pPr>
      <a:lvl7pPr marL="914400" algn="l" rtl="0" fontAlgn="base">
        <a:spcBef>
          <a:spcPct val="0"/>
        </a:spcBef>
        <a:spcAft>
          <a:spcPct val="0"/>
        </a:spcAft>
        <a:defRPr sz="2800">
          <a:solidFill>
            <a:srgbClr val="BBBBD1"/>
          </a:solidFill>
          <a:latin typeface="Verdana" pitchFamily="34" charset="0"/>
        </a:defRPr>
      </a:lvl7pPr>
      <a:lvl8pPr marL="1371600" algn="l" rtl="0" fontAlgn="base">
        <a:spcBef>
          <a:spcPct val="0"/>
        </a:spcBef>
        <a:spcAft>
          <a:spcPct val="0"/>
        </a:spcAft>
        <a:defRPr sz="2800">
          <a:solidFill>
            <a:srgbClr val="BBBBD1"/>
          </a:solidFill>
          <a:latin typeface="Verdana" pitchFamily="34" charset="0"/>
        </a:defRPr>
      </a:lvl8pPr>
      <a:lvl9pPr marL="1828800" algn="l" rtl="0" fontAlgn="base">
        <a:spcBef>
          <a:spcPct val="0"/>
        </a:spcBef>
        <a:spcAft>
          <a:spcPct val="0"/>
        </a:spcAft>
        <a:defRPr sz="2800">
          <a:solidFill>
            <a:srgbClr val="BBBBD1"/>
          </a:solidFill>
          <a:latin typeface="Verdana" pitchFamily="34" charset="0"/>
        </a:defRPr>
      </a:lvl9pPr>
    </p:titleStyle>
    <p:bodyStyle>
      <a:lvl1pPr marL="342900" indent="-342900" algn="l" rtl="0" eaLnBrk="0" fontAlgn="base" hangingPunct="0">
        <a:spcBef>
          <a:spcPct val="50000"/>
        </a:spcBef>
        <a:spcAft>
          <a:spcPct val="30000"/>
        </a:spcAft>
        <a:buFont typeface="Wingdings 2" pitchFamily="18" charset="2"/>
        <a:buChar char="ñ"/>
        <a:defRPr sz="2000">
          <a:solidFill>
            <a:schemeClr val="tx1"/>
          </a:solidFill>
          <a:latin typeface="+mn-lt"/>
          <a:ea typeface="+mn-ea"/>
          <a:cs typeface="+mn-cs"/>
        </a:defRPr>
      </a:lvl1pPr>
      <a:lvl2pPr marL="742950" indent="-285750" algn="l" rtl="0" eaLnBrk="0" fontAlgn="base" hangingPunct="0">
        <a:spcBef>
          <a:spcPct val="20000"/>
        </a:spcBef>
        <a:spcAft>
          <a:spcPct val="30000"/>
        </a:spcAft>
        <a:buFont typeface="Wingdings 2" pitchFamily="18" charset="2"/>
        <a:buChar char="ò"/>
        <a:defRPr sz="2000">
          <a:solidFill>
            <a:schemeClr val="tx1"/>
          </a:solidFill>
          <a:latin typeface="+mn-lt"/>
        </a:defRPr>
      </a:lvl2pPr>
      <a:lvl3pPr marL="1143000" indent="-228600" algn="l" rtl="0" eaLnBrk="0" fontAlgn="base" hangingPunct="0">
        <a:spcBef>
          <a:spcPct val="20000"/>
        </a:spcBef>
        <a:spcAft>
          <a:spcPct val="30000"/>
        </a:spcAft>
        <a:buFont typeface="Wingdings 2" pitchFamily="18" charset="2"/>
        <a:buChar char="ó"/>
        <a:defRPr>
          <a:solidFill>
            <a:schemeClr val="tx1"/>
          </a:solidFill>
          <a:latin typeface="+mn-lt"/>
        </a:defRPr>
      </a:lvl3pPr>
      <a:lvl4pPr marL="1600200" indent="-228600" algn="l" rtl="0" eaLnBrk="0" fontAlgn="base" hangingPunct="0">
        <a:spcBef>
          <a:spcPct val="20000"/>
        </a:spcBef>
        <a:spcAft>
          <a:spcPct val="30000"/>
        </a:spcAft>
        <a:buFont typeface="Wingdings 2" pitchFamily="18" charset="2"/>
        <a:buChar char="ô"/>
        <a:defRPr sz="1600">
          <a:solidFill>
            <a:schemeClr val="tx1"/>
          </a:solidFill>
          <a:latin typeface="+mn-lt"/>
        </a:defRPr>
      </a:lvl4pPr>
      <a:lvl5pPr marL="2057400" indent="-228600" algn="l" rtl="0" eaLnBrk="0" fontAlgn="base" hangingPunct="0">
        <a:spcBef>
          <a:spcPct val="20000"/>
        </a:spcBef>
        <a:spcAft>
          <a:spcPct val="30000"/>
        </a:spcAft>
        <a:buFont typeface="Wingdings 2" pitchFamily="18" charset="2"/>
        <a:buChar char="õ"/>
        <a:defRPr sz="1400">
          <a:solidFill>
            <a:schemeClr val="tx1"/>
          </a:solidFill>
          <a:latin typeface="+mn-lt"/>
        </a:defRPr>
      </a:lvl5pPr>
      <a:lvl6pPr marL="2514600" indent="-228600" algn="l" rtl="0" fontAlgn="base">
        <a:spcBef>
          <a:spcPct val="20000"/>
        </a:spcBef>
        <a:spcAft>
          <a:spcPct val="30000"/>
        </a:spcAft>
        <a:buFont typeface="Wingdings 2" pitchFamily="18" charset="2"/>
        <a:buChar char="õ"/>
        <a:defRPr sz="1400">
          <a:solidFill>
            <a:schemeClr val="tx1"/>
          </a:solidFill>
          <a:latin typeface="+mn-lt"/>
        </a:defRPr>
      </a:lvl6pPr>
      <a:lvl7pPr marL="2971800" indent="-228600" algn="l" rtl="0" fontAlgn="base">
        <a:spcBef>
          <a:spcPct val="20000"/>
        </a:spcBef>
        <a:spcAft>
          <a:spcPct val="30000"/>
        </a:spcAft>
        <a:buFont typeface="Wingdings 2" pitchFamily="18" charset="2"/>
        <a:buChar char="õ"/>
        <a:defRPr sz="1400">
          <a:solidFill>
            <a:schemeClr val="tx1"/>
          </a:solidFill>
          <a:latin typeface="+mn-lt"/>
        </a:defRPr>
      </a:lvl7pPr>
      <a:lvl8pPr marL="3429000" indent="-228600" algn="l" rtl="0" fontAlgn="base">
        <a:spcBef>
          <a:spcPct val="20000"/>
        </a:spcBef>
        <a:spcAft>
          <a:spcPct val="30000"/>
        </a:spcAft>
        <a:buFont typeface="Wingdings 2" pitchFamily="18" charset="2"/>
        <a:buChar char="õ"/>
        <a:defRPr sz="1400">
          <a:solidFill>
            <a:schemeClr val="tx1"/>
          </a:solidFill>
          <a:latin typeface="+mn-lt"/>
        </a:defRPr>
      </a:lvl8pPr>
      <a:lvl9pPr marL="3886200" indent="-228600" algn="l" rtl="0" fontAlgn="base">
        <a:spcBef>
          <a:spcPct val="20000"/>
        </a:spcBef>
        <a:spcAft>
          <a:spcPct val="30000"/>
        </a:spcAft>
        <a:buFont typeface="Wingdings 2" pitchFamily="18" charset="2"/>
        <a:buChar char="õ"/>
        <a:defRPr sz="1400">
          <a:solidFill>
            <a:schemeClr val="tx1"/>
          </a:solidFill>
          <a:latin typeface="+mn-lt"/>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3"/>
          <p:cNvSpPr>
            <a:spLocks noGrp="1"/>
          </p:cNvSpPr>
          <p:nvPr>
            <p:ph type="ftr" sz="quarter" idx="4294967295"/>
          </p:nvPr>
        </p:nvSpPr>
        <p:spPr>
          <a:xfrm>
            <a:off x="0" y="6645402"/>
            <a:ext cx="9144000" cy="214312"/>
          </a:xfrm>
        </p:spPr>
        <p:txBody>
          <a:bodyPr/>
          <a:lstStyle/>
          <a:p>
            <a:pPr>
              <a:defRPr/>
            </a:pPr>
            <a:r>
              <a:rPr lang="en-US" dirty="0">
                <a:latin typeface="Palatino"/>
              </a:rPr>
              <a:t>Prof. Carlo Cosentino	Fondamenti di Automatica, A.A. 2013/14</a:t>
            </a:r>
          </a:p>
        </p:txBody>
      </p:sp>
      <p:sp>
        <p:nvSpPr>
          <p:cNvPr id="6" name="Rectangle 2"/>
          <p:cNvSpPr txBox="1">
            <a:spLocks noChangeArrowheads="1"/>
          </p:cNvSpPr>
          <p:nvPr/>
        </p:nvSpPr>
        <p:spPr>
          <a:xfrm>
            <a:off x="685800" y="1744663"/>
            <a:ext cx="7772400" cy="1470025"/>
          </a:xfrm>
          <a:prstGeom prst="rect">
            <a:avLst/>
          </a:prstGeom>
          <a:noFill/>
          <a:effectLst>
            <a:outerShdw blurRad="50800" dist="38100" dir="18900000" algn="bl" rotWithShape="0">
              <a:prstClr val="black">
                <a:alpha val="40000"/>
              </a:prstClr>
            </a:outerShdw>
          </a:effectLst>
        </p:spPr>
        <p:txBody>
          <a:bodyPr/>
          <a:lstStyle/>
          <a:p>
            <a:pPr algn="ctr">
              <a:defRPr/>
            </a:pPr>
            <a:r>
              <a:rPr lang="it-IT" sz="2000" b="0" kern="0" dirty="0">
                <a:solidFill>
                  <a:schemeClr val="accent2">
                    <a:lumMod val="50000"/>
                  </a:schemeClr>
                </a:solidFill>
                <a:latin typeface="+mj-lt"/>
                <a:ea typeface="+mj-ea"/>
                <a:cs typeface="+mj-cs"/>
              </a:rPr>
              <a:t>Course of “</a:t>
            </a:r>
            <a:r>
              <a:rPr lang="it-IT" sz="2000" b="0" kern="0" dirty="0" err="1">
                <a:solidFill>
                  <a:schemeClr val="accent2">
                    <a:lumMod val="50000"/>
                  </a:schemeClr>
                </a:solidFill>
                <a:latin typeface="+mj-lt"/>
                <a:ea typeface="+mj-ea"/>
                <a:cs typeface="+mj-cs"/>
              </a:rPr>
              <a:t>Automatic</a:t>
            </a:r>
            <a:r>
              <a:rPr lang="it-IT" sz="2000" b="0" kern="0" dirty="0">
                <a:solidFill>
                  <a:schemeClr val="accent2">
                    <a:lumMod val="50000"/>
                  </a:schemeClr>
                </a:solidFill>
                <a:latin typeface="+mj-lt"/>
                <a:ea typeface="+mj-ea"/>
                <a:cs typeface="+mj-cs"/>
              </a:rPr>
              <a:t> Control”</a:t>
            </a:r>
            <a:br>
              <a:rPr lang="it-IT" sz="2000" b="0" kern="0" dirty="0">
                <a:solidFill>
                  <a:schemeClr val="accent2">
                    <a:lumMod val="50000"/>
                  </a:schemeClr>
                </a:solidFill>
                <a:latin typeface="+mj-lt"/>
                <a:ea typeface="+mj-ea"/>
                <a:cs typeface="+mj-cs"/>
              </a:rPr>
            </a:br>
            <a:r>
              <a:rPr lang="it-IT" sz="1800" b="0" kern="0" dirty="0">
                <a:solidFill>
                  <a:schemeClr val="accent2">
                    <a:lumMod val="50000"/>
                  </a:schemeClr>
                </a:solidFill>
                <a:latin typeface="+mj-lt"/>
                <a:ea typeface="+mj-ea"/>
                <a:cs typeface="+mj-cs"/>
              </a:rPr>
              <a:t>2019/20</a:t>
            </a:r>
          </a:p>
          <a:p>
            <a:pPr algn="ctr">
              <a:defRPr/>
            </a:pPr>
            <a:endParaRPr lang="it-IT" sz="1800" b="0" kern="0" dirty="0">
              <a:solidFill>
                <a:schemeClr val="accent2">
                  <a:lumMod val="50000"/>
                </a:schemeClr>
              </a:solidFill>
              <a:latin typeface="+mj-lt"/>
              <a:ea typeface="+mj-ea"/>
              <a:cs typeface="+mj-cs"/>
            </a:endParaRPr>
          </a:p>
          <a:p>
            <a:pPr algn="ctr">
              <a:defRPr/>
            </a:pPr>
            <a:r>
              <a:rPr lang="it-IT" sz="3200" b="0" kern="0" dirty="0">
                <a:solidFill>
                  <a:schemeClr val="accent2">
                    <a:lumMod val="50000"/>
                  </a:schemeClr>
                </a:solidFill>
                <a:latin typeface="+mj-lt"/>
                <a:ea typeface="+mj-ea"/>
                <a:cs typeface="+mj-cs"/>
              </a:rPr>
              <a:t>Assegnamento degli </a:t>
            </a:r>
            <a:r>
              <a:rPr lang="it-IT" sz="3200" b="0" kern="0">
                <a:solidFill>
                  <a:schemeClr val="accent2">
                    <a:lumMod val="50000"/>
                  </a:schemeClr>
                </a:solidFill>
                <a:latin typeface="+mj-lt"/>
                <a:ea typeface="+mj-ea"/>
                <a:cs typeface="+mj-cs"/>
              </a:rPr>
              <a:t>autovalori </a:t>
            </a:r>
            <a:r>
              <a:rPr lang="it-IT" sz="3200" b="0" kern="0" dirty="0">
                <a:solidFill>
                  <a:schemeClr val="accent2">
                    <a:lumMod val="50000"/>
                  </a:schemeClr>
                </a:solidFill>
                <a:latin typeface="+mj-lt"/>
                <a:ea typeface="+mj-ea"/>
                <a:cs typeface="+mj-cs"/>
              </a:rPr>
              <a:t>con retroazione di uscita</a:t>
            </a:r>
            <a:endParaRPr lang="en-US" sz="4400" b="0" kern="0" dirty="0">
              <a:solidFill>
                <a:schemeClr val="accent2">
                  <a:lumMod val="50000"/>
                </a:schemeClr>
              </a:solidFill>
              <a:latin typeface="+mj-lt"/>
              <a:ea typeface="+mj-ea"/>
              <a:cs typeface="+mj-cs"/>
            </a:endParaRPr>
          </a:p>
        </p:txBody>
      </p:sp>
      <p:sp>
        <p:nvSpPr>
          <p:cNvPr id="7" name="Rectangle 3"/>
          <p:cNvSpPr txBox="1">
            <a:spLocks noChangeArrowheads="1"/>
          </p:cNvSpPr>
          <p:nvPr/>
        </p:nvSpPr>
        <p:spPr>
          <a:xfrm>
            <a:off x="1371600" y="3886200"/>
            <a:ext cx="6400800" cy="1752600"/>
          </a:xfrm>
          <a:prstGeom prst="rect">
            <a:avLst/>
          </a:prstGeom>
        </p:spPr>
        <p:txBody>
          <a:bodyPr/>
          <a:lstStyle/>
          <a:p>
            <a:pPr marL="342900" lvl="0" indent="-342900" algn="ctr">
              <a:lnSpc>
                <a:spcPct val="150000"/>
              </a:lnSpc>
              <a:defRPr/>
            </a:pPr>
            <a:r>
              <a:rPr lang="en-US" sz="1800" i="1" kern="0" dirty="0">
                <a:solidFill>
                  <a:srgbClr val="000000"/>
                </a:solidFill>
                <a:latin typeface="Garamond"/>
              </a:rPr>
              <a:t>Prof. Roberto </a:t>
            </a:r>
            <a:r>
              <a:rPr lang="en-US" sz="1800" i="1" kern="0" dirty="0" err="1">
                <a:solidFill>
                  <a:srgbClr val="000000"/>
                </a:solidFill>
                <a:latin typeface="Garamond"/>
              </a:rPr>
              <a:t>Ambrosino</a:t>
            </a:r>
            <a:endParaRPr lang="en-US" sz="1800" i="1" kern="0" dirty="0">
              <a:solidFill>
                <a:srgbClr val="000000"/>
              </a:solidFill>
              <a:latin typeface="Garamond"/>
            </a:endParaRPr>
          </a:p>
          <a:p>
            <a:pPr marL="342900" lvl="0" indent="-342900" algn="ctr">
              <a:lnSpc>
                <a:spcPct val="80000"/>
              </a:lnSpc>
              <a:defRPr/>
            </a:pPr>
            <a:r>
              <a:rPr lang="en-US" sz="1600" b="0" kern="0" dirty="0">
                <a:solidFill>
                  <a:srgbClr val="000000"/>
                </a:solidFill>
                <a:latin typeface="Garamond"/>
              </a:rPr>
              <a:t>DIETI</a:t>
            </a:r>
          </a:p>
          <a:p>
            <a:pPr marL="342900" lvl="0" indent="-342900" algn="ctr">
              <a:lnSpc>
                <a:spcPct val="80000"/>
              </a:lnSpc>
              <a:defRPr/>
            </a:pPr>
            <a:r>
              <a:rPr lang="en-US" sz="1600" b="0" kern="0" dirty="0" err="1">
                <a:solidFill>
                  <a:srgbClr val="000000"/>
                </a:solidFill>
                <a:latin typeface="Garamond"/>
              </a:rPr>
              <a:t>Università</a:t>
            </a:r>
            <a:r>
              <a:rPr lang="en-US" sz="1600" b="0" kern="0" dirty="0">
                <a:solidFill>
                  <a:srgbClr val="000000"/>
                </a:solidFill>
                <a:latin typeface="Garamond"/>
              </a:rPr>
              <a:t> </a:t>
            </a:r>
            <a:r>
              <a:rPr lang="en-US" sz="1600" b="0" kern="0" dirty="0" err="1">
                <a:solidFill>
                  <a:srgbClr val="000000"/>
                </a:solidFill>
                <a:latin typeface="Garamond"/>
              </a:rPr>
              <a:t>degli</a:t>
            </a:r>
            <a:r>
              <a:rPr lang="en-US" sz="1600" b="0" kern="0" dirty="0">
                <a:solidFill>
                  <a:srgbClr val="000000"/>
                </a:solidFill>
                <a:latin typeface="Garamond"/>
              </a:rPr>
              <a:t> </a:t>
            </a:r>
            <a:r>
              <a:rPr lang="en-US" sz="1600" b="0" kern="0" dirty="0" err="1">
                <a:solidFill>
                  <a:srgbClr val="000000"/>
                </a:solidFill>
                <a:latin typeface="Garamond"/>
              </a:rPr>
              <a:t>studi</a:t>
            </a:r>
            <a:r>
              <a:rPr lang="en-US" sz="1600" b="0" kern="0" dirty="0">
                <a:solidFill>
                  <a:srgbClr val="000000"/>
                </a:solidFill>
                <a:latin typeface="Garamond"/>
              </a:rPr>
              <a:t> di Napoli Federico II</a:t>
            </a:r>
          </a:p>
          <a:p>
            <a:pPr marL="342900" lvl="0" indent="-342900" algn="ctr">
              <a:lnSpc>
                <a:spcPct val="80000"/>
              </a:lnSpc>
              <a:defRPr/>
            </a:pPr>
            <a:r>
              <a:rPr lang="en-US" sz="1600" b="0" kern="0" dirty="0">
                <a:solidFill>
                  <a:srgbClr val="000000"/>
                </a:solidFill>
                <a:latin typeface="Garamond"/>
              </a:rPr>
              <a:t>Tel 081-5476782</a:t>
            </a:r>
          </a:p>
          <a:p>
            <a:pPr marL="342900" lvl="0" indent="-342900" algn="ctr">
              <a:lnSpc>
                <a:spcPct val="80000"/>
              </a:lnSpc>
              <a:defRPr/>
            </a:pPr>
            <a:r>
              <a:rPr lang="en-US" sz="1600" b="0" kern="0" dirty="0" err="1">
                <a:solidFill>
                  <a:srgbClr val="3333CC"/>
                </a:solidFill>
                <a:latin typeface="Garamond"/>
              </a:rPr>
              <a:t>roberto.ambrosino@unina.it</a:t>
            </a:r>
            <a:r>
              <a:rPr lang="en-US" sz="1600" b="0" kern="0" dirty="0">
                <a:solidFill>
                  <a:srgbClr val="3333CC"/>
                </a:solidFill>
                <a:latin typeface="Garamond"/>
              </a:rPr>
              <a:t> </a:t>
            </a:r>
          </a:p>
        </p:txBody>
      </p:sp>
      <p:sp>
        <p:nvSpPr>
          <p:cNvPr id="8"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Tree>
    <p:extLst>
      <p:ext uri="{BB962C8B-B14F-4D97-AF65-F5344CB8AC3E}">
        <p14:creationId xmlns:p14="http://schemas.microsoft.com/office/powerpoint/2010/main" val="1054025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Introduzione agli osservatori</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pPr algn="just"/>
                <a:r>
                  <a:rPr lang="it-IT" dirty="0"/>
                  <a:t>La teoria dell’assegnamento degli </a:t>
                </a:r>
                <a:r>
                  <a:rPr lang="it-IT" dirty="0" err="1"/>
                  <a:t>autovalori</a:t>
                </a:r>
                <a:r>
                  <a:rPr lang="it-IT" dirty="0"/>
                  <a:t> fin qui introdotta si basa sulla conoscenza e disponibilità delle variabili di stato, necessarie per effettuare una retroazione del tipo </a:t>
                </a:r>
                <a14:m>
                  <m:oMath xmlns:m="http://schemas.openxmlformats.org/officeDocument/2006/math">
                    <m:r>
                      <a:rPr lang="it-IT" i="1">
                        <a:latin typeface="Cambria Math" panose="02040503050406030204" pitchFamily="18" charset="0"/>
                      </a:rPr>
                      <m:t>𝑢</m:t>
                    </m:r>
                    <m:d>
                      <m:dPr>
                        <m:ctrlPr>
                          <a:rPr lang="it-IT" i="1">
                            <a:latin typeface="Cambria Math" panose="02040503050406030204" pitchFamily="18" charset="0"/>
                          </a:rPr>
                        </m:ctrlPr>
                      </m:dPr>
                      <m:e>
                        <m:r>
                          <a:rPr lang="it-IT" i="1">
                            <a:latin typeface="Cambria Math" panose="02040503050406030204" pitchFamily="18" charset="0"/>
                          </a:rPr>
                          <m:t>𝑡</m:t>
                        </m:r>
                      </m:e>
                    </m:d>
                    <m:r>
                      <a:rPr lang="it-IT" i="1">
                        <a:latin typeface="Cambria Math" panose="02040503050406030204" pitchFamily="18" charset="0"/>
                      </a:rPr>
                      <m:t>=</m:t>
                    </m:r>
                    <m:r>
                      <a:rPr lang="it-IT" i="1">
                        <a:latin typeface="Cambria Math" panose="02040503050406030204" pitchFamily="18" charset="0"/>
                      </a:rPr>
                      <m:t>𝐾𝑥</m:t>
                    </m:r>
                    <m:d>
                      <m:dPr>
                        <m:ctrlPr>
                          <a:rPr lang="it-IT" i="1">
                            <a:latin typeface="Cambria Math" panose="02040503050406030204" pitchFamily="18" charset="0"/>
                          </a:rPr>
                        </m:ctrlPr>
                      </m:dPr>
                      <m:e>
                        <m:r>
                          <a:rPr lang="it-IT" i="1">
                            <a:latin typeface="Cambria Math" panose="02040503050406030204" pitchFamily="18" charset="0"/>
                          </a:rPr>
                          <m:t>𝑡</m:t>
                        </m:r>
                      </m:e>
                    </m:d>
                  </m:oMath>
                </a14:m>
                <a:endParaRPr lang="it-IT" dirty="0"/>
              </a:p>
              <a:p>
                <a:pPr algn="just"/>
                <a:endParaRPr lang="it-IT" dirty="0"/>
              </a:p>
              <a:p>
                <a:pPr algn="just"/>
                <a:endParaRPr lang="it-IT" dirty="0"/>
              </a:p>
              <a:p>
                <a:pPr algn="just"/>
                <a:endParaRPr lang="it-IT" dirty="0"/>
              </a:p>
              <a:p>
                <a:pPr algn="just"/>
                <a:endParaRPr lang="it-IT" dirty="0"/>
              </a:p>
              <a:p>
                <a:pPr algn="just"/>
                <a:r>
                  <a:rPr lang="it-IT" dirty="0"/>
                  <a:t>Non sempre le variabili di stato di un sistema sono tutte disponibili ma in alcuni casi, solo un insieme limitato di uscite (combinazioni lineari di variabili di stato) possono essere misurate ed utilizzare per effettuare la retroazione</a:t>
                </a:r>
              </a:p>
              <a:p>
                <a:pPr algn="just"/>
                <a:r>
                  <a:rPr lang="it-IT" dirty="0"/>
                  <a:t>In questi casi, è necessario chiedersi se, partendo dalla conoscenza delle uscite sia possibile ricostruire lo stato di un sistema e quindi effettuare l’assegnamento degli </a:t>
                </a:r>
                <a:r>
                  <a:rPr lang="it-IT" dirty="0" err="1"/>
                  <a:t>autovalori</a:t>
                </a:r>
                <a:r>
                  <a:rPr lang="it-IT" dirty="0"/>
                  <a:t>. </a:t>
                </a:r>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3" t="-452" r="-577" b="-679"/>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2</a:t>
            </a:fld>
            <a:endParaRPr lang="en-US"/>
          </a:p>
        </p:txBody>
      </p:sp>
      <p:grpSp>
        <p:nvGrpSpPr>
          <p:cNvPr id="28" name="Gruppo 27">
            <a:extLst>
              <a:ext uri="{FF2B5EF4-FFF2-40B4-BE49-F238E27FC236}">
                <a16:creationId xmlns:a16="http://schemas.microsoft.com/office/drawing/2014/main" id="{7D622A5A-18AB-5645-AC28-DDED951D4B26}"/>
              </a:ext>
            </a:extLst>
          </p:cNvPr>
          <p:cNvGrpSpPr/>
          <p:nvPr/>
        </p:nvGrpSpPr>
        <p:grpSpPr>
          <a:xfrm>
            <a:off x="2555776" y="2120702"/>
            <a:ext cx="5832650" cy="1656184"/>
            <a:chOff x="2267742" y="4895216"/>
            <a:chExt cx="5832650" cy="1656184"/>
          </a:xfrm>
        </p:grpSpPr>
        <p:sp>
          <p:nvSpPr>
            <p:cNvPr id="31" name="Rettangolo 30">
              <a:extLst>
                <a:ext uri="{FF2B5EF4-FFF2-40B4-BE49-F238E27FC236}">
                  <a16:creationId xmlns:a16="http://schemas.microsoft.com/office/drawing/2014/main" id="{FC2C310A-8CEF-4D42-AA92-FD61BD29AA47}"/>
                </a:ext>
              </a:extLst>
            </p:cNvPr>
            <p:cNvSpPr/>
            <p:nvPr/>
          </p:nvSpPr>
          <p:spPr bwMode="auto">
            <a:xfrm>
              <a:off x="5076058" y="5214870"/>
              <a:ext cx="1512168" cy="50405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Times New Roman" pitchFamily="18" charset="0"/>
                </a:rPr>
                <a:t>Sistema</a:t>
              </a:r>
            </a:p>
          </p:txBody>
        </p:sp>
        <p:cxnSp>
          <p:nvCxnSpPr>
            <p:cNvPr id="32" name="Connettore 2 31">
              <a:extLst>
                <a:ext uri="{FF2B5EF4-FFF2-40B4-BE49-F238E27FC236}">
                  <a16:creationId xmlns:a16="http://schemas.microsoft.com/office/drawing/2014/main" id="{8C2271E2-5A58-EC4E-9524-819CB295CC82}"/>
                </a:ext>
              </a:extLst>
            </p:cNvPr>
            <p:cNvCxnSpPr>
              <a:cxnSpLocks/>
            </p:cNvCxnSpPr>
            <p:nvPr/>
          </p:nvCxnSpPr>
          <p:spPr bwMode="auto">
            <a:xfrm>
              <a:off x="6588226" y="5466898"/>
              <a:ext cx="1512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Connettore 1 32">
              <a:extLst>
                <a:ext uri="{FF2B5EF4-FFF2-40B4-BE49-F238E27FC236}">
                  <a16:creationId xmlns:a16="http://schemas.microsoft.com/office/drawing/2014/main" id="{D4CB61FA-9054-D54A-A9D3-748D31147714}"/>
                </a:ext>
              </a:extLst>
            </p:cNvPr>
            <p:cNvCxnSpPr>
              <a:cxnSpLocks/>
            </p:cNvCxnSpPr>
            <p:nvPr/>
          </p:nvCxnSpPr>
          <p:spPr bwMode="auto">
            <a:xfrm>
              <a:off x="5832142" y="5713540"/>
              <a:ext cx="0" cy="61206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4" name="Connettore 1 33">
              <a:extLst>
                <a:ext uri="{FF2B5EF4-FFF2-40B4-BE49-F238E27FC236}">
                  <a16:creationId xmlns:a16="http://schemas.microsoft.com/office/drawing/2014/main" id="{AF08E007-0717-944B-B498-5AE801564AE0}"/>
                </a:ext>
              </a:extLst>
            </p:cNvPr>
            <p:cNvCxnSpPr>
              <a:cxnSpLocks/>
            </p:cNvCxnSpPr>
            <p:nvPr/>
          </p:nvCxnSpPr>
          <p:spPr bwMode="auto">
            <a:xfrm flipH="1">
              <a:off x="2267742" y="6310114"/>
              <a:ext cx="3564400" cy="39923"/>
            </a:xfrm>
            <a:prstGeom prst="line">
              <a:avLst/>
            </a:prstGeom>
            <a:solidFill>
              <a:schemeClr val="accent1"/>
            </a:solidFill>
            <a:ln w="9525"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35" name="Rettangolo 34">
                  <a:extLst>
                    <a:ext uri="{FF2B5EF4-FFF2-40B4-BE49-F238E27FC236}">
                      <a16:creationId xmlns:a16="http://schemas.microsoft.com/office/drawing/2014/main" id="{48C2C57B-8F6F-DD48-B35F-6A8CD530C327}"/>
                    </a:ext>
                  </a:extLst>
                </p:cNvPr>
                <p:cNvSpPr/>
                <p:nvPr/>
              </p:nvSpPr>
              <p:spPr>
                <a:xfrm>
                  <a:off x="7184753" y="4900415"/>
                  <a:ext cx="8231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i="1">
                            <a:latin typeface="Cambria Math"/>
                          </a:rPr>
                          <m:t>𝑦</m:t>
                        </m:r>
                        <m:d>
                          <m:dPr>
                            <m:ctrlPr>
                              <a:rPr lang="it-IT" i="1">
                                <a:latin typeface="Cambria Math" panose="02040503050406030204" pitchFamily="18" charset="0"/>
                              </a:rPr>
                            </m:ctrlPr>
                          </m:dPr>
                          <m:e>
                            <m:r>
                              <a:rPr lang="it-IT" i="1">
                                <a:latin typeface="Cambria Math"/>
                              </a:rPr>
                              <m:t>𝑡</m:t>
                            </m:r>
                          </m:e>
                        </m:d>
                      </m:oMath>
                    </m:oMathPara>
                  </a14:m>
                  <a:endParaRPr lang="it-IT" dirty="0"/>
                </a:p>
              </p:txBody>
            </p:sp>
          </mc:Choice>
          <mc:Fallback xmlns="">
            <p:sp>
              <p:nvSpPr>
                <p:cNvPr id="22" name="Rettangolo 21">
                  <a:extLst>
                    <a:ext uri="{FF2B5EF4-FFF2-40B4-BE49-F238E27FC236}">
                      <a16:creationId xmlns:a16="http://schemas.microsoft.com/office/drawing/2014/main" id="{6DCFFCFD-21DB-EF4C-8911-D6715B56B35D}"/>
                    </a:ext>
                  </a:extLst>
                </p:cNvPr>
                <p:cNvSpPr>
                  <a:spLocks noRot="1" noChangeAspect="1" noMove="1" noResize="1" noEditPoints="1" noAdjustHandles="1" noChangeArrowheads="1" noChangeShapeType="1" noTextEdit="1"/>
                </p:cNvSpPr>
                <p:nvPr/>
              </p:nvSpPr>
              <p:spPr>
                <a:xfrm>
                  <a:off x="7184753" y="4900415"/>
                  <a:ext cx="823174" cy="461665"/>
                </a:xfrm>
                <a:prstGeom prst="rect">
                  <a:avLst/>
                </a:prstGeom>
                <a:blipFill>
                  <a:blip r:embed="rId3"/>
                  <a:stretch>
                    <a:fillRect b="-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6" name="Rettangolo 35">
                  <a:extLst>
                    <a:ext uri="{FF2B5EF4-FFF2-40B4-BE49-F238E27FC236}">
                      <a16:creationId xmlns:a16="http://schemas.microsoft.com/office/drawing/2014/main" id="{53E966C2-D8C7-D14E-9E55-E68034F6977D}"/>
                    </a:ext>
                  </a:extLst>
                </p:cNvPr>
                <p:cNvSpPr/>
                <p:nvPr/>
              </p:nvSpPr>
              <p:spPr>
                <a:xfrm>
                  <a:off x="5832142" y="5743355"/>
                  <a:ext cx="723340" cy="461665"/>
                </a:xfrm>
                <a:prstGeom prst="rect">
                  <a:avLst/>
                </a:prstGeom>
              </p:spPr>
              <p:txBody>
                <a:bodyPr wrap="none">
                  <a:spAutoFit/>
                </a:bodyPr>
                <a:lstStyle/>
                <a:p>
                  <a:r>
                    <a:rPr lang="it-IT" b="0" i="1" dirty="0"/>
                    <a:t>x</a:t>
                  </a:r>
                  <a14:m>
                    <m:oMath xmlns:m="http://schemas.openxmlformats.org/officeDocument/2006/math">
                      <m:d>
                        <m:dPr>
                          <m:ctrlPr>
                            <a:rPr lang="it-IT" i="1">
                              <a:latin typeface="Cambria Math" panose="02040503050406030204" pitchFamily="18" charset="0"/>
                            </a:rPr>
                          </m:ctrlPr>
                        </m:dPr>
                        <m:e>
                          <m:r>
                            <a:rPr lang="it-IT" i="1">
                              <a:latin typeface="Cambria Math"/>
                            </a:rPr>
                            <m:t>𝑡</m:t>
                          </m:r>
                        </m:e>
                      </m:d>
                    </m:oMath>
                  </a14:m>
                  <a:endParaRPr lang="it-IT" i="1" dirty="0"/>
                </a:p>
              </p:txBody>
            </p:sp>
          </mc:Choice>
          <mc:Fallback xmlns="">
            <p:sp>
              <p:nvSpPr>
                <p:cNvPr id="23" name="Rettangolo 22">
                  <a:extLst>
                    <a:ext uri="{FF2B5EF4-FFF2-40B4-BE49-F238E27FC236}">
                      <a16:creationId xmlns:a16="http://schemas.microsoft.com/office/drawing/2014/main" id="{7FAC19A1-6E3D-0D42-9F4F-5AC8291CE8D0}"/>
                    </a:ext>
                  </a:extLst>
                </p:cNvPr>
                <p:cNvSpPr>
                  <a:spLocks noRot="1" noChangeAspect="1" noMove="1" noResize="1" noEditPoints="1" noAdjustHandles="1" noChangeArrowheads="1" noChangeShapeType="1" noTextEdit="1"/>
                </p:cNvSpPr>
                <p:nvPr/>
              </p:nvSpPr>
              <p:spPr>
                <a:xfrm>
                  <a:off x="5832142" y="5743355"/>
                  <a:ext cx="723340" cy="461665"/>
                </a:xfrm>
                <a:prstGeom prst="rect">
                  <a:avLst/>
                </a:prstGeom>
                <a:blipFill>
                  <a:blip r:embed="rId4"/>
                  <a:stretch>
                    <a:fillRect l="-12069" t="-7895" b="-2631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Rettangolo 36">
                  <a:extLst>
                    <a:ext uri="{FF2B5EF4-FFF2-40B4-BE49-F238E27FC236}">
                      <a16:creationId xmlns:a16="http://schemas.microsoft.com/office/drawing/2014/main" id="{04AF1FB4-CAE7-D24F-9820-E4626FC0C6C6}"/>
                    </a:ext>
                  </a:extLst>
                </p:cNvPr>
                <p:cNvSpPr/>
                <p:nvPr/>
              </p:nvSpPr>
              <p:spPr>
                <a:xfrm>
                  <a:off x="4226703" y="4895216"/>
                  <a:ext cx="723340" cy="461665"/>
                </a:xfrm>
                <a:prstGeom prst="rect">
                  <a:avLst/>
                </a:prstGeom>
              </p:spPr>
              <p:txBody>
                <a:bodyPr wrap="none">
                  <a:spAutoFit/>
                </a:bodyPr>
                <a:lstStyle/>
                <a:p>
                  <a:r>
                    <a:rPr lang="it-IT" b="0" i="1" dirty="0"/>
                    <a:t>u</a:t>
                  </a:r>
                  <a14:m>
                    <m:oMath xmlns:m="http://schemas.openxmlformats.org/officeDocument/2006/math">
                      <m:d>
                        <m:dPr>
                          <m:ctrlPr>
                            <a:rPr lang="it-IT" i="1">
                              <a:latin typeface="Cambria Math" panose="02040503050406030204" pitchFamily="18" charset="0"/>
                            </a:rPr>
                          </m:ctrlPr>
                        </m:dPr>
                        <m:e>
                          <m:r>
                            <a:rPr lang="it-IT" i="1">
                              <a:latin typeface="Cambria Math"/>
                            </a:rPr>
                            <m:t>𝑡</m:t>
                          </m:r>
                        </m:e>
                      </m:d>
                    </m:oMath>
                  </a14:m>
                  <a:endParaRPr lang="it-IT" i="1" dirty="0"/>
                </a:p>
              </p:txBody>
            </p:sp>
          </mc:Choice>
          <mc:Fallback xmlns="">
            <p:sp>
              <p:nvSpPr>
                <p:cNvPr id="24" name="Rettangolo 23">
                  <a:extLst>
                    <a:ext uri="{FF2B5EF4-FFF2-40B4-BE49-F238E27FC236}">
                      <a16:creationId xmlns:a16="http://schemas.microsoft.com/office/drawing/2014/main" id="{74F2ED2E-AF5A-EF48-BB0E-A58DCB044334}"/>
                    </a:ext>
                  </a:extLst>
                </p:cNvPr>
                <p:cNvSpPr>
                  <a:spLocks noRot="1" noChangeAspect="1" noMove="1" noResize="1" noEditPoints="1" noAdjustHandles="1" noChangeArrowheads="1" noChangeShapeType="1" noTextEdit="1"/>
                </p:cNvSpPr>
                <p:nvPr/>
              </p:nvSpPr>
              <p:spPr>
                <a:xfrm>
                  <a:off x="4226703" y="4895216"/>
                  <a:ext cx="723340" cy="461665"/>
                </a:xfrm>
                <a:prstGeom prst="rect">
                  <a:avLst/>
                </a:prstGeom>
                <a:blipFill>
                  <a:blip r:embed="rId5"/>
                  <a:stretch>
                    <a:fillRect l="-12069" t="-13889" b="-30556"/>
                  </a:stretch>
                </a:blipFill>
              </p:spPr>
              <p:txBody>
                <a:bodyPr/>
                <a:lstStyle/>
                <a:p>
                  <a:r>
                    <a:rPr lang="it-IT">
                      <a:noFill/>
                    </a:rPr>
                    <a:t> </a:t>
                  </a:r>
                </a:p>
              </p:txBody>
            </p:sp>
          </mc:Fallback>
        </mc:AlternateContent>
        <p:sp>
          <p:nvSpPr>
            <p:cNvPr id="38" name="Rettangolo 37">
              <a:extLst>
                <a:ext uri="{FF2B5EF4-FFF2-40B4-BE49-F238E27FC236}">
                  <a16:creationId xmlns:a16="http://schemas.microsoft.com/office/drawing/2014/main" id="{301BB3C0-DA2E-FD4D-9EAD-B98AF79066D8}"/>
                </a:ext>
              </a:extLst>
            </p:cNvPr>
            <p:cNvSpPr/>
            <p:nvPr/>
          </p:nvSpPr>
          <p:spPr bwMode="auto">
            <a:xfrm>
              <a:off x="3275854" y="6047344"/>
              <a:ext cx="1512168" cy="50405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Times New Roman" pitchFamily="18" charset="0"/>
                </a:rPr>
                <a:t>K</a:t>
              </a:r>
            </a:p>
          </p:txBody>
        </p:sp>
      </p:grpSp>
      <p:sp>
        <p:nvSpPr>
          <p:cNvPr id="39" name="Ovale 38">
            <a:extLst>
              <a:ext uri="{FF2B5EF4-FFF2-40B4-BE49-F238E27FC236}">
                <a16:creationId xmlns:a16="http://schemas.microsoft.com/office/drawing/2014/main" id="{8E2C11FC-8EA0-A443-9044-0BF0FE435F95}"/>
              </a:ext>
            </a:extLst>
          </p:cNvPr>
          <p:cNvSpPr/>
          <p:nvPr/>
        </p:nvSpPr>
        <p:spPr bwMode="auto">
          <a:xfrm>
            <a:off x="2375758" y="2492830"/>
            <a:ext cx="360040" cy="389657"/>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2400" b="1" i="0" u="none" strike="noStrike" cap="none" normalizeH="0" baseline="0">
              <a:ln>
                <a:noFill/>
              </a:ln>
              <a:solidFill>
                <a:schemeClr val="tx1"/>
              </a:solidFill>
              <a:effectLst/>
              <a:latin typeface="Times New Roman" pitchFamily="18" charset="0"/>
            </a:endParaRPr>
          </a:p>
        </p:txBody>
      </p:sp>
      <p:cxnSp>
        <p:nvCxnSpPr>
          <p:cNvPr id="40" name="Connettore 2 39">
            <a:extLst>
              <a:ext uri="{FF2B5EF4-FFF2-40B4-BE49-F238E27FC236}">
                <a16:creationId xmlns:a16="http://schemas.microsoft.com/office/drawing/2014/main" id="{B15EDE87-5C2D-994B-865B-AFB428A5D8C1}"/>
              </a:ext>
            </a:extLst>
          </p:cNvPr>
          <p:cNvCxnSpPr>
            <a:stCxn id="39" idx="6"/>
            <a:endCxn id="31" idx="1"/>
          </p:cNvCxnSpPr>
          <p:nvPr/>
        </p:nvCxnSpPr>
        <p:spPr bwMode="auto">
          <a:xfrm>
            <a:off x="2735798" y="2687659"/>
            <a:ext cx="2628294" cy="472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1" name="Connettore 2 40">
            <a:extLst>
              <a:ext uri="{FF2B5EF4-FFF2-40B4-BE49-F238E27FC236}">
                <a16:creationId xmlns:a16="http://schemas.microsoft.com/office/drawing/2014/main" id="{A22675E8-144C-8044-9964-40D078CF14C7}"/>
              </a:ext>
            </a:extLst>
          </p:cNvPr>
          <p:cNvCxnSpPr>
            <a:cxnSpLocks/>
          </p:cNvCxnSpPr>
          <p:nvPr/>
        </p:nvCxnSpPr>
        <p:spPr bwMode="auto">
          <a:xfrm>
            <a:off x="1151620" y="2709648"/>
            <a:ext cx="1224135" cy="472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42" name="Rettangolo 41">
                <a:extLst>
                  <a:ext uri="{FF2B5EF4-FFF2-40B4-BE49-F238E27FC236}">
                    <a16:creationId xmlns:a16="http://schemas.microsoft.com/office/drawing/2014/main" id="{FF394FD0-037C-6044-A21A-8529AB205E63}"/>
                  </a:ext>
                </a:extLst>
              </p:cNvPr>
              <p:cNvSpPr/>
              <p:nvPr/>
            </p:nvSpPr>
            <p:spPr>
              <a:xfrm>
                <a:off x="1151620" y="2209523"/>
                <a:ext cx="8231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b="0" i="1">
                          <a:latin typeface="Cambria Math" panose="02040503050406030204" pitchFamily="18" charset="0"/>
                        </a:rPr>
                        <m:t>𝑣</m:t>
                      </m:r>
                      <m:r>
                        <a:rPr lang="it-IT" b="0" i="1">
                          <a:latin typeface="Cambria Math" panose="02040503050406030204" pitchFamily="18" charset="0"/>
                        </a:rPr>
                        <m:t>(</m:t>
                      </m:r>
                      <m:r>
                        <a:rPr lang="it-IT" b="0" i="1">
                          <a:latin typeface="Cambria Math" panose="02040503050406030204" pitchFamily="18" charset="0"/>
                        </a:rPr>
                        <m:t>𝑡</m:t>
                      </m:r>
                      <m:r>
                        <a:rPr lang="it-IT" b="0" i="1">
                          <a:latin typeface="Cambria Math" panose="02040503050406030204" pitchFamily="18" charset="0"/>
                        </a:rPr>
                        <m:t>)</m:t>
                      </m:r>
                    </m:oMath>
                  </m:oMathPara>
                </a14:m>
                <a:endParaRPr lang="it-IT" dirty="0"/>
              </a:p>
            </p:txBody>
          </p:sp>
        </mc:Choice>
        <mc:Fallback xmlns="">
          <p:sp>
            <p:nvSpPr>
              <p:cNvPr id="42" name="Rettangolo 41">
                <a:extLst>
                  <a:ext uri="{FF2B5EF4-FFF2-40B4-BE49-F238E27FC236}">
                    <a16:creationId xmlns:a16="http://schemas.microsoft.com/office/drawing/2014/main" id="{FF394FD0-037C-6044-A21A-8529AB205E63}"/>
                  </a:ext>
                </a:extLst>
              </p:cNvPr>
              <p:cNvSpPr>
                <a:spLocks noRot="1" noChangeAspect="1" noMove="1" noResize="1" noEditPoints="1" noAdjustHandles="1" noChangeArrowheads="1" noChangeShapeType="1" noTextEdit="1"/>
              </p:cNvSpPr>
              <p:nvPr/>
            </p:nvSpPr>
            <p:spPr>
              <a:xfrm>
                <a:off x="1151620" y="2209523"/>
                <a:ext cx="823174" cy="461665"/>
              </a:xfrm>
              <a:prstGeom prst="rect">
                <a:avLst/>
              </a:prstGeom>
              <a:blipFill>
                <a:blip r:embed="rId6"/>
                <a:stretch>
                  <a:fillRect r="-1538" b="-16216"/>
                </a:stretch>
              </a:blipFill>
            </p:spPr>
            <p:txBody>
              <a:bodyPr/>
              <a:lstStyle/>
              <a:p>
                <a:r>
                  <a:rPr lang="it-IT">
                    <a:noFill/>
                  </a:rPr>
                  <a:t> </a:t>
                </a:r>
              </a:p>
            </p:txBody>
          </p:sp>
        </mc:Fallback>
      </mc:AlternateContent>
      <p:sp>
        <p:nvSpPr>
          <p:cNvPr id="43" name="CasellaDiTesto 42">
            <a:extLst>
              <a:ext uri="{FF2B5EF4-FFF2-40B4-BE49-F238E27FC236}">
                <a16:creationId xmlns:a16="http://schemas.microsoft.com/office/drawing/2014/main" id="{B4D0D4C8-2972-8047-9206-8344D7837850}"/>
              </a:ext>
            </a:extLst>
          </p:cNvPr>
          <p:cNvSpPr txBox="1"/>
          <p:nvPr/>
        </p:nvSpPr>
        <p:spPr>
          <a:xfrm>
            <a:off x="2132298" y="2198572"/>
            <a:ext cx="359394" cy="461665"/>
          </a:xfrm>
          <a:prstGeom prst="rect">
            <a:avLst/>
          </a:prstGeom>
          <a:noFill/>
        </p:spPr>
        <p:txBody>
          <a:bodyPr wrap="none" rtlCol="0">
            <a:spAutoFit/>
          </a:bodyPr>
          <a:lstStyle/>
          <a:p>
            <a:r>
              <a:rPr lang="it-IT" dirty="0"/>
              <a:t>+</a:t>
            </a:r>
          </a:p>
        </p:txBody>
      </p:sp>
      <p:cxnSp>
        <p:nvCxnSpPr>
          <p:cNvPr id="44" name="Connettore 2 43">
            <a:extLst>
              <a:ext uri="{FF2B5EF4-FFF2-40B4-BE49-F238E27FC236}">
                <a16:creationId xmlns:a16="http://schemas.microsoft.com/office/drawing/2014/main" id="{2A75D2AC-9204-AE45-8613-AE834ED82057}"/>
              </a:ext>
            </a:extLst>
          </p:cNvPr>
          <p:cNvCxnSpPr>
            <a:endCxn id="39" idx="4"/>
          </p:cNvCxnSpPr>
          <p:nvPr/>
        </p:nvCxnSpPr>
        <p:spPr bwMode="auto">
          <a:xfrm flipV="1">
            <a:off x="2555776" y="2882487"/>
            <a:ext cx="2" cy="69303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5" name="CasellaDiTesto 44">
            <a:extLst>
              <a:ext uri="{FF2B5EF4-FFF2-40B4-BE49-F238E27FC236}">
                <a16:creationId xmlns:a16="http://schemas.microsoft.com/office/drawing/2014/main" id="{527D2610-2B69-6543-A29E-CEC4ADD44142}"/>
              </a:ext>
            </a:extLst>
          </p:cNvPr>
          <p:cNvSpPr txBox="1"/>
          <p:nvPr/>
        </p:nvSpPr>
        <p:spPr>
          <a:xfrm>
            <a:off x="2194401" y="2797789"/>
            <a:ext cx="359394" cy="461665"/>
          </a:xfrm>
          <a:prstGeom prst="rect">
            <a:avLst/>
          </a:prstGeom>
          <a:noFill/>
        </p:spPr>
        <p:txBody>
          <a:bodyPr wrap="none" rtlCol="0">
            <a:spAutoFit/>
          </a:bodyPr>
          <a:lstStyle/>
          <a:p>
            <a:r>
              <a:rPr lang="it-IT" dirty="0"/>
              <a:t>+</a:t>
            </a:r>
          </a:p>
        </p:txBody>
      </p:sp>
    </p:spTree>
    <p:extLst>
      <p:ext uri="{BB962C8B-B14F-4D97-AF65-F5344CB8AC3E}">
        <p14:creationId xmlns:p14="http://schemas.microsoft.com/office/powerpoint/2010/main" val="797968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Introduzione agli osservatori</a:t>
            </a:r>
            <a:endParaRPr lang="en-US" dirty="0"/>
          </a:p>
        </p:txBody>
      </p:sp>
      <p:sp>
        <p:nvSpPr>
          <p:cNvPr id="3" name="Segnaposto contenuto 2"/>
          <p:cNvSpPr>
            <a:spLocks noGrp="1"/>
          </p:cNvSpPr>
          <p:nvPr>
            <p:ph idx="1"/>
          </p:nvPr>
        </p:nvSpPr>
        <p:spPr>
          <a:xfrm>
            <a:off x="179512" y="1197546"/>
            <a:ext cx="8784976" cy="4823742"/>
          </a:xfrm>
        </p:spPr>
        <p:txBody>
          <a:bodyPr/>
          <a:lstStyle/>
          <a:p>
            <a:r>
              <a:rPr lang="it-IT" b="1" dirty="0">
                <a:solidFill>
                  <a:schemeClr val="accent2"/>
                </a:solidFill>
              </a:rPr>
              <a:t>Un osservatore </a:t>
            </a:r>
            <a:r>
              <a:rPr lang="it-IT" dirty="0"/>
              <a:t>è un sistema dinamico che, ricevendo in input i segnali di ingresso ed uscita di un dato sistema, deve fornire una stima dello stato del sistema stesso. </a:t>
            </a:r>
          </a:p>
          <a:p>
            <a:endParaRPr lang="it-IT" dirty="0"/>
          </a:p>
          <a:p>
            <a:endParaRPr lang="it-IT" dirty="0"/>
          </a:p>
          <a:p>
            <a:endParaRPr lang="it-IT" dirty="0"/>
          </a:p>
          <a:p>
            <a:endParaRPr lang="it-IT" dirty="0"/>
          </a:p>
          <a:p>
            <a:r>
              <a:rPr lang="it-IT" dirty="0"/>
              <a:t>In particolare, concentreremo la nostra attenzione sugli osservatori per sistemi LTI tempo continuo.</a:t>
            </a:r>
          </a:p>
          <a:p>
            <a:r>
              <a:rPr lang="it-IT" dirty="0"/>
              <a:t>È ovvio che, non essendo noto lo stato iniziale del sistema, bisognerà accettare un errore di stima diverso da zero. </a:t>
            </a:r>
          </a:p>
          <a:p>
            <a:r>
              <a:rPr lang="it-IT" dirty="0"/>
              <a:t>Tuttavia vedremo che, sotto opportune ipotesi, è possibile garantire che la stima tenda asintoticamente a zero. </a:t>
            </a:r>
          </a:p>
        </p:txBody>
      </p:sp>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3</a:t>
            </a:fld>
            <a:endParaRPr lang="en-US"/>
          </a:p>
        </p:txBody>
      </p:sp>
      <p:grpSp>
        <p:nvGrpSpPr>
          <p:cNvPr id="17" name="Gruppo 16">
            <a:extLst>
              <a:ext uri="{FF2B5EF4-FFF2-40B4-BE49-F238E27FC236}">
                <a16:creationId xmlns:a16="http://schemas.microsoft.com/office/drawing/2014/main" id="{BD8BD163-B0AA-1243-8E78-0EF62BE14E88}"/>
              </a:ext>
            </a:extLst>
          </p:cNvPr>
          <p:cNvGrpSpPr/>
          <p:nvPr/>
        </p:nvGrpSpPr>
        <p:grpSpPr>
          <a:xfrm>
            <a:off x="1598524" y="1844824"/>
            <a:ext cx="5832652" cy="2168162"/>
            <a:chOff x="2735796" y="1980918"/>
            <a:chExt cx="5832652" cy="2168162"/>
          </a:xfrm>
        </p:grpSpPr>
        <p:grpSp>
          <p:nvGrpSpPr>
            <p:cNvPr id="22" name="Gruppo 21">
              <a:extLst>
                <a:ext uri="{FF2B5EF4-FFF2-40B4-BE49-F238E27FC236}">
                  <a16:creationId xmlns:a16="http://schemas.microsoft.com/office/drawing/2014/main" id="{25A52850-932B-7A4E-8046-28F27477853D}"/>
                </a:ext>
              </a:extLst>
            </p:cNvPr>
            <p:cNvGrpSpPr/>
            <p:nvPr/>
          </p:nvGrpSpPr>
          <p:grpSpPr>
            <a:xfrm>
              <a:off x="4514735" y="1980918"/>
              <a:ext cx="3873689" cy="2168162"/>
              <a:chOff x="4226703" y="4755432"/>
              <a:chExt cx="3873689" cy="2168162"/>
            </a:xfrm>
          </p:grpSpPr>
          <p:sp>
            <p:nvSpPr>
              <p:cNvPr id="23" name="Rettangolo 22">
                <a:extLst>
                  <a:ext uri="{FF2B5EF4-FFF2-40B4-BE49-F238E27FC236}">
                    <a16:creationId xmlns:a16="http://schemas.microsoft.com/office/drawing/2014/main" id="{375A77F5-1F1A-2D4E-B1BC-9E0AD27357E9}"/>
                  </a:ext>
                </a:extLst>
              </p:cNvPr>
              <p:cNvSpPr/>
              <p:nvPr/>
            </p:nvSpPr>
            <p:spPr bwMode="auto">
              <a:xfrm>
                <a:off x="5076058" y="5214870"/>
                <a:ext cx="1512168" cy="50405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Times New Roman" pitchFamily="18" charset="0"/>
                  </a:rPr>
                  <a:t>Sistema</a:t>
                </a:r>
              </a:p>
            </p:txBody>
          </p:sp>
          <p:cxnSp>
            <p:nvCxnSpPr>
              <p:cNvPr id="24" name="Connettore 2 23">
                <a:extLst>
                  <a:ext uri="{FF2B5EF4-FFF2-40B4-BE49-F238E27FC236}">
                    <a16:creationId xmlns:a16="http://schemas.microsoft.com/office/drawing/2014/main" id="{D39B3166-FEA2-9746-9B6B-59C3BCF44925}"/>
                  </a:ext>
                </a:extLst>
              </p:cNvPr>
              <p:cNvCxnSpPr>
                <a:cxnSpLocks/>
              </p:cNvCxnSpPr>
              <p:nvPr/>
            </p:nvCxnSpPr>
            <p:spPr bwMode="auto">
              <a:xfrm>
                <a:off x="6588226" y="5466898"/>
                <a:ext cx="1512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7" name="Rettangolo 26">
                    <a:extLst>
                      <a:ext uri="{FF2B5EF4-FFF2-40B4-BE49-F238E27FC236}">
                        <a16:creationId xmlns:a16="http://schemas.microsoft.com/office/drawing/2014/main" id="{E68EC788-7BA9-3540-9FE2-512FA81BA3ED}"/>
                      </a:ext>
                    </a:extLst>
                  </p:cNvPr>
                  <p:cNvSpPr/>
                  <p:nvPr/>
                </p:nvSpPr>
                <p:spPr>
                  <a:xfrm>
                    <a:off x="7184753" y="4900415"/>
                    <a:ext cx="8231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i="1">
                              <a:latin typeface="Cambria Math"/>
                            </a:rPr>
                            <m:t>𝑦</m:t>
                          </m:r>
                          <m:d>
                            <m:dPr>
                              <m:ctrlPr>
                                <a:rPr lang="it-IT" i="1">
                                  <a:latin typeface="Cambria Math" panose="02040503050406030204" pitchFamily="18" charset="0"/>
                                </a:rPr>
                              </m:ctrlPr>
                            </m:dPr>
                            <m:e>
                              <m:r>
                                <a:rPr lang="it-IT" i="1">
                                  <a:latin typeface="Cambria Math"/>
                                </a:rPr>
                                <m:t>𝑡</m:t>
                              </m:r>
                            </m:e>
                          </m:d>
                        </m:oMath>
                      </m:oMathPara>
                    </a14:m>
                    <a:endParaRPr lang="it-IT" dirty="0"/>
                  </a:p>
                </p:txBody>
              </p:sp>
            </mc:Choice>
            <mc:Fallback xmlns="">
              <p:sp>
                <p:nvSpPr>
                  <p:cNvPr id="22" name="Rettangolo 21">
                    <a:extLst>
                      <a:ext uri="{FF2B5EF4-FFF2-40B4-BE49-F238E27FC236}">
                        <a16:creationId xmlns:a16="http://schemas.microsoft.com/office/drawing/2014/main" id="{6DCFFCFD-21DB-EF4C-8911-D6715B56B35D}"/>
                      </a:ext>
                    </a:extLst>
                  </p:cNvPr>
                  <p:cNvSpPr>
                    <a:spLocks noRot="1" noChangeAspect="1" noMove="1" noResize="1" noEditPoints="1" noAdjustHandles="1" noChangeArrowheads="1" noChangeShapeType="1" noTextEdit="1"/>
                  </p:cNvSpPr>
                  <p:nvPr/>
                </p:nvSpPr>
                <p:spPr>
                  <a:xfrm>
                    <a:off x="7184753" y="4900415"/>
                    <a:ext cx="823174" cy="461665"/>
                  </a:xfrm>
                  <a:prstGeom prst="rect">
                    <a:avLst/>
                  </a:prstGeom>
                  <a:blipFill>
                    <a:blip r:embed="rId3"/>
                    <a:stretch>
                      <a:fillRect b="-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 name="Rettangolo 28">
                    <a:extLst>
                      <a:ext uri="{FF2B5EF4-FFF2-40B4-BE49-F238E27FC236}">
                        <a16:creationId xmlns:a16="http://schemas.microsoft.com/office/drawing/2014/main" id="{A0D73878-F0BF-FF47-9D78-355D4C1E70C1}"/>
                      </a:ext>
                    </a:extLst>
                  </p:cNvPr>
                  <p:cNvSpPr/>
                  <p:nvPr/>
                </p:nvSpPr>
                <p:spPr>
                  <a:xfrm>
                    <a:off x="5470472" y="4755432"/>
                    <a:ext cx="723340" cy="461665"/>
                  </a:xfrm>
                  <a:prstGeom prst="rect">
                    <a:avLst/>
                  </a:prstGeom>
                </p:spPr>
                <p:txBody>
                  <a:bodyPr wrap="none">
                    <a:spAutoFit/>
                  </a:bodyPr>
                  <a:lstStyle/>
                  <a:p>
                    <a:r>
                      <a:rPr lang="it-IT" b="0" i="1" dirty="0"/>
                      <a:t>x</a:t>
                    </a:r>
                    <a14:m>
                      <m:oMath xmlns:m="http://schemas.openxmlformats.org/officeDocument/2006/math">
                        <m:d>
                          <m:dPr>
                            <m:ctrlPr>
                              <a:rPr lang="it-IT" i="1">
                                <a:latin typeface="Cambria Math" panose="02040503050406030204" pitchFamily="18" charset="0"/>
                              </a:rPr>
                            </m:ctrlPr>
                          </m:dPr>
                          <m:e>
                            <m:r>
                              <a:rPr lang="it-IT" i="1">
                                <a:latin typeface="Cambria Math"/>
                              </a:rPr>
                              <m:t>𝑡</m:t>
                            </m:r>
                          </m:e>
                        </m:d>
                      </m:oMath>
                    </a14:m>
                    <a:endParaRPr lang="it-IT" i="1" dirty="0"/>
                  </a:p>
                </p:txBody>
              </p:sp>
            </mc:Choice>
            <mc:Fallback xmlns="">
              <p:sp>
                <p:nvSpPr>
                  <p:cNvPr id="29" name="Rettangolo 28">
                    <a:extLst>
                      <a:ext uri="{FF2B5EF4-FFF2-40B4-BE49-F238E27FC236}">
                        <a16:creationId xmlns:a16="http://schemas.microsoft.com/office/drawing/2014/main" id="{A0D73878-F0BF-FF47-9D78-355D4C1E70C1}"/>
                      </a:ext>
                    </a:extLst>
                  </p:cNvPr>
                  <p:cNvSpPr>
                    <a:spLocks noRot="1" noChangeAspect="1" noMove="1" noResize="1" noEditPoints="1" noAdjustHandles="1" noChangeArrowheads="1" noChangeShapeType="1" noTextEdit="1"/>
                  </p:cNvSpPr>
                  <p:nvPr/>
                </p:nvSpPr>
                <p:spPr>
                  <a:xfrm>
                    <a:off x="5470472" y="4755432"/>
                    <a:ext cx="723340" cy="461665"/>
                  </a:xfrm>
                  <a:prstGeom prst="rect">
                    <a:avLst/>
                  </a:prstGeom>
                  <a:blipFill>
                    <a:blip r:embed="rId4"/>
                    <a:stretch>
                      <a:fillRect l="-12069" t="-7895" b="-2631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 name="Rettangolo 29">
                    <a:extLst>
                      <a:ext uri="{FF2B5EF4-FFF2-40B4-BE49-F238E27FC236}">
                        <a16:creationId xmlns:a16="http://schemas.microsoft.com/office/drawing/2014/main" id="{AE764914-97E4-AA43-B062-892EB2FB5901}"/>
                      </a:ext>
                    </a:extLst>
                  </p:cNvPr>
                  <p:cNvSpPr/>
                  <p:nvPr/>
                </p:nvSpPr>
                <p:spPr>
                  <a:xfrm>
                    <a:off x="4226703" y="4895216"/>
                    <a:ext cx="723340" cy="461665"/>
                  </a:xfrm>
                  <a:prstGeom prst="rect">
                    <a:avLst/>
                  </a:prstGeom>
                </p:spPr>
                <p:txBody>
                  <a:bodyPr wrap="none">
                    <a:spAutoFit/>
                  </a:bodyPr>
                  <a:lstStyle/>
                  <a:p>
                    <a:r>
                      <a:rPr lang="it-IT" b="0" i="1" dirty="0"/>
                      <a:t>u</a:t>
                    </a:r>
                    <a14:m>
                      <m:oMath xmlns:m="http://schemas.openxmlformats.org/officeDocument/2006/math">
                        <m:d>
                          <m:dPr>
                            <m:ctrlPr>
                              <a:rPr lang="it-IT" i="1">
                                <a:latin typeface="Cambria Math" panose="02040503050406030204" pitchFamily="18" charset="0"/>
                              </a:rPr>
                            </m:ctrlPr>
                          </m:dPr>
                          <m:e>
                            <m:r>
                              <a:rPr lang="it-IT" i="1">
                                <a:latin typeface="Cambria Math"/>
                              </a:rPr>
                              <m:t>𝑡</m:t>
                            </m:r>
                          </m:e>
                        </m:d>
                      </m:oMath>
                    </a14:m>
                    <a:endParaRPr lang="it-IT" i="1" dirty="0"/>
                  </a:p>
                </p:txBody>
              </p:sp>
            </mc:Choice>
            <mc:Fallback xmlns="">
              <p:sp>
                <p:nvSpPr>
                  <p:cNvPr id="24" name="Rettangolo 23">
                    <a:extLst>
                      <a:ext uri="{FF2B5EF4-FFF2-40B4-BE49-F238E27FC236}">
                        <a16:creationId xmlns:a16="http://schemas.microsoft.com/office/drawing/2014/main" id="{74F2ED2E-AF5A-EF48-BB0E-A58DCB044334}"/>
                      </a:ext>
                    </a:extLst>
                  </p:cNvPr>
                  <p:cNvSpPr>
                    <a:spLocks noRot="1" noChangeAspect="1" noMove="1" noResize="1" noEditPoints="1" noAdjustHandles="1" noChangeArrowheads="1" noChangeShapeType="1" noTextEdit="1"/>
                  </p:cNvSpPr>
                  <p:nvPr/>
                </p:nvSpPr>
                <p:spPr>
                  <a:xfrm>
                    <a:off x="4226703" y="4895216"/>
                    <a:ext cx="723340" cy="461665"/>
                  </a:xfrm>
                  <a:prstGeom prst="rect">
                    <a:avLst/>
                  </a:prstGeom>
                  <a:blipFill>
                    <a:blip r:embed="rId5"/>
                    <a:stretch>
                      <a:fillRect l="-12069" t="-13889" b="-30556"/>
                    </a:stretch>
                  </a:blipFill>
                </p:spPr>
                <p:txBody>
                  <a:bodyPr/>
                  <a:lstStyle/>
                  <a:p>
                    <a:r>
                      <a:rPr lang="it-IT">
                        <a:noFill/>
                      </a:rPr>
                      <a:t> </a:t>
                    </a:r>
                  </a:p>
                </p:txBody>
              </p:sp>
            </mc:Fallback>
          </mc:AlternateContent>
          <p:sp>
            <p:nvSpPr>
              <p:cNvPr id="46" name="Rettangolo 45">
                <a:extLst>
                  <a:ext uri="{FF2B5EF4-FFF2-40B4-BE49-F238E27FC236}">
                    <a16:creationId xmlns:a16="http://schemas.microsoft.com/office/drawing/2014/main" id="{53DD3183-F07F-A64D-A569-FA38C2539939}"/>
                  </a:ext>
                </a:extLst>
              </p:cNvPr>
              <p:cNvSpPr/>
              <p:nvPr/>
            </p:nvSpPr>
            <p:spPr bwMode="auto">
              <a:xfrm>
                <a:off x="4896036" y="6280037"/>
                <a:ext cx="1872212" cy="64355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it-IT" dirty="0"/>
                  <a:t>Osservatore</a:t>
                </a:r>
                <a:endParaRPr kumimoji="0" lang="it-IT" sz="2400" b="1" i="0" u="none" strike="noStrike" cap="none" normalizeH="0" baseline="0" dirty="0">
                  <a:ln>
                    <a:noFill/>
                  </a:ln>
                  <a:solidFill>
                    <a:schemeClr val="tx1"/>
                  </a:solidFill>
                  <a:effectLst/>
                  <a:latin typeface="Times New Roman" pitchFamily="18" charset="0"/>
                </a:endParaRPr>
              </a:p>
            </p:txBody>
          </p:sp>
        </p:grpSp>
        <p:cxnSp>
          <p:nvCxnSpPr>
            <p:cNvPr id="48" name="Connettore 2 47">
              <a:extLst>
                <a:ext uri="{FF2B5EF4-FFF2-40B4-BE49-F238E27FC236}">
                  <a16:creationId xmlns:a16="http://schemas.microsoft.com/office/drawing/2014/main" id="{F4B07CC5-F4C2-A740-90B1-C39DE074406A}"/>
                </a:ext>
              </a:extLst>
            </p:cNvPr>
            <p:cNvCxnSpPr>
              <a:cxnSpLocks/>
              <a:endCxn id="23" idx="1"/>
            </p:cNvCxnSpPr>
            <p:nvPr/>
          </p:nvCxnSpPr>
          <p:spPr bwMode="auto">
            <a:xfrm>
              <a:off x="2735796" y="2687659"/>
              <a:ext cx="2628294" cy="472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Connettore 2 53">
              <a:extLst>
                <a:ext uri="{FF2B5EF4-FFF2-40B4-BE49-F238E27FC236}">
                  <a16:creationId xmlns:a16="http://schemas.microsoft.com/office/drawing/2014/main" id="{5805E013-64F9-3441-A79D-4EF57B4450A1}"/>
                </a:ext>
              </a:extLst>
            </p:cNvPr>
            <p:cNvCxnSpPr>
              <a:cxnSpLocks/>
            </p:cNvCxnSpPr>
            <p:nvPr/>
          </p:nvCxnSpPr>
          <p:spPr bwMode="auto">
            <a:xfrm>
              <a:off x="3707904" y="3937781"/>
              <a:ext cx="1476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5" name="Connettore 2 54">
              <a:extLst>
                <a:ext uri="{FF2B5EF4-FFF2-40B4-BE49-F238E27FC236}">
                  <a16:creationId xmlns:a16="http://schemas.microsoft.com/office/drawing/2014/main" id="{93AF17ED-359F-374E-A461-13B0DD8F5ABE}"/>
                </a:ext>
              </a:extLst>
            </p:cNvPr>
            <p:cNvCxnSpPr>
              <a:cxnSpLocks/>
            </p:cNvCxnSpPr>
            <p:nvPr/>
          </p:nvCxnSpPr>
          <p:spPr bwMode="auto">
            <a:xfrm>
              <a:off x="4286250" y="3717032"/>
              <a:ext cx="89782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Connettore 1 9">
              <a:extLst>
                <a:ext uri="{FF2B5EF4-FFF2-40B4-BE49-F238E27FC236}">
                  <a16:creationId xmlns:a16="http://schemas.microsoft.com/office/drawing/2014/main" id="{4CA3C9FF-D7DA-054C-935E-4345317C4493}"/>
                </a:ext>
              </a:extLst>
            </p:cNvPr>
            <p:cNvCxnSpPr/>
            <p:nvPr/>
          </p:nvCxnSpPr>
          <p:spPr bwMode="auto">
            <a:xfrm flipV="1">
              <a:off x="4286250" y="3284984"/>
              <a:ext cx="0" cy="43204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6" name="Connettore 1 55">
              <a:extLst>
                <a:ext uri="{FF2B5EF4-FFF2-40B4-BE49-F238E27FC236}">
                  <a16:creationId xmlns:a16="http://schemas.microsoft.com/office/drawing/2014/main" id="{8909F443-34A4-D549-9516-90B913DED62F}"/>
                </a:ext>
              </a:extLst>
            </p:cNvPr>
            <p:cNvCxnSpPr>
              <a:cxnSpLocks/>
            </p:cNvCxnSpPr>
            <p:nvPr/>
          </p:nvCxnSpPr>
          <p:spPr bwMode="auto">
            <a:xfrm flipH="1" flipV="1">
              <a:off x="4286251" y="3284984"/>
              <a:ext cx="3186536" cy="659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7" name="Connettore 1 56">
              <a:extLst>
                <a:ext uri="{FF2B5EF4-FFF2-40B4-BE49-F238E27FC236}">
                  <a16:creationId xmlns:a16="http://schemas.microsoft.com/office/drawing/2014/main" id="{458BCE35-BB44-F04C-8A7B-D4C44941161F}"/>
                </a:ext>
              </a:extLst>
            </p:cNvPr>
            <p:cNvCxnSpPr>
              <a:cxnSpLocks/>
            </p:cNvCxnSpPr>
            <p:nvPr/>
          </p:nvCxnSpPr>
          <p:spPr bwMode="auto">
            <a:xfrm flipV="1">
              <a:off x="7472787" y="2687660"/>
              <a:ext cx="0" cy="60391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8" name="Connettore 1 57">
              <a:extLst>
                <a:ext uri="{FF2B5EF4-FFF2-40B4-BE49-F238E27FC236}">
                  <a16:creationId xmlns:a16="http://schemas.microsoft.com/office/drawing/2014/main" id="{AC225423-5EF9-E04F-B9D8-808BF55D5E19}"/>
                </a:ext>
              </a:extLst>
            </p:cNvPr>
            <p:cNvCxnSpPr>
              <a:cxnSpLocks/>
            </p:cNvCxnSpPr>
            <p:nvPr/>
          </p:nvCxnSpPr>
          <p:spPr bwMode="auto">
            <a:xfrm flipV="1">
              <a:off x="3707904" y="2687659"/>
              <a:ext cx="0" cy="124539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9" name="Connettore 2 58">
              <a:extLst>
                <a:ext uri="{FF2B5EF4-FFF2-40B4-BE49-F238E27FC236}">
                  <a16:creationId xmlns:a16="http://schemas.microsoft.com/office/drawing/2014/main" id="{C5C03D14-1C46-D848-B024-09C470FA27B9}"/>
                </a:ext>
              </a:extLst>
            </p:cNvPr>
            <p:cNvCxnSpPr>
              <a:cxnSpLocks/>
            </p:cNvCxnSpPr>
            <p:nvPr/>
          </p:nvCxnSpPr>
          <p:spPr bwMode="auto">
            <a:xfrm>
              <a:off x="7056282" y="3852685"/>
              <a:ext cx="1512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60" name="Rettangolo 59">
                  <a:extLst>
                    <a:ext uri="{FF2B5EF4-FFF2-40B4-BE49-F238E27FC236}">
                      <a16:creationId xmlns:a16="http://schemas.microsoft.com/office/drawing/2014/main" id="{BB09A7B7-FFBB-7546-B1CE-2E303E845FC5}"/>
                    </a:ext>
                  </a:extLst>
                </p:cNvPr>
                <p:cNvSpPr/>
                <p:nvPr/>
              </p:nvSpPr>
              <p:spPr>
                <a:xfrm>
                  <a:off x="7522704" y="3341609"/>
                  <a:ext cx="8191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d>
                          <m:dPr>
                            <m:ctrlPr>
                              <a:rPr lang="it-IT" i="1">
                                <a:latin typeface="Cambria Math" panose="02040503050406030204" pitchFamily="18" charset="0"/>
                              </a:rPr>
                            </m:ctrlPr>
                          </m:dPr>
                          <m:e>
                            <m:r>
                              <a:rPr lang="it-IT" i="1">
                                <a:latin typeface="Cambria Math"/>
                              </a:rPr>
                              <m:t>𝑡</m:t>
                            </m:r>
                          </m:e>
                        </m:d>
                      </m:oMath>
                    </m:oMathPara>
                  </a14:m>
                  <a:endParaRPr lang="it-IT" i="1" dirty="0"/>
                </a:p>
              </p:txBody>
            </p:sp>
          </mc:Choice>
          <mc:Fallback xmlns="">
            <p:sp>
              <p:nvSpPr>
                <p:cNvPr id="60" name="Rettangolo 59">
                  <a:extLst>
                    <a:ext uri="{FF2B5EF4-FFF2-40B4-BE49-F238E27FC236}">
                      <a16:creationId xmlns:a16="http://schemas.microsoft.com/office/drawing/2014/main" id="{BB09A7B7-FFBB-7546-B1CE-2E303E845FC5}"/>
                    </a:ext>
                  </a:extLst>
                </p:cNvPr>
                <p:cNvSpPr>
                  <a:spLocks noRot="1" noChangeAspect="1" noMove="1" noResize="1" noEditPoints="1" noAdjustHandles="1" noChangeArrowheads="1" noChangeShapeType="1" noTextEdit="1"/>
                </p:cNvSpPr>
                <p:nvPr/>
              </p:nvSpPr>
              <p:spPr>
                <a:xfrm>
                  <a:off x="7522704" y="3341609"/>
                  <a:ext cx="819199" cy="461665"/>
                </a:xfrm>
                <a:prstGeom prst="rect">
                  <a:avLst/>
                </a:prstGeom>
                <a:blipFill>
                  <a:blip r:embed="rId6"/>
                  <a:stretch>
                    <a:fillRect/>
                  </a:stretch>
                </a:blipFill>
              </p:spPr>
              <p:txBody>
                <a:bodyPr/>
                <a:lstStyle/>
                <a:p>
                  <a:r>
                    <a:rPr lang="it-IT">
                      <a:noFill/>
                    </a:rPr>
                    <a:t> </a:t>
                  </a:r>
                </a:p>
              </p:txBody>
            </p:sp>
          </mc:Fallback>
        </mc:AlternateContent>
      </p:grpSp>
    </p:spTree>
    <p:extLst>
      <p:ext uri="{BB962C8B-B14F-4D97-AF65-F5344CB8AC3E}">
        <p14:creationId xmlns:p14="http://schemas.microsoft.com/office/powerpoint/2010/main" val="1269250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Assegnamento degli </a:t>
            </a:r>
            <a:r>
              <a:rPr lang="it-IT" dirty="0" err="1"/>
              <a:t>autovalori</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r>
                  <a:rPr lang="it-IT" dirty="0"/>
                  <a:t>Consideriamo un sistema </a:t>
                </a:r>
                <a:r>
                  <a:rPr lang="it-IT" b="1" i="1" dirty="0">
                    <a:solidFill>
                      <a:schemeClr val="accent2"/>
                    </a:solidFill>
                  </a:rPr>
                  <a:t>Lineare Tempo Invariante – Tempo Continuo </a:t>
                </a:r>
                <a:r>
                  <a:rPr lang="it-IT" dirty="0"/>
                  <a:t>(</a:t>
                </a:r>
                <a:r>
                  <a:rPr lang="it-IT" b="1" i="1" dirty="0">
                    <a:solidFill>
                      <a:schemeClr val="accent2"/>
                    </a:solidFill>
                  </a:rPr>
                  <a:t>LTI-TC</a:t>
                </a:r>
                <a:r>
                  <a:rPr lang="it-IT" dirty="0"/>
                  <a:t>) in rappresentazione i-</a:t>
                </a:r>
                <a:r>
                  <a:rPr lang="it-IT" dirty="0" err="1"/>
                  <a:t>s</a:t>
                </a:r>
                <a:r>
                  <a:rPr lang="it-IT" dirty="0"/>
                  <a:t>-u:</a:t>
                </a:r>
              </a:p>
              <a:p>
                <a:pPr marL="0" indent="0" algn="r">
                  <a:buNone/>
                </a:pPr>
                <a14:m>
                  <m:oMath xmlns:m="http://schemas.openxmlformats.org/officeDocument/2006/math">
                    <m:m>
                      <m:mPr>
                        <m:mcs>
                          <m:mc>
                            <m:mcPr>
                              <m:count m:val="1"/>
                              <m:mcJc m:val="center"/>
                            </m:mcPr>
                          </m:mc>
                        </m:mcs>
                        <m:ctrlPr>
                          <a:rPr lang="it-IT" i="1" smtClean="0">
                            <a:latin typeface="Cambria Math" panose="02040503050406030204" pitchFamily="18" charset="0"/>
                          </a:rPr>
                        </m:ctrlPr>
                      </m:mPr>
                      <m:mr>
                        <m:e>
                          <m:acc>
                            <m:accPr>
                              <m:chr m:val="̇"/>
                              <m:ctrlPr>
                                <a:rPr lang="it-IT" i="1" smtClean="0">
                                  <a:latin typeface="Cambria Math" panose="02040503050406030204" pitchFamily="18" charset="0"/>
                                </a:rPr>
                              </m:ctrlPr>
                            </m:accPr>
                            <m:e>
                              <m:r>
                                <a:rPr lang="it-IT" i="1" smtClean="0">
                                  <a:latin typeface="Cambria Math"/>
                                </a:rPr>
                                <m:t>𝑥</m:t>
                              </m:r>
                            </m:e>
                          </m:acc>
                          <m:d>
                            <m:dPr>
                              <m:ctrlPr>
                                <a:rPr lang="it-IT" i="1" smtClean="0">
                                  <a:latin typeface="Cambria Math" panose="02040503050406030204" pitchFamily="18" charset="0"/>
                                </a:rPr>
                              </m:ctrlPr>
                            </m:dPr>
                            <m:e>
                              <m:r>
                                <a:rPr lang="it-IT" i="1" smtClean="0">
                                  <a:latin typeface="Cambria Math"/>
                                </a:rPr>
                                <m:t>𝑡</m:t>
                              </m:r>
                            </m:e>
                          </m:d>
                          <m:r>
                            <a:rPr lang="it-IT" i="1" smtClean="0">
                              <a:latin typeface="Cambria Math"/>
                            </a:rPr>
                            <m:t>= </m:t>
                          </m:r>
                          <m:r>
                            <a:rPr lang="it-IT" i="1" smtClean="0">
                              <a:latin typeface="Cambria Math"/>
                            </a:rPr>
                            <m:t>𝐴𝑥</m:t>
                          </m:r>
                          <m:d>
                            <m:dPr>
                              <m:ctrlPr>
                                <a:rPr lang="it-IT" i="1" smtClean="0">
                                  <a:latin typeface="Cambria Math" panose="02040503050406030204" pitchFamily="18" charset="0"/>
                                </a:rPr>
                              </m:ctrlPr>
                            </m:dPr>
                            <m:e>
                              <m:r>
                                <a:rPr lang="it-IT" i="1" smtClean="0">
                                  <a:latin typeface="Cambria Math"/>
                                </a:rPr>
                                <m:t>𝑡</m:t>
                              </m:r>
                            </m:e>
                          </m:d>
                          <m:r>
                            <a:rPr lang="it-IT" i="1" smtClean="0">
                              <a:latin typeface="Cambria Math"/>
                            </a:rPr>
                            <m:t>+</m:t>
                          </m:r>
                          <m:r>
                            <a:rPr lang="it-IT" i="1" smtClean="0">
                              <a:latin typeface="Cambria Math"/>
                            </a:rPr>
                            <m:t>𝐵𝑢</m:t>
                          </m:r>
                          <m:d>
                            <m:dPr>
                              <m:ctrlPr>
                                <a:rPr lang="it-IT" i="1" smtClean="0">
                                  <a:latin typeface="Cambria Math" panose="02040503050406030204" pitchFamily="18" charset="0"/>
                                </a:rPr>
                              </m:ctrlPr>
                            </m:dPr>
                            <m:e>
                              <m:r>
                                <a:rPr lang="it-IT" i="1" smtClean="0">
                                  <a:latin typeface="Cambria Math"/>
                                </a:rPr>
                                <m:t>𝑡</m:t>
                              </m:r>
                            </m:e>
                          </m:d>
                          <m:r>
                            <m:rPr>
                              <m:nor/>
                            </m:rPr>
                            <a:rPr lang="it-IT" smtClean="0">
                              <a:latin typeface="Cambria Math"/>
                            </a:rPr>
                            <m:t>, </m:t>
                          </m:r>
                          <m:r>
                            <m:rPr>
                              <m:nor/>
                            </m:rPr>
                            <a:rPr lang="it-IT" smtClean="0"/>
                            <m:t>   </m:t>
                          </m:r>
                          <m:r>
                            <a:rPr lang="it-IT" i="1" smtClean="0">
                              <a:latin typeface="Cambria Math"/>
                            </a:rPr>
                            <m:t>𝑥</m:t>
                          </m:r>
                          <m:d>
                            <m:dPr>
                              <m:ctrlPr>
                                <a:rPr lang="it-IT" i="1" smtClean="0">
                                  <a:latin typeface="Cambria Math" panose="02040503050406030204" pitchFamily="18" charset="0"/>
                                </a:rPr>
                              </m:ctrlPr>
                            </m:dPr>
                            <m:e>
                              <m:sSub>
                                <m:sSubPr>
                                  <m:ctrlPr>
                                    <a:rPr lang="it-IT" i="1" smtClean="0">
                                      <a:latin typeface="Cambria Math" panose="02040503050406030204" pitchFamily="18" charset="0"/>
                                    </a:rPr>
                                  </m:ctrlPr>
                                </m:sSubPr>
                                <m:e>
                                  <m:r>
                                    <a:rPr lang="it-IT" i="1" smtClean="0">
                                      <a:latin typeface="Cambria Math"/>
                                    </a:rPr>
                                    <m:t>𝑡</m:t>
                                  </m:r>
                                </m:e>
                                <m:sub>
                                  <m:r>
                                    <a:rPr lang="it-IT" i="1" smtClean="0">
                                      <a:latin typeface="Cambria Math"/>
                                    </a:rPr>
                                    <m:t>0</m:t>
                                  </m:r>
                                </m:sub>
                              </m:sSub>
                            </m:e>
                          </m:d>
                          <m:r>
                            <a:rPr lang="it-IT" i="1" smtClean="0">
                              <a:latin typeface="Cambria Math"/>
                            </a:rPr>
                            <m:t>=</m:t>
                          </m:r>
                          <m:sSub>
                            <m:sSubPr>
                              <m:ctrlPr>
                                <a:rPr lang="it-IT" i="1" smtClean="0">
                                  <a:latin typeface="Cambria Math" panose="02040503050406030204" pitchFamily="18" charset="0"/>
                                </a:rPr>
                              </m:ctrlPr>
                            </m:sSubPr>
                            <m:e>
                              <m:r>
                                <a:rPr lang="it-IT" i="1" smtClean="0">
                                  <a:latin typeface="Cambria Math"/>
                                </a:rPr>
                                <m:t>𝑥</m:t>
                              </m:r>
                            </m:e>
                            <m:sub>
                              <m:r>
                                <a:rPr lang="it-IT" i="1" smtClean="0">
                                  <a:latin typeface="Cambria Math"/>
                                </a:rPr>
                                <m:t>0  </m:t>
                              </m:r>
                            </m:sub>
                          </m:sSub>
                        </m:e>
                      </m:mr>
                      <m:mr>
                        <m:e>
                          <m:r>
                            <a:rPr lang="it-IT" i="1">
                              <a:latin typeface="Cambria Math"/>
                            </a:rPr>
                            <m:t>𝑦</m:t>
                          </m:r>
                          <m:d>
                            <m:dPr>
                              <m:ctrlPr>
                                <a:rPr lang="it-IT" i="1">
                                  <a:latin typeface="Cambria Math" panose="02040503050406030204" pitchFamily="18" charset="0"/>
                                </a:rPr>
                              </m:ctrlPr>
                            </m:dPr>
                            <m:e>
                              <m:r>
                                <a:rPr lang="it-IT" i="1">
                                  <a:latin typeface="Cambria Math"/>
                                </a:rPr>
                                <m:t>𝑡</m:t>
                              </m:r>
                            </m:e>
                          </m:d>
                          <m:r>
                            <a:rPr lang="it-IT" i="1" smtClean="0">
                              <a:latin typeface="Cambria Math"/>
                            </a:rPr>
                            <m:t>=</m:t>
                          </m:r>
                          <m:r>
                            <a:rPr lang="it-IT" i="1" smtClean="0">
                              <a:latin typeface="Cambria Math"/>
                            </a:rPr>
                            <m:t>𝐶𝑥</m:t>
                          </m:r>
                          <m:d>
                            <m:dPr>
                              <m:ctrlPr>
                                <a:rPr lang="it-IT" i="1" smtClean="0">
                                  <a:latin typeface="Cambria Math" panose="02040503050406030204" pitchFamily="18" charset="0"/>
                                </a:rPr>
                              </m:ctrlPr>
                            </m:dPr>
                            <m:e>
                              <m:r>
                                <a:rPr lang="it-IT" i="1" smtClean="0">
                                  <a:latin typeface="Cambria Math"/>
                                </a:rPr>
                                <m:t>𝑡</m:t>
                              </m:r>
                            </m:e>
                          </m:d>
                          <m:r>
                            <a:rPr lang="it-IT" b="0" i="1" smtClean="0">
                              <a:latin typeface="Cambria Math" panose="02040503050406030204" pitchFamily="18" charset="0"/>
                            </a:rPr>
                            <m:t>                  </m:t>
                          </m:r>
                          <m:r>
                            <a:rPr lang="it-IT" b="0" i="1" smtClean="0">
                              <a:latin typeface="Cambria Math"/>
                            </a:rPr>
                            <m:t>                           </m:t>
                          </m:r>
                        </m:e>
                      </m:mr>
                    </m:m>
                  </m:oMath>
                </a14:m>
                <a:r>
                  <a:rPr lang="it-IT" i="1" dirty="0">
                    <a:latin typeface="Cambria Math"/>
                  </a:rPr>
                  <a:t>		 </a:t>
                </a:r>
                <a:r>
                  <a:rPr lang="it-IT" dirty="0"/>
                  <a:t>(1)</a:t>
                </a:r>
              </a:p>
              <a:p>
                <a:pPr algn="just"/>
                <a:r>
                  <a:rPr lang="it-IT" dirty="0"/>
                  <a:t>La possibile scelta di </a:t>
                </a:r>
                <a:r>
                  <a:rPr lang="it-IT" b="1" dirty="0">
                    <a:solidFill>
                      <a:schemeClr val="accent2"/>
                    </a:solidFill>
                  </a:rPr>
                  <a:t>osservatore banale </a:t>
                </a:r>
                <a:r>
                  <a:rPr lang="it-IT" dirty="0"/>
                  <a:t>consiste nel definire un sistema che copia la dinamica del processo:</a:t>
                </a:r>
              </a:p>
              <a:p>
                <a:pPr marL="0" indent="0" algn="just">
                  <a:buNone/>
                </a:pPr>
                <a14:m>
                  <m:oMathPara xmlns:m="http://schemas.openxmlformats.org/officeDocument/2006/math">
                    <m:oMathParaPr>
                      <m:jc m:val="centerGroup"/>
                    </m:oMathParaPr>
                    <m:oMath xmlns:m="http://schemas.openxmlformats.org/officeDocument/2006/math">
                      <m:acc>
                        <m:accPr>
                          <m:chr m:val="̇"/>
                          <m:ctrlPr>
                            <a:rPr lang="it-IT" i="1">
                              <a:latin typeface="Cambria Math" panose="02040503050406030204" pitchFamily="18" charset="0"/>
                            </a:rPr>
                          </m:ctrlPr>
                        </m:accPr>
                        <m:e>
                          <m:acc>
                            <m:accPr>
                              <m:chr m:val="̃"/>
                              <m:ctrlPr>
                                <a:rPr lang="it-IT" i="1">
                                  <a:latin typeface="Cambria Math" panose="02040503050406030204" pitchFamily="18" charset="0"/>
                                </a:rPr>
                              </m:ctrlPr>
                            </m:accPr>
                            <m:e>
                              <m:r>
                                <a:rPr lang="it-IT" i="1">
                                  <a:latin typeface="Cambria Math"/>
                                </a:rPr>
                                <m:t>𝑥</m:t>
                              </m:r>
                            </m:e>
                          </m:acc>
                        </m:e>
                      </m:acc>
                      <m:d>
                        <m:dPr>
                          <m:ctrlPr>
                            <a:rPr lang="it-IT" i="1">
                              <a:latin typeface="Cambria Math" panose="02040503050406030204" pitchFamily="18" charset="0"/>
                            </a:rPr>
                          </m:ctrlPr>
                        </m:dPr>
                        <m:e>
                          <m:r>
                            <a:rPr lang="it-IT" i="1">
                              <a:latin typeface="Cambria Math"/>
                            </a:rPr>
                            <m:t>𝑡</m:t>
                          </m:r>
                        </m:e>
                      </m:d>
                      <m:r>
                        <a:rPr lang="it-IT" i="1">
                          <a:latin typeface="Cambria Math"/>
                        </a:rPr>
                        <m:t>= </m:t>
                      </m:r>
                      <m:r>
                        <a:rPr lang="it-IT" i="1">
                          <a:latin typeface="Cambria Math"/>
                        </a:rPr>
                        <m:t>𝐴</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a:rPr lang="it-IT" i="1">
                          <a:latin typeface="Cambria Math"/>
                        </a:rPr>
                        <m:t>+</m:t>
                      </m:r>
                      <m:r>
                        <a:rPr lang="it-IT" i="1">
                          <a:latin typeface="Cambria Math"/>
                        </a:rPr>
                        <m:t>𝐵𝑢</m:t>
                      </m:r>
                      <m:d>
                        <m:dPr>
                          <m:ctrlPr>
                            <a:rPr lang="it-IT" i="1">
                              <a:latin typeface="Cambria Math" panose="02040503050406030204" pitchFamily="18" charset="0"/>
                            </a:rPr>
                          </m:ctrlPr>
                        </m:dPr>
                        <m:e>
                          <m:r>
                            <a:rPr lang="it-IT" i="1">
                              <a:latin typeface="Cambria Math"/>
                            </a:rPr>
                            <m:t>𝑡</m:t>
                          </m:r>
                        </m:e>
                      </m:d>
                      <m:r>
                        <m:rPr>
                          <m:nor/>
                        </m:rPr>
                        <a:rPr lang="it-IT">
                          <a:latin typeface="Cambria Math"/>
                        </a:rPr>
                        <m:t>, </m:t>
                      </m:r>
                      <m:r>
                        <m:rPr>
                          <m:nor/>
                        </m:rPr>
                        <a:rPr lang="it-IT"/>
                        <m:t>   </m:t>
                      </m:r>
                      <m:r>
                        <a:rPr lang="it-IT" i="1">
                          <a:latin typeface="Cambria Math"/>
                        </a:rPr>
                        <m:t>𝑥</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a:rPr>
                                <m:t>𝑡</m:t>
                              </m:r>
                            </m:e>
                            <m:sub>
                              <m:r>
                                <a:rPr lang="it-IT" i="1">
                                  <a:latin typeface="Cambria Math"/>
                                </a:rPr>
                                <m:t>0</m:t>
                              </m:r>
                            </m:sub>
                          </m:sSub>
                        </m:e>
                      </m:d>
                      <m:r>
                        <a:rPr lang="it-IT" i="1">
                          <a:latin typeface="Cambria Math"/>
                        </a:rPr>
                        <m:t>=</m:t>
                      </m:r>
                      <m:sSub>
                        <m:sSubPr>
                          <m:ctrlPr>
                            <a:rPr lang="it-IT" i="1" dirty="0">
                              <a:latin typeface="Cambria Math" panose="02040503050406030204" pitchFamily="18" charset="0"/>
                            </a:rPr>
                          </m:ctrlPr>
                        </m:sSubPr>
                        <m:e>
                          <m:acc>
                            <m:accPr>
                              <m:chr m:val="̃"/>
                              <m:ctrlPr>
                                <a:rPr lang="it-IT" i="1">
                                  <a:latin typeface="Cambria Math" panose="02040503050406030204" pitchFamily="18" charset="0"/>
                                </a:rPr>
                              </m:ctrlPr>
                            </m:accPr>
                            <m:e>
                              <m:r>
                                <a:rPr lang="it-IT" i="1">
                                  <a:latin typeface="Cambria Math" panose="02040503050406030204" pitchFamily="18" charset="0"/>
                                </a:rPr>
                                <m:t>𝑥</m:t>
                              </m:r>
                            </m:e>
                          </m:acc>
                        </m:e>
                        <m:sub>
                          <m:r>
                            <a:rPr lang="it-IT" i="1" dirty="0">
                              <a:latin typeface="Cambria Math" panose="02040503050406030204" pitchFamily="18" charset="0"/>
                            </a:rPr>
                            <m:t>0</m:t>
                          </m:r>
                        </m:sub>
                      </m:sSub>
                    </m:oMath>
                  </m:oMathPara>
                </a14:m>
                <a:endParaRPr lang="it-IT" dirty="0"/>
              </a:p>
              <a:p>
                <a:pPr marL="0" indent="0" algn="just">
                  <a:buNone/>
                </a:pPr>
                <a:r>
                  <a:rPr lang="it-IT" dirty="0"/>
                  <a:t>     con </a:t>
                </a:r>
                <a14:m>
                  <m:oMath xmlns:m="http://schemas.openxmlformats.org/officeDocument/2006/math">
                    <m:sSub>
                      <m:sSubPr>
                        <m:ctrlPr>
                          <a:rPr lang="it-IT" i="1" dirty="0">
                            <a:latin typeface="Cambria Math" panose="02040503050406030204" pitchFamily="18" charset="0"/>
                          </a:rPr>
                        </m:ctrlPr>
                      </m:sSubPr>
                      <m:e>
                        <m:acc>
                          <m:accPr>
                            <m:chr m:val="̃"/>
                            <m:ctrlPr>
                              <a:rPr lang="it-IT" i="1">
                                <a:latin typeface="Cambria Math" panose="02040503050406030204" pitchFamily="18" charset="0"/>
                              </a:rPr>
                            </m:ctrlPr>
                          </m:accPr>
                          <m:e>
                            <m:r>
                              <a:rPr lang="it-IT" i="1">
                                <a:latin typeface="Cambria Math" panose="02040503050406030204" pitchFamily="18" charset="0"/>
                              </a:rPr>
                              <m:t>𝑥</m:t>
                            </m:r>
                          </m:e>
                        </m:acc>
                      </m:e>
                      <m:sub>
                        <m:r>
                          <a:rPr lang="it-IT" i="1" dirty="0">
                            <a:latin typeface="Cambria Math" panose="02040503050406030204" pitchFamily="18" charset="0"/>
                          </a:rPr>
                          <m:t>0</m:t>
                        </m:r>
                      </m:sub>
                    </m:sSub>
                    <m:r>
                      <a:rPr lang="it-IT" i="1" dirty="0" smtClean="0">
                        <a:latin typeface="Cambria Math" panose="02040503050406030204" pitchFamily="18" charset="0"/>
                        <a:ea typeface="Cambria Math" panose="02040503050406030204" pitchFamily="18" charset="0"/>
                      </a:rPr>
                      <m:t>≠</m:t>
                    </m:r>
                    <m:sSub>
                      <m:sSubPr>
                        <m:ctrlPr>
                          <a:rPr lang="it-IT" b="0" i="1" dirty="0" smtClean="0">
                            <a:latin typeface="Cambria Math" panose="02040503050406030204" pitchFamily="18" charset="0"/>
                            <a:ea typeface="Cambria Math" panose="02040503050406030204" pitchFamily="18" charset="0"/>
                          </a:rPr>
                        </m:ctrlPr>
                      </m:sSubPr>
                      <m:e>
                        <m:r>
                          <a:rPr lang="it-IT" b="0" i="1" dirty="0" smtClean="0">
                            <a:latin typeface="Cambria Math" panose="02040503050406030204" pitchFamily="18" charset="0"/>
                            <a:ea typeface="Cambria Math" panose="02040503050406030204" pitchFamily="18" charset="0"/>
                          </a:rPr>
                          <m:t>𝑥</m:t>
                        </m:r>
                      </m:e>
                      <m:sub>
                        <m:r>
                          <a:rPr lang="it-IT" b="0" i="1" dirty="0" smtClean="0">
                            <a:latin typeface="Cambria Math" panose="02040503050406030204" pitchFamily="18" charset="0"/>
                            <a:ea typeface="Cambria Math" panose="02040503050406030204" pitchFamily="18" charset="0"/>
                          </a:rPr>
                          <m:t>0</m:t>
                        </m:r>
                      </m:sub>
                    </m:sSub>
                    <m:r>
                      <a:rPr lang="it-IT" b="0" i="1" dirty="0" smtClean="0">
                        <a:latin typeface="Cambria Math" panose="02040503050406030204" pitchFamily="18" charset="0"/>
                        <a:ea typeface="Cambria Math" panose="02040503050406030204" pitchFamily="18" charset="0"/>
                      </a:rPr>
                      <m:t> .</m:t>
                    </m:r>
                  </m:oMath>
                </a14:m>
                <a:endParaRPr lang="it-IT" dirty="0"/>
              </a:p>
              <a:p>
                <a:pPr algn="just"/>
                <a:r>
                  <a:rPr lang="it-IT" dirty="0"/>
                  <a:t>Per valutare l’efficacia di questo osservatore, è possibile considerate l’andamento dell’errore di stima </a:t>
                </a:r>
              </a:p>
              <a:p>
                <a:pPr marL="0" indent="0" algn="just">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𝑒</m:t>
                      </m:r>
                      <m:d>
                        <m:dPr>
                          <m:ctrlPr>
                            <a:rPr lang="it-IT" b="0" i="1" smtClean="0">
                              <a:latin typeface="Cambria Math" panose="02040503050406030204" pitchFamily="18" charset="0"/>
                            </a:rPr>
                          </m:ctrlPr>
                        </m:dPr>
                        <m:e>
                          <m:r>
                            <a:rPr lang="it-IT" b="0" i="1" smtClean="0">
                              <a:latin typeface="Cambria Math" panose="02040503050406030204" pitchFamily="18" charset="0"/>
                            </a:rPr>
                            <m:t>𝑡</m:t>
                          </m:r>
                        </m:e>
                      </m:d>
                      <m:r>
                        <a:rPr lang="it-IT" b="0" i="1" smtClean="0">
                          <a:latin typeface="Cambria Math" panose="02040503050406030204" pitchFamily="18" charset="0"/>
                        </a:rPr>
                        <m:t>=</m:t>
                      </m:r>
                      <m:r>
                        <a:rPr lang="it-IT" b="0" i="1" smtClean="0">
                          <a:latin typeface="Cambria Math" panose="02040503050406030204" pitchFamily="18" charset="0"/>
                        </a:rPr>
                        <m:t>𝑥</m:t>
                      </m:r>
                      <m:d>
                        <m:dPr>
                          <m:ctrlPr>
                            <a:rPr lang="it-IT" b="0" i="1" smtClean="0">
                              <a:latin typeface="Cambria Math" panose="02040503050406030204" pitchFamily="18" charset="0"/>
                            </a:rPr>
                          </m:ctrlPr>
                        </m:dPr>
                        <m:e>
                          <m:r>
                            <a:rPr lang="it-IT" b="0" i="1" smtClean="0">
                              <a:latin typeface="Cambria Math" panose="02040503050406030204" pitchFamily="18" charset="0"/>
                            </a:rPr>
                            <m:t>𝑡</m:t>
                          </m:r>
                        </m:e>
                      </m:d>
                      <m:r>
                        <a:rPr lang="it-IT" b="0" i="1" smtClean="0">
                          <a:latin typeface="Cambria Math" panose="02040503050406030204" pitchFamily="18" charset="0"/>
                        </a:rPr>
                        <m:t>−</m:t>
                      </m:r>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oMath>
                  </m:oMathPara>
                </a14:m>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3" t="-452" r="-577"/>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4</a:t>
            </a:fld>
            <a:endParaRPr lang="en-US"/>
          </a:p>
        </p:txBody>
      </p:sp>
    </p:spTree>
    <p:extLst>
      <p:ext uri="{BB962C8B-B14F-4D97-AF65-F5344CB8AC3E}">
        <p14:creationId xmlns:p14="http://schemas.microsoft.com/office/powerpoint/2010/main" val="3078150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Osservatore banale</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r>
                  <a:rPr lang="it-IT" dirty="0"/>
                  <a:t>Nel  caso di osservatore banale, l’andamento dell’errore di stima risulta</a:t>
                </a:r>
              </a:p>
              <a:p>
                <a:endParaRPr lang="it-IT" dirty="0"/>
              </a:p>
              <a:p>
                <a:pPr marL="0" indent="0" algn="just">
                  <a:buNone/>
                </a:pPr>
                <a14:m>
                  <m:oMathPara xmlns:m="http://schemas.openxmlformats.org/officeDocument/2006/math">
                    <m:oMathParaPr>
                      <m:jc m:val="centerGroup"/>
                    </m:oMathParaPr>
                    <m:oMath xmlns:m="http://schemas.openxmlformats.org/officeDocument/2006/math">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𝑒</m:t>
                          </m:r>
                        </m:e>
                      </m:acc>
                      <m:d>
                        <m:dPr>
                          <m:ctrlPr>
                            <a:rPr lang="it-IT" b="0" i="1" smtClean="0">
                              <a:latin typeface="Cambria Math" panose="02040503050406030204" pitchFamily="18" charset="0"/>
                            </a:rPr>
                          </m:ctrlPr>
                        </m:dPr>
                        <m:e>
                          <m:r>
                            <a:rPr lang="it-IT" b="0" i="1" smtClean="0">
                              <a:latin typeface="Cambria Math" panose="02040503050406030204" pitchFamily="18" charset="0"/>
                            </a:rPr>
                            <m:t>𝑡</m:t>
                          </m:r>
                        </m:e>
                      </m:d>
                      <m:r>
                        <a:rPr lang="it-IT" b="0" i="1" smtClean="0">
                          <a:latin typeface="Cambria Math" panose="02040503050406030204" pitchFamily="18" charset="0"/>
                        </a:rPr>
                        <m:t>   =</m:t>
                      </m:r>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d>
                        <m:dPr>
                          <m:ctrlPr>
                            <a:rPr lang="it-IT" b="0" i="1" smtClean="0">
                              <a:latin typeface="Cambria Math" panose="02040503050406030204" pitchFamily="18" charset="0"/>
                            </a:rPr>
                          </m:ctrlPr>
                        </m:dPr>
                        <m:e>
                          <m:r>
                            <a:rPr lang="it-IT" b="0" i="1" smtClean="0">
                              <a:latin typeface="Cambria Math" panose="02040503050406030204" pitchFamily="18" charset="0"/>
                            </a:rPr>
                            <m:t>𝑡</m:t>
                          </m:r>
                        </m:e>
                      </m:d>
                      <m:r>
                        <a:rPr lang="it-IT" b="0" i="1" smtClean="0">
                          <a:latin typeface="Cambria Math" panose="02040503050406030204" pitchFamily="18" charset="0"/>
                        </a:rPr>
                        <m:t>−</m:t>
                      </m:r>
                      <m:acc>
                        <m:accPr>
                          <m:chr m:val="̇"/>
                          <m:ctrlPr>
                            <a:rPr lang="it-IT" b="0" i="1" smtClean="0">
                              <a:latin typeface="Cambria Math" panose="02040503050406030204" pitchFamily="18" charset="0"/>
                            </a:rPr>
                          </m:ctrlPr>
                        </m:accPr>
                        <m:e>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e>
                      </m:acc>
                      <m:d>
                        <m:dPr>
                          <m:ctrlPr>
                            <a:rPr lang="it-IT" b="0" i="1" smtClean="0">
                              <a:latin typeface="Cambria Math" panose="02040503050406030204" pitchFamily="18" charset="0"/>
                            </a:rPr>
                          </m:ctrlPr>
                        </m:dPr>
                        <m:e>
                          <m:r>
                            <a:rPr lang="it-IT" b="0" i="1" smtClean="0">
                              <a:latin typeface="Cambria Math" panose="02040503050406030204" pitchFamily="18" charset="0"/>
                            </a:rPr>
                            <m:t>𝑡</m:t>
                          </m:r>
                        </m:e>
                      </m:d>
                    </m:oMath>
                  </m:oMathPara>
                </a14:m>
                <a:endParaRPr lang="it-IT" b="0" dirty="0"/>
              </a:p>
              <a:p>
                <a:pPr marL="0" indent="0" algn="just">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                                                   </m:t>
                      </m:r>
                      <m:r>
                        <a:rPr lang="it-IT" i="1">
                          <a:latin typeface="Cambria Math" panose="02040503050406030204" pitchFamily="18" charset="0"/>
                        </a:rPr>
                        <m:t>=</m:t>
                      </m:r>
                      <m:r>
                        <a:rPr lang="it-IT" i="1">
                          <a:latin typeface="Cambria Math"/>
                        </a:rPr>
                        <m:t>𝐴𝑥</m:t>
                      </m:r>
                      <m:d>
                        <m:dPr>
                          <m:ctrlPr>
                            <a:rPr lang="it-IT" i="1">
                              <a:latin typeface="Cambria Math" panose="02040503050406030204" pitchFamily="18" charset="0"/>
                            </a:rPr>
                          </m:ctrlPr>
                        </m:dPr>
                        <m:e>
                          <m:r>
                            <a:rPr lang="it-IT" i="1">
                              <a:latin typeface="Cambria Math"/>
                            </a:rPr>
                            <m:t>𝑡</m:t>
                          </m:r>
                        </m:e>
                      </m:d>
                      <m:r>
                        <a:rPr lang="it-IT" i="1">
                          <a:latin typeface="Cambria Math"/>
                        </a:rPr>
                        <m:t>+</m:t>
                      </m:r>
                      <m:r>
                        <a:rPr lang="it-IT" i="1">
                          <a:latin typeface="Cambria Math"/>
                        </a:rPr>
                        <m:t>𝐵𝑢</m:t>
                      </m:r>
                      <m:d>
                        <m:dPr>
                          <m:ctrlPr>
                            <a:rPr lang="it-IT" i="1">
                              <a:latin typeface="Cambria Math" panose="02040503050406030204" pitchFamily="18" charset="0"/>
                            </a:rPr>
                          </m:ctrlPr>
                        </m:dPr>
                        <m:e>
                          <m:r>
                            <a:rPr lang="it-IT" i="1">
                              <a:latin typeface="Cambria Math"/>
                            </a:rPr>
                            <m:t>𝑡</m:t>
                          </m:r>
                        </m:e>
                      </m:d>
                      <m:r>
                        <a:rPr lang="it-IT" i="1">
                          <a:latin typeface="Cambria Math" panose="02040503050406030204" pitchFamily="18" charset="0"/>
                        </a:rPr>
                        <m:t>−</m:t>
                      </m:r>
                      <m:r>
                        <a:rPr lang="it-IT" i="1">
                          <a:latin typeface="Cambria Math"/>
                        </a:rPr>
                        <m:t>𝐴</m:t>
                      </m:r>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d>
                        <m:dPr>
                          <m:ctrlPr>
                            <a:rPr lang="it-IT" i="1">
                              <a:latin typeface="Cambria Math" panose="02040503050406030204" pitchFamily="18" charset="0"/>
                            </a:rPr>
                          </m:ctrlPr>
                        </m:dPr>
                        <m:e>
                          <m:r>
                            <a:rPr lang="it-IT" i="1">
                              <a:latin typeface="Cambria Math"/>
                            </a:rPr>
                            <m:t>𝑡</m:t>
                          </m:r>
                        </m:e>
                      </m:d>
                      <m:r>
                        <a:rPr lang="it-IT" b="0" i="1" smtClean="0">
                          <a:latin typeface="Cambria Math" panose="02040503050406030204" pitchFamily="18" charset="0"/>
                        </a:rPr>
                        <m:t>−</m:t>
                      </m:r>
                      <m:r>
                        <a:rPr lang="it-IT" i="1">
                          <a:latin typeface="Cambria Math"/>
                        </a:rPr>
                        <m:t>𝐵𝑢</m:t>
                      </m:r>
                      <m:d>
                        <m:dPr>
                          <m:ctrlPr>
                            <a:rPr lang="it-IT" i="1">
                              <a:latin typeface="Cambria Math" panose="02040503050406030204" pitchFamily="18" charset="0"/>
                            </a:rPr>
                          </m:ctrlPr>
                        </m:dPr>
                        <m:e>
                          <m:r>
                            <a:rPr lang="it-IT" i="1">
                              <a:latin typeface="Cambria Math"/>
                            </a:rPr>
                            <m:t>𝑡</m:t>
                          </m:r>
                        </m:e>
                      </m:d>
                    </m:oMath>
                  </m:oMathPara>
                </a14:m>
                <a:endParaRPr lang="it-IT" i="1" dirty="0">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r>
                        <a:rPr lang="it-IT" i="1">
                          <a:latin typeface="Cambria Math"/>
                        </a:rPr>
                        <m:t>𝐴</m:t>
                      </m:r>
                      <m:r>
                        <a:rPr lang="it-IT" b="0" i="1" smtClean="0">
                          <a:latin typeface="Cambria Math" panose="02040503050406030204" pitchFamily="18" charset="0"/>
                        </a:rPr>
                        <m:t>𝑒</m:t>
                      </m:r>
                      <m:d>
                        <m:dPr>
                          <m:ctrlPr>
                            <a:rPr lang="it-IT" i="1">
                              <a:latin typeface="Cambria Math" panose="02040503050406030204" pitchFamily="18" charset="0"/>
                            </a:rPr>
                          </m:ctrlPr>
                        </m:dPr>
                        <m:e>
                          <m:r>
                            <a:rPr lang="it-IT" i="1">
                              <a:latin typeface="Cambria Math"/>
                            </a:rPr>
                            <m:t>𝑡</m:t>
                          </m:r>
                        </m:e>
                      </m:d>
                    </m:oMath>
                  </m:oMathPara>
                </a14:m>
                <a:endParaRPr lang="it-IT" b="0" dirty="0"/>
              </a:p>
              <a:p>
                <a:pPr algn="just"/>
                <a:r>
                  <a:rPr lang="it-IT" dirty="0"/>
                  <a:t>L’errore di stima evolve secondo le dinamiche del sistema</a:t>
                </a:r>
              </a:p>
              <a:p>
                <a:pPr algn="just"/>
                <a:endParaRPr lang="it-IT" dirty="0"/>
              </a:p>
              <a:p>
                <a:pPr algn="just"/>
                <a:r>
                  <a:rPr lang="it-IT" dirty="0"/>
                  <a:t>Nel caso il sistema presenta modi di evoluzione divergenti, anche l’errore di stima risulta divergente</a:t>
                </a:r>
              </a:p>
              <a:p>
                <a:pPr algn="just"/>
                <a:endParaRPr lang="it-IT" dirty="0"/>
              </a:p>
              <a:p>
                <a:pPr algn="just"/>
                <a:r>
                  <a:rPr lang="it-IT" dirty="0"/>
                  <a:t>Anche nel caso di tutti modi convergenti, l’errore di stima tenderà a zero con le costanti di tempo del sistema </a:t>
                </a:r>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3" t="-452" r="-577" b="-226"/>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5</a:t>
            </a:fld>
            <a:endParaRPr lang="en-US"/>
          </a:p>
        </p:txBody>
      </p:sp>
    </p:spTree>
    <p:extLst>
      <p:ext uri="{BB962C8B-B14F-4D97-AF65-F5344CB8AC3E}">
        <p14:creationId xmlns:p14="http://schemas.microsoft.com/office/powerpoint/2010/main" val="2363862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Osservatore di </a:t>
            </a:r>
            <a:r>
              <a:rPr lang="it-IT" dirty="0" err="1"/>
              <a:t>Luemberger</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r>
                  <a:rPr lang="it-IT" dirty="0"/>
                  <a:t>Il problema dell’osservatore banale risiede nel fatto che esso non utilizza tutte le informazioni a disposizione; in particolare non fa uso della conoscenza dell’uscita del sistema. </a:t>
                </a:r>
              </a:p>
              <a:p>
                <a:r>
                  <a:rPr lang="it-IT" b="1" dirty="0">
                    <a:solidFill>
                      <a:schemeClr val="accent2"/>
                    </a:solidFill>
                  </a:rPr>
                  <a:t>L’osservatore di </a:t>
                </a:r>
                <a:r>
                  <a:rPr lang="it-IT" b="1" dirty="0" err="1">
                    <a:solidFill>
                      <a:schemeClr val="accent2"/>
                    </a:solidFill>
                  </a:rPr>
                  <a:t>Luemberger</a:t>
                </a:r>
                <a:r>
                  <a:rPr lang="it-IT" b="1" dirty="0">
                    <a:solidFill>
                      <a:schemeClr val="accent2"/>
                    </a:solidFill>
                  </a:rPr>
                  <a:t> </a:t>
                </a:r>
                <a:r>
                  <a:rPr lang="it-IT" dirty="0"/>
                  <a:t>viene definito come</a:t>
                </a:r>
              </a:p>
              <a:p>
                <a:pPr marL="0" indent="0">
                  <a:buNone/>
                </a:pPr>
                <a14:m>
                  <m:oMathPara xmlns:m="http://schemas.openxmlformats.org/officeDocument/2006/math">
                    <m:oMathParaPr>
                      <m:jc m:val="centerGroup"/>
                    </m:oMathParaPr>
                    <m:oMath xmlns:m="http://schemas.openxmlformats.org/officeDocument/2006/math">
                      <m:acc>
                        <m:accPr>
                          <m:chr m:val="̇"/>
                          <m:ctrlPr>
                            <a:rPr lang="it-IT" i="1">
                              <a:latin typeface="Cambria Math" panose="02040503050406030204" pitchFamily="18" charset="0"/>
                            </a:rPr>
                          </m:ctrlPr>
                        </m:accPr>
                        <m:e>
                          <m:acc>
                            <m:accPr>
                              <m:chr m:val="̃"/>
                              <m:ctrlPr>
                                <a:rPr lang="it-IT" i="1">
                                  <a:latin typeface="Cambria Math" panose="02040503050406030204" pitchFamily="18" charset="0"/>
                                </a:rPr>
                              </m:ctrlPr>
                            </m:accPr>
                            <m:e>
                              <m:r>
                                <a:rPr lang="it-IT" i="1">
                                  <a:latin typeface="Cambria Math"/>
                                </a:rPr>
                                <m:t>𝑥</m:t>
                              </m:r>
                            </m:e>
                          </m:acc>
                        </m:e>
                      </m:acc>
                      <m:d>
                        <m:dPr>
                          <m:ctrlPr>
                            <a:rPr lang="it-IT" i="1">
                              <a:latin typeface="Cambria Math" panose="02040503050406030204" pitchFamily="18" charset="0"/>
                            </a:rPr>
                          </m:ctrlPr>
                        </m:dPr>
                        <m:e>
                          <m:r>
                            <a:rPr lang="it-IT" i="1">
                              <a:latin typeface="Cambria Math"/>
                            </a:rPr>
                            <m:t>𝑡</m:t>
                          </m:r>
                        </m:e>
                      </m:d>
                      <m:r>
                        <a:rPr lang="it-IT" i="1">
                          <a:latin typeface="Cambria Math"/>
                        </a:rPr>
                        <m:t>= </m:t>
                      </m:r>
                      <m:r>
                        <a:rPr lang="it-IT" i="1">
                          <a:latin typeface="Cambria Math"/>
                        </a:rPr>
                        <m:t>𝐴</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a:rPr lang="it-IT" i="1">
                          <a:latin typeface="Cambria Math"/>
                        </a:rPr>
                        <m:t>+</m:t>
                      </m:r>
                      <m:r>
                        <a:rPr lang="it-IT" i="1">
                          <a:latin typeface="Cambria Math"/>
                        </a:rPr>
                        <m:t>𝐵𝑢</m:t>
                      </m:r>
                      <m:d>
                        <m:dPr>
                          <m:ctrlPr>
                            <a:rPr lang="it-IT" i="1">
                              <a:latin typeface="Cambria Math" panose="02040503050406030204" pitchFamily="18" charset="0"/>
                            </a:rPr>
                          </m:ctrlPr>
                        </m:dPr>
                        <m:e>
                          <m:r>
                            <a:rPr lang="it-IT" i="1">
                              <a:latin typeface="Cambria Math"/>
                            </a:rPr>
                            <m:t>𝑡</m:t>
                          </m:r>
                        </m:e>
                      </m:d>
                      <m:r>
                        <m:rPr>
                          <m:nor/>
                        </m:rPr>
                        <a:rPr lang="it-IT" b="0" i="1" smtClean="0">
                          <a:latin typeface="Cambria Math" panose="02040503050406030204" pitchFamily="18" charset="0"/>
                        </a:rPr>
                        <m:t>+</m:t>
                      </m:r>
                      <m:r>
                        <m:rPr>
                          <m:nor/>
                        </m:rPr>
                        <a:rPr lang="it-IT" b="0" i="1" smtClean="0">
                          <a:latin typeface="Cambria Math" panose="02040503050406030204" pitchFamily="18" charset="0"/>
                        </a:rPr>
                        <m:t>G</m:t>
                      </m:r>
                      <m:d>
                        <m:dPr>
                          <m:ctrlPr>
                            <a:rPr lang="it-IT" b="0" i="1" smtClean="0">
                              <a:latin typeface="Cambria Math" panose="02040503050406030204" pitchFamily="18" charset="0"/>
                            </a:rPr>
                          </m:ctrlPr>
                        </m:dPr>
                        <m:e>
                          <m:r>
                            <m:rPr>
                              <m:nor/>
                            </m:rPr>
                            <a:rPr lang="it-IT" i="1">
                              <a:latin typeface="Cambria Math" panose="02040503050406030204" pitchFamily="18" charset="0"/>
                            </a:rPr>
                            <m:t>y</m:t>
                          </m:r>
                          <m:r>
                            <m:rPr>
                              <m:nor/>
                            </m:rPr>
                            <a:rPr lang="it-IT" i="1">
                              <a:latin typeface="Cambria Math" panose="02040503050406030204" pitchFamily="18" charset="0"/>
                            </a:rPr>
                            <m:t>(</m:t>
                          </m:r>
                          <m:r>
                            <m:rPr>
                              <m:nor/>
                            </m:rPr>
                            <a:rPr lang="it-IT" i="1">
                              <a:latin typeface="Cambria Math" panose="02040503050406030204" pitchFamily="18" charset="0"/>
                            </a:rPr>
                            <m:t>t</m:t>
                          </m:r>
                          <m:r>
                            <m:rPr>
                              <m:nor/>
                            </m:rPr>
                            <a:rPr lang="it-IT" i="1">
                              <a:latin typeface="Cambria Math" panose="02040503050406030204" pitchFamily="18" charset="0"/>
                            </a:rPr>
                            <m:t>)−</m:t>
                          </m:r>
                          <m:r>
                            <m:rPr>
                              <m:nor/>
                            </m:rPr>
                            <a:rPr lang="it-IT" i="1">
                              <a:latin typeface="Cambria Math" panose="02040503050406030204" pitchFamily="18" charset="0"/>
                            </a:rPr>
                            <m:t>C</m:t>
                          </m:r>
                          <m:r>
                            <a:rPr lang="it-IT" i="1">
                              <a:latin typeface="Cambria Math" panose="02040503050406030204" pitchFamily="18" charset="0"/>
                            </a:rPr>
                            <m:t> </m:t>
                          </m:r>
                          <m:acc>
                            <m:accPr>
                              <m:chr m:val="̃"/>
                              <m:ctrlPr>
                                <a:rPr lang="it-IT" i="1">
                                  <a:latin typeface="Cambria Math" panose="02040503050406030204" pitchFamily="18" charset="0"/>
                                </a:rPr>
                              </m:ctrlPr>
                            </m:accPr>
                            <m:e>
                              <m:r>
                                <a:rPr lang="it-IT" i="1">
                                  <a:latin typeface="Cambria Math"/>
                                </a:rPr>
                                <m:t>𝑥</m:t>
                              </m:r>
                            </m:e>
                          </m:acc>
                          <m:r>
                            <a:rPr lang="it-IT" i="1" dirty="0">
                              <a:latin typeface="Cambria Math" panose="02040503050406030204" pitchFamily="18" charset="0"/>
                            </a:rPr>
                            <m:t>(</m:t>
                          </m:r>
                          <m:r>
                            <a:rPr lang="it-IT" i="1" dirty="0">
                              <a:latin typeface="Cambria Math" panose="02040503050406030204" pitchFamily="18" charset="0"/>
                            </a:rPr>
                            <m:t>𝑡</m:t>
                          </m:r>
                          <m:r>
                            <a:rPr lang="it-IT" i="1" dirty="0">
                              <a:latin typeface="Cambria Math" panose="02040503050406030204" pitchFamily="18" charset="0"/>
                            </a:rPr>
                            <m:t>)</m:t>
                          </m:r>
                        </m:e>
                      </m:d>
                      <m:r>
                        <m:rPr>
                          <m:nor/>
                        </m:rPr>
                        <a:rPr lang="it-IT" i="1">
                          <a:latin typeface="Cambria Math"/>
                        </a:rPr>
                        <m:t>, </m:t>
                      </m:r>
                      <m:r>
                        <m:rPr>
                          <m:nor/>
                        </m:rPr>
                        <a:rPr lang="it-IT" i="1"/>
                        <m:t>   </m:t>
                      </m:r>
                      <m:r>
                        <a:rPr lang="it-IT" i="1">
                          <a:latin typeface="Cambria Math"/>
                        </a:rPr>
                        <m:t>𝑥</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a:rPr>
                                <m:t>𝑡</m:t>
                              </m:r>
                            </m:e>
                            <m:sub>
                              <m:r>
                                <a:rPr lang="it-IT" i="1">
                                  <a:latin typeface="Cambria Math"/>
                                </a:rPr>
                                <m:t>0</m:t>
                              </m:r>
                            </m:sub>
                          </m:sSub>
                        </m:e>
                      </m:d>
                      <m:r>
                        <a:rPr lang="it-IT" i="1">
                          <a:latin typeface="Cambria Math"/>
                        </a:rPr>
                        <m:t>=</m:t>
                      </m:r>
                      <m:sSub>
                        <m:sSubPr>
                          <m:ctrlPr>
                            <a:rPr lang="it-IT" i="1" dirty="0">
                              <a:latin typeface="Cambria Math" panose="02040503050406030204" pitchFamily="18" charset="0"/>
                            </a:rPr>
                          </m:ctrlPr>
                        </m:sSubPr>
                        <m:e>
                          <m:acc>
                            <m:accPr>
                              <m:chr m:val="̃"/>
                              <m:ctrlPr>
                                <a:rPr lang="it-IT" i="1">
                                  <a:latin typeface="Cambria Math" panose="02040503050406030204" pitchFamily="18" charset="0"/>
                                </a:rPr>
                              </m:ctrlPr>
                            </m:accPr>
                            <m:e>
                              <m:r>
                                <a:rPr lang="it-IT" i="1">
                                  <a:latin typeface="Cambria Math" panose="02040503050406030204" pitchFamily="18" charset="0"/>
                                </a:rPr>
                                <m:t>𝑥</m:t>
                              </m:r>
                            </m:e>
                          </m:acc>
                        </m:e>
                        <m:sub>
                          <m:r>
                            <a:rPr lang="it-IT" i="1" dirty="0">
                              <a:latin typeface="Cambria Math" panose="02040503050406030204" pitchFamily="18" charset="0"/>
                            </a:rPr>
                            <m:t>0</m:t>
                          </m:r>
                        </m:sub>
                      </m:sSub>
                    </m:oMath>
                  </m:oMathPara>
                </a14:m>
                <a:endParaRPr lang="it-IT" dirty="0"/>
              </a:p>
              <a:p>
                <a:r>
                  <a:rPr lang="it-IT" dirty="0"/>
                  <a:t>L’</a:t>
                </a:r>
                <a:r>
                  <a:rPr lang="it-IT" dirty="0" err="1"/>
                  <a:t>ossevatore</a:t>
                </a:r>
                <a:r>
                  <a:rPr lang="it-IT" dirty="0"/>
                  <a:t> di </a:t>
                </a:r>
                <a:r>
                  <a:rPr lang="it-IT" dirty="0" err="1"/>
                  <a:t>Luemberger</a:t>
                </a:r>
                <a:r>
                  <a:rPr lang="it-IT" dirty="0"/>
                  <a:t> prevede un termine correttivo per la stima dello stato dipendente dalla differenza tra l’uscita misurata e l’uscita stimata.</a:t>
                </a:r>
              </a:p>
              <a:p>
                <a:r>
                  <a:rPr lang="it-IT" dirty="0"/>
                  <a:t>L’errore di stima in questo caso evolve come</a:t>
                </a:r>
              </a:p>
              <a:p>
                <a:pPr marL="0" indent="0" algn="just">
                  <a:buNone/>
                </a:pPr>
                <a14:m>
                  <m:oMath xmlns:m="http://schemas.openxmlformats.org/officeDocument/2006/math">
                    <m:r>
                      <a:rPr lang="it-IT" b="0" i="1" smtClean="0">
                        <a:latin typeface="Cambria Math" panose="02040503050406030204" pitchFamily="18" charset="0"/>
                      </a:rPr>
                      <m:t>                                        </m:t>
                    </m:r>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𝑒</m:t>
                        </m:r>
                      </m:e>
                    </m:acc>
                    <m:d>
                      <m:dPr>
                        <m:ctrlPr>
                          <a:rPr lang="it-IT" b="0" i="1" smtClean="0">
                            <a:latin typeface="Cambria Math" panose="02040503050406030204" pitchFamily="18" charset="0"/>
                          </a:rPr>
                        </m:ctrlPr>
                      </m:dPr>
                      <m:e>
                        <m:r>
                          <a:rPr lang="it-IT" b="0" i="1" smtClean="0">
                            <a:latin typeface="Cambria Math" panose="02040503050406030204" pitchFamily="18" charset="0"/>
                          </a:rPr>
                          <m:t>𝑡</m:t>
                        </m:r>
                      </m:e>
                    </m:d>
                    <m:r>
                      <a:rPr lang="it-IT" b="0" i="1" smtClean="0">
                        <a:latin typeface="Cambria Math" panose="02040503050406030204" pitchFamily="18" charset="0"/>
                      </a:rPr>
                      <m:t>   =</m:t>
                    </m:r>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d>
                      <m:dPr>
                        <m:ctrlPr>
                          <a:rPr lang="it-IT" b="0" i="1" smtClean="0">
                            <a:latin typeface="Cambria Math" panose="02040503050406030204" pitchFamily="18" charset="0"/>
                          </a:rPr>
                        </m:ctrlPr>
                      </m:dPr>
                      <m:e>
                        <m:r>
                          <a:rPr lang="it-IT" b="0" i="1" smtClean="0">
                            <a:latin typeface="Cambria Math" panose="02040503050406030204" pitchFamily="18" charset="0"/>
                          </a:rPr>
                          <m:t>𝑡</m:t>
                        </m:r>
                      </m:e>
                    </m:d>
                    <m:r>
                      <a:rPr lang="it-IT" b="0" i="1" smtClean="0">
                        <a:latin typeface="Cambria Math" panose="02040503050406030204" pitchFamily="18" charset="0"/>
                      </a:rPr>
                      <m:t>−</m:t>
                    </m:r>
                    <m:acc>
                      <m:accPr>
                        <m:chr m:val="̇"/>
                        <m:ctrlPr>
                          <a:rPr lang="it-IT" b="0" i="1" smtClean="0">
                            <a:latin typeface="Cambria Math" panose="02040503050406030204" pitchFamily="18" charset="0"/>
                          </a:rPr>
                        </m:ctrlPr>
                      </m:accPr>
                      <m:e>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e>
                    </m:acc>
                    <m:d>
                      <m:dPr>
                        <m:ctrlPr>
                          <a:rPr lang="it-IT" b="0" i="1" smtClean="0">
                            <a:latin typeface="Cambria Math" panose="02040503050406030204" pitchFamily="18" charset="0"/>
                          </a:rPr>
                        </m:ctrlPr>
                      </m:dPr>
                      <m:e>
                        <m:r>
                          <a:rPr lang="it-IT" b="0" i="1" smtClean="0">
                            <a:latin typeface="Cambria Math" panose="02040503050406030204" pitchFamily="18" charset="0"/>
                          </a:rPr>
                          <m:t>𝑡</m:t>
                        </m:r>
                      </m:e>
                    </m:d>
                  </m:oMath>
                </a14:m>
                <a:r>
                  <a:rPr lang="it-IT" b="0" dirty="0"/>
                  <a:t> </a:t>
                </a:r>
              </a:p>
              <a:p>
                <a:pPr marL="0" indent="0" algn="just">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                                               </m:t>
                      </m:r>
                      <m:r>
                        <a:rPr lang="it-IT" i="1">
                          <a:latin typeface="Cambria Math" panose="02040503050406030204" pitchFamily="18" charset="0"/>
                        </a:rPr>
                        <m:t>=</m:t>
                      </m:r>
                      <m:r>
                        <a:rPr lang="it-IT" i="1">
                          <a:latin typeface="Cambria Math"/>
                        </a:rPr>
                        <m:t>𝐴𝑥</m:t>
                      </m:r>
                      <m:d>
                        <m:dPr>
                          <m:ctrlPr>
                            <a:rPr lang="it-IT" i="1">
                              <a:latin typeface="Cambria Math" panose="02040503050406030204" pitchFamily="18" charset="0"/>
                            </a:rPr>
                          </m:ctrlPr>
                        </m:dPr>
                        <m:e>
                          <m:r>
                            <a:rPr lang="it-IT" i="1">
                              <a:latin typeface="Cambria Math"/>
                            </a:rPr>
                            <m:t>𝑡</m:t>
                          </m:r>
                        </m:e>
                      </m:d>
                      <m:r>
                        <a:rPr lang="it-IT" i="1">
                          <a:latin typeface="Cambria Math"/>
                        </a:rPr>
                        <m:t>+</m:t>
                      </m:r>
                      <m:r>
                        <a:rPr lang="it-IT" i="1">
                          <a:latin typeface="Cambria Math"/>
                        </a:rPr>
                        <m:t>𝐵𝑢</m:t>
                      </m:r>
                      <m:d>
                        <m:dPr>
                          <m:ctrlPr>
                            <a:rPr lang="it-IT" i="1">
                              <a:latin typeface="Cambria Math" panose="02040503050406030204" pitchFamily="18" charset="0"/>
                            </a:rPr>
                          </m:ctrlPr>
                        </m:dPr>
                        <m:e>
                          <m:r>
                            <a:rPr lang="it-IT" i="1">
                              <a:latin typeface="Cambria Math"/>
                            </a:rPr>
                            <m:t>𝑡</m:t>
                          </m:r>
                        </m:e>
                      </m:d>
                      <m:r>
                        <a:rPr lang="it-IT" i="1">
                          <a:latin typeface="Cambria Math" panose="02040503050406030204" pitchFamily="18" charset="0"/>
                        </a:rPr>
                        <m:t>−</m:t>
                      </m:r>
                      <m:r>
                        <a:rPr lang="it-IT" i="1">
                          <a:latin typeface="Cambria Math"/>
                        </a:rPr>
                        <m:t>𝐴</m:t>
                      </m:r>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d>
                        <m:dPr>
                          <m:ctrlPr>
                            <a:rPr lang="it-IT" i="1">
                              <a:latin typeface="Cambria Math" panose="02040503050406030204" pitchFamily="18" charset="0"/>
                            </a:rPr>
                          </m:ctrlPr>
                        </m:dPr>
                        <m:e>
                          <m:r>
                            <a:rPr lang="it-IT" i="1">
                              <a:latin typeface="Cambria Math"/>
                            </a:rPr>
                            <m:t>𝑡</m:t>
                          </m:r>
                        </m:e>
                      </m:d>
                      <m:r>
                        <a:rPr lang="it-IT" b="0" i="1" smtClean="0">
                          <a:latin typeface="Cambria Math" panose="02040503050406030204" pitchFamily="18" charset="0"/>
                        </a:rPr>
                        <m:t>−</m:t>
                      </m:r>
                      <m:r>
                        <a:rPr lang="it-IT" i="1">
                          <a:latin typeface="Cambria Math"/>
                        </a:rPr>
                        <m:t>𝐵𝑢</m:t>
                      </m:r>
                      <m:d>
                        <m:dPr>
                          <m:ctrlPr>
                            <a:rPr lang="it-IT" i="1">
                              <a:latin typeface="Cambria Math" panose="02040503050406030204" pitchFamily="18" charset="0"/>
                            </a:rPr>
                          </m:ctrlPr>
                        </m:dPr>
                        <m:e>
                          <m:r>
                            <a:rPr lang="it-IT" i="1">
                              <a:latin typeface="Cambria Math"/>
                            </a:rPr>
                            <m:t>𝑡</m:t>
                          </m:r>
                        </m:e>
                      </m:d>
                      <m:r>
                        <m:rPr>
                          <m:nor/>
                        </m:rPr>
                        <a:rPr lang="it-IT" i="1" dirty="0" smtClean="0">
                          <a:latin typeface="Cambria Math" panose="02040503050406030204" pitchFamily="18" charset="0"/>
                        </a:rPr>
                        <m:t>−</m:t>
                      </m:r>
                      <m:r>
                        <m:rPr>
                          <m:nor/>
                        </m:rPr>
                        <a:rPr lang="it-IT" i="1">
                          <a:latin typeface="Cambria Math" panose="02040503050406030204" pitchFamily="18" charset="0"/>
                        </a:rPr>
                        <m:t>G</m:t>
                      </m:r>
                      <m:d>
                        <m:dPr>
                          <m:ctrlPr>
                            <a:rPr lang="it-IT" i="1">
                              <a:latin typeface="Cambria Math" panose="02040503050406030204" pitchFamily="18" charset="0"/>
                            </a:rPr>
                          </m:ctrlPr>
                        </m:dPr>
                        <m:e>
                          <m:r>
                            <m:rPr>
                              <m:nor/>
                            </m:rPr>
                            <a:rPr lang="it-IT" i="1">
                              <a:latin typeface="Cambria Math" panose="02040503050406030204" pitchFamily="18" charset="0"/>
                            </a:rPr>
                            <m:t>y</m:t>
                          </m:r>
                          <m:r>
                            <m:rPr>
                              <m:nor/>
                            </m:rPr>
                            <a:rPr lang="it-IT" i="1">
                              <a:latin typeface="Cambria Math" panose="02040503050406030204" pitchFamily="18" charset="0"/>
                            </a:rPr>
                            <m:t>(</m:t>
                          </m:r>
                          <m:r>
                            <m:rPr>
                              <m:nor/>
                            </m:rPr>
                            <a:rPr lang="it-IT" i="1">
                              <a:latin typeface="Cambria Math" panose="02040503050406030204" pitchFamily="18" charset="0"/>
                            </a:rPr>
                            <m:t>t</m:t>
                          </m:r>
                          <m:r>
                            <m:rPr>
                              <m:nor/>
                            </m:rPr>
                            <a:rPr lang="it-IT" i="1">
                              <a:latin typeface="Cambria Math" panose="02040503050406030204" pitchFamily="18" charset="0"/>
                            </a:rPr>
                            <m:t>)−</m:t>
                          </m:r>
                          <m:r>
                            <m:rPr>
                              <m:nor/>
                            </m:rPr>
                            <a:rPr lang="it-IT" i="1">
                              <a:latin typeface="Cambria Math" panose="02040503050406030204" pitchFamily="18" charset="0"/>
                            </a:rPr>
                            <m:t>C</m:t>
                          </m:r>
                          <m:r>
                            <a:rPr lang="it-IT" i="1">
                              <a:latin typeface="Cambria Math" panose="02040503050406030204" pitchFamily="18" charset="0"/>
                            </a:rPr>
                            <m:t> </m:t>
                          </m:r>
                          <m:acc>
                            <m:accPr>
                              <m:chr m:val="̃"/>
                              <m:ctrlPr>
                                <a:rPr lang="it-IT" i="1">
                                  <a:latin typeface="Cambria Math" panose="02040503050406030204" pitchFamily="18" charset="0"/>
                                </a:rPr>
                              </m:ctrlPr>
                            </m:accPr>
                            <m:e>
                              <m:r>
                                <a:rPr lang="it-IT" i="1">
                                  <a:latin typeface="Cambria Math"/>
                                </a:rPr>
                                <m:t>𝑥</m:t>
                              </m:r>
                            </m:e>
                          </m:acc>
                          <m:d>
                            <m:dPr>
                              <m:ctrlPr>
                                <a:rPr lang="it-IT" i="1" dirty="0">
                                  <a:latin typeface="Cambria Math" panose="02040503050406030204" pitchFamily="18" charset="0"/>
                                </a:rPr>
                              </m:ctrlPr>
                            </m:dPr>
                            <m:e>
                              <m:r>
                                <a:rPr lang="it-IT" i="1" dirty="0">
                                  <a:latin typeface="Cambria Math" panose="02040503050406030204" pitchFamily="18" charset="0"/>
                                </a:rPr>
                                <m:t>𝑡</m:t>
                              </m:r>
                            </m:e>
                          </m:d>
                        </m:e>
                      </m:d>
                    </m:oMath>
                  </m:oMathPara>
                </a14:m>
                <a:endParaRPr lang="it-IT" b="0" dirty="0"/>
              </a:p>
              <a:p>
                <a:pPr marL="0" indent="0" algn="just">
                  <a:buNone/>
                </a:pPr>
                <a14:m>
                  <m:oMath xmlns:m="http://schemas.openxmlformats.org/officeDocument/2006/math">
                    <m:r>
                      <a:rPr lang="it-IT" b="0" i="1" smtClean="0">
                        <a:latin typeface="Cambria Math" panose="02040503050406030204" pitchFamily="18" charset="0"/>
                      </a:rPr>
                      <m:t>                                                    </m:t>
                    </m:r>
                    <m:r>
                      <a:rPr lang="it-IT" i="1">
                        <a:latin typeface="Cambria Math" panose="02040503050406030204" pitchFamily="18" charset="0"/>
                      </a:rPr>
                      <m:t>=</m:t>
                    </m:r>
                    <m:r>
                      <a:rPr lang="it-IT" b="0" i="1" smtClean="0">
                        <a:latin typeface="Cambria Math" panose="02040503050406030204" pitchFamily="18" charset="0"/>
                      </a:rPr>
                      <m:t>(</m:t>
                    </m:r>
                    <m:r>
                      <a:rPr lang="it-IT" i="1">
                        <a:latin typeface="Cambria Math"/>
                      </a:rPr>
                      <m:t>𝐴</m:t>
                    </m:r>
                    <m:r>
                      <a:rPr lang="it-IT" b="0" i="1" smtClean="0">
                        <a:latin typeface="Cambria Math" panose="02040503050406030204" pitchFamily="18" charset="0"/>
                      </a:rPr>
                      <m:t>−</m:t>
                    </m:r>
                    <m:r>
                      <a:rPr lang="it-IT" b="0" i="1" smtClean="0">
                        <a:latin typeface="Cambria Math" panose="02040503050406030204" pitchFamily="18" charset="0"/>
                      </a:rPr>
                      <m:t>𝐺𝐶</m:t>
                    </m:r>
                    <m:r>
                      <a:rPr lang="it-IT" b="0" i="1" smtClean="0">
                        <a:latin typeface="Cambria Math" panose="02040503050406030204" pitchFamily="18" charset="0"/>
                      </a:rPr>
                      <m:t>)</m:t>
                    </m:r>
                    <m:r>
                      <a:rPr lang="it-IT" i="1">
                        <a:latin typeface="Cambria Math" panose="02040503050406030204" pitchFamily="18" charset="0"/>
                      </a:rPr>
                      <m:t>𝑒</m:t>
                    </m:r>
                    <m:d>
                      <m:dPr>
                        <m:ctrlPr>
                          <a:rPr lang="it-IT" i="1">
                            <a:latin typeface="Cambria Math" panose="02040503050406030204" pitchFamily="18" charset="0"/>
                          </a:rPr>
                        </m:ctrlPr>
                      </m:dPr>
                      <m:e>
                        <m:r>
                          <a:rPr lang="it-IT" i="1">
                            <a:latin typeface="Cambria Math"/>
                          </a:rPr>
                          <m:t>𝑡</m:t>
                        </m:r>
                      </m:e>
                    </m:d>
                  </m:oMath>
                </a14:m>
                <a:r>
                  <a:rPr lang="it-IT" b="0" dirty="0"/>
                  <a:t> </a:t>
                </a:r>
              </a:p>
              <a:p>
                <a:pPr algn="just"/>
                <a:r>
                  <a:rPr lang="it-IT" dirty="0"/>
                  <a:t>La dinamica dell’errore risulta influenzata dalla matrice di guadagno </a:t>
                </a:r>
                <a14:m>
                  <m:oMath xmlns:m="http://schemas.openxmlformats.org/officeDocument/2006/math">
                    <m:r>
                      <a:rPr lang="it-IT" i="1">
                        <a:latin typeface="Cambria Math" panose="02040503050406030204" pitchFamily="18" charset="0"/>
                      </a:rPr>
                      <m:t>𝐺</m:t>
                    </m:r>
                  </m:oMath>
                </a14:m>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3" t="-452"/>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6</a:t>
            </a:fld>
            <a:endParaRPr lang="en-US"/>
          </a:p>
        </p:txBody>
      </p:sp>
    </p:spTree>
    <p:extLst>
      <p:ext uri="{BB962C8B-B14F-4D97-AF65-F5344CB8AC3E}">
        <p14:creationId xmlns:p14="http://schemas.microsoft.com/office/powerpoint/2010/main" val="2224852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Osservatore di </a:t>
            </a:r>
            <a:r>
              <a:rPr lang="it-IT" dirty="0" err="1"/>
              <a:t>Luemberger</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pPr algn="just"/>
                <a:r>
                  <a:rPr lang="it-IT" dirty="0"/>
                  <a:t>Se si sceglie </a:t>
                </a:r>
                <a14:m>
                  <m:oMath xmlns:m="http://schemas.openxmlformats.org/officeDocument/2006/math">
                    <m:r>
                      <a:rPr lang="it-IT" i="1">
                        <a:latin typeface="Cambria Math" panose="02040503050406030204" pitchFamily="18" charset="0"/>
                      </a:rPr>
                      <m:t>𝐺</m:t>
                    </m:r>
                  </m:oMath>
                </a14:m>
                <a:r>
                  <a:rPr lang="it-IT" i="1" dirty="0"/>
                  <a:t> </a:t>
                </a:r>
                <a:r>
                  <a:rPr lang="it-IT" dirty="0"/>
                  <a:t>in modo tale che la matrice </a:t>
                </a:r>
                <a14:m>
                  <m:oMath xmlns:m="http://schemas.openxmlformats.org/officeDocument/2006/math">
                    <m:r>
                      <a:rPr lang="it-IT" i="1">
                        <a:latin typeface="Cambria Math" panose="02040503050406030204" pitchFamily="18" charset="0"/>
                      </a:rPr>
                      <m:t>(</m:t>
                    </m:r>
                    <m:r>
                      <a:rPr lang="it-IT" i="1">
                        <a:latin typeface="Cambria Math"/>
                      </a:rPr>
                      <m:t>𝐴</m:t>
                    </m:r>
                    <m:r>
                      <a:rPr lang="it-IT" i="1">
                        <a:latin typeface="Cambria Math" panose="02040503050406030204" pitchFamily="18" charset="0"/>
                      </a:rPr>
                      <m:t>−</m:t>
                    </m:r>
                    <m:r>
                      <a:rPr lang="it-IT" i="1">
                        <a:latin typeface="Cambria Math" panose="02040503050406030204" pitchFamily="18" charset="0"/>
                      </a:rPr>
                      <m:t>𝐺𝐶</m:t>
                    </m:r>
                    <m:r>
                      <a:rPr lang="it-IT" i="1">
                        <a:latin typeface="Cambria Math" panose="02040503050406030204" pitchFamily="18" charset="0"/>
                      </a:rPr>
                      <m:t>)</m:t>
                    </m:r>
                  </m:oMath>
                </a14:m>
                <a:r>
                  <a:rPr lang="it-IT" i="1" dirty="0"/>
                  <a:t> </a:t>
                </a:r>
                <a:r>
                  <a:rPr lang="it-IT" dirty="0"/>
                  <a:t>sia asintoticamente stabile, ne deriva che l’errore di stima tende asintoticamente a zero. </a:t>
                </a:r>
              </a:p>
              <a:p>
                <a:pPr algn="just"/>
                <a:r>
                  <a:rPr lang="it-IT" dirty="0"/>
                  <a:t>Ovviamente </a:t>
                </a:r>
                <a:r>
                  <a:rPr lang="it-IT" dirty="0">
                    <a:solidFill>
                      <a:schemeClr val="accent2"/>
                    </a:solidFill>
                  </a:rPr>
                  <a:t>se, come spesso accade, il sistema è già asintoticamente stabile si potrebbe scegliere </a:t>
                </a:r>
                <a14:m>
                  <m:oMath xmlns:m="http://schemas.openxmlformats.org/officeDocument/2006/math">
                    <m:r>
                      <a:rPr lang="it-IT" i="1">
                        <a:solidFill>
                          <a:schemeClr val="accent2"/>
                        </a:solidFill>
                        <a:latin typeface="Cambria Math" panose="02040503050406030204" pitchFamily="18" charset="0"/>
                      </a:rPr>
                      <m:t>𝐺</m:t>
                    </m:r>
                    <m:r>
                      <a:rPr lang="it-IT" b="0" i="1" smtClean="0">
                        <a:solidFill>
                          <a:schemeClr val="accent2"/>
                        </a:solidFill>
                        <a:latin typeface="Cambria Math" panose="02040503050406030204" pitchFamily="18" charset="0"/>
                      </a:rPr>
                      <m:t>=0</m:t>
                    </m:r>
                  </m:oMath>
                </a14:m>
                <a:r>
                  <a:rPr lang="it-IT" dirty="0">
                    <a:solidFill>
                      <a:schemeClr val="accent2"/>
                    </a:solidFill>
                  </a:rPr>
                  <a:t> (caso dell’osservatore banale).</a:t>
                </a:r>
                <a:r>
                  <a:rPr lang="it-IT" dirty="0"/>
                  <a:t> Tuttavia l’errore tenderebbe a zero con le dinamiche del sistema osservato, mentre in genere siamo interessati a garantire una convergenza più rapida. </a:t>
                </a:r>
              </a:p>
              <a:p>
                <a:pPr algn="just"/>
                <a:r>
                  <a:rPr lang="it-IT" dirty="0"/>
                  <a:t>Infatti </a:t>
                </a:r>
                <a:r>
                  <a:rPr lang="it-IT" b="1" dirty="0">
                    <a:solidFill>
                      <a:schemeClr val="accent2"/>
                    </a:solidFill>
                  </a:rPr>
                  <a:t>tipicamente lo stato viene stimato ai fini di generare l’azione di controllo</a:t>
                </a:r>
                <a:r>
                  <a:rPr lang="it-IT" dirty="0"/>
                  <a:t>; allora, dal punto di vista del sistema, </a:t>
                </a:r>
                <a:r>
                  <a:rPr lang="it-IT" dirty="0">
                    <a:solidFill>
                      <a:schemeClr val="accent2"/>
                    </a:solidFill>
                  </a:rPr>
                  <a:t>la stima deve avvenire in tempo rapido </a:t>
                </a:r>
                <a:r>
                  <a:rPr lang="it-IT" dirty="0"/>
                  <a:t>(le costanti di tempo dell’errore devono essere di un ordine di grandezza inferiore a quelle dell’impianto). </a:t>
                </a:r>
              </a:p>
              <a:p>
                <a:pPr algn="just"/>
                <a:r>
                  <a:rPr lang="it-IT" dirty="0"/>
                  <a:t>Tuttavia, un osservatore troppo veloce è più vulnerabile in presenza di rumore di misura. </a:t>
                </a:r>
              </a:p>
              <a:p>
                <a:pPr algn="just"/>
                <a:r>
                  <a:rPr lang="it-IT" dirty="0"/>
                  <a:t>In definitiva, il problema è riconducibile a quello di determinare una matrice </a:t>
                </a:r>
                <a14:m>
                  <m:oMath xmlns:m="http://schemas.openxmlformats.org/officeDocument/2006/math">
                    <m:r>
                      <a:rPr lang="it-IT" i="1" smtClean="0">
                        <a:solidFill>
                          <a:schemeClr val="tx1"/>
                        </a:solidFill>
                        <a:latin typeface="Cambria Math" panose="02040503050406030204" pitchFamily="18" charset="0"/>
                      </a:rPr>
                      <m:t>𝐺</m:t>
                    </m:r>
                  </m:oMath>
                </a14:m>
                <a:r>
                  <a:rPr lang="it-IT" i="1" dirty="0"/>
                  <a:t> </a:t>
                </a:r>
                <a:r>
                  <a:rPr lang="it-IT" dirty="0"/>
                  <a:t>tale che la matrice </a:t>
                </a:r>
                <a14:m>
                  <m:oMath xmlns:m="http://schemas.openxmlformats.org/officeDocument/2006/math">
                    <m:r>
                      <a:rPr lang="it-IT" i="1">
                        <a:latin typeface="Cambria Math" panose="02040503050406030204" pitchFamily="18" charset="0"/>
                      </a:rPr>
                      <m:t>(</m:t>
                    </m:r>
                    <m:r>
                      <a:rPr lang="it-IT" i="1">
                        <a:latin typeface="Cambria Math"/>
                      </a:rPr>
                      <m:t>𝐴</m:t>
                    </m:r>
                    <m:r>
                      <a:rPr lang="it-IT" i="1">
                        <a:latin typeface="Cambria Math" panose="02040503050406030204" pitchFamily="18" charset="0"/>
                      </a:rPr>
                      <m:t>−</m:t>
                    </m:r>
                    <m:r>
                      <a:rPr lang="it-IT" i="1">
                        <a:latin typeface="Cambria Math" panose="02040503050406030204" pitchFamily="18" charset="0"/>
                      </a:rPr>
                      <m:t>𝐺𝐶</m:t>
                    </m:r>
                    <m:r>
                      <a:rPr lang="it-IT" i="1">
                        <a:latin typeface="Cambria Math" panose="02040503050406030204" pitchFamily="18" charset="0"/>
                      </a:rPr>
                      <m:t>)</m:t>
                    </m:r>
                  </m:oMath>
                </a14:m>
                <a:r>
                  <a:rPr lang="it-IT" i="1" dirty="0"/>
                  <a:t> </a:t>
                </a:r>
                <a:r>
                  <a:rPr lang="it-IT" dirty="0"/>
                  <a:t>abbia i propri </a:t>
                </a:r>
                <a:r>
                  <a:rPr lang="it-IT" dirty="0" err="1"/>
                  <a:t>autovalori</a:t>
                </a:r>
                <a:r>
                  <a:rPr lang="it-IT" dirty="0"/>
                  <a:t> in una desiderata regione del piano complesso.</a:t>
                </a:r>
              </a:p>
              <a:p>
                <a:pPr marL="0" indent="0" algn="just">
                  <a:buNone/>
                </a:pPr>
                <a:r>
                  <a:rPr lang="it-IT" dirty="0"/>
                  <a:t> </a:t>
                </a:r>
                <a:br>
                  <a:rPr lang="it-IT" dirty="0"/>
                </a:br>
                <a:endParaRPr lang="it-IT" dirty="0"/>
              </a:p>
              <a:p>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3" t="-226" r="-577" b="-2489"/>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7</a:t>
            </a:fld>
            <a:endParaRPr lang="en-US"/>
          </a:p>
        </p:txBody>
      </p:sp>
    </p:spTree>
    <p:extLst>
      <p:ext uri="{BB962C8B-B14F-4D97-AF65-F5344CB8AC3E}">
        <p14:creationId xmlns:p14="http://schemas.microsoft.com/office/powerpoint/2010/main" val="4207331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Osservatore di </a:t>
            </a:r>
            <a:r>
              <a:rPr lang="it-IT" dirty="0" err="1"/>
              <a:t>Luemberger</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pPr algn="just"/>
                <a:r>
                  <a:rPr lang="it-IT" dirty="0"/>
                  <a:t>Di seguito verranno affrontati i seguenti problemi:</a:t>
                </a:r>
              </a:p>
              <a:p>
                <a:pPr algn="just"/>
                <a:endParaRPr lang="it-IT" sz="1000" dirty="0"/>
              </a:p>
              <a:p>
                <a:pPr lvl="1" algn="just"/>
                <a:r>
                  <a:rPr lang="it-IT" sz="2000" dirty="0"/>
                  <a:t>Come determinare una matrice </a:t>
                </a:r>
                <a14:m>
                  <m:oMath xmlns:m="http://schemas.openxmlformats.org/officeDocument/2006/math">
                    <m:r>
                      <a:rPr lang="it-IT" sz="2000" i="1">
                        <a:latin typeface="Cambria Math" panose="02040503050406030204" pitchFamily="18" charset="0"/>
                      </a:rPr>
                      <m:t>𝐺</m:t>
                    </m:r>
                  </m:oMath>
                </a14:m>
                <a:r>
                  <a:rPr lang="it-IT" sz="2000" i="1" dirty="0"/>
                  <a:t> </a:t>
                </a:r>
                <a:r>
                  <a:rPr lang="it-IT" sz="2000" dirty="0"/>
                  <a:t>tale che la matrice </a:t>
                </a:r>
                <a14:m>
                  <m:oMath xmlns:m="http://schemas.openxmlformats.org/officeDocument/2006/math">
                    <m:r>
                      <a:rPr lang="it-IT" sz="2000" i="1">
                        <a:latin typeface="Cambria Math" panose="02040503050406030204" pitchFamily="18" charset="0"/>
                      </a:rPr>
                      <m:t>(</m:t>
                    </m:r>
                    <m:r>
                      <a:rPr lang="it-IT" sz="2000" i="1">
                        <a:latin typeface="Cambria Math"/>
                      </a:rPr>
                      <m:t>𝐴</m:t>
                    </m:r>
                    <m:r>
                      <a:rPr lang="it-IT" sz="2000" i="1">
                        <a:latin typeface="Cambria Math" panose="02040503050406030204" pitchFamily="18" charset="0"/>
                      </a:rPr>
                      <m:t>−</m:t>
                    </m:r>
                    <m:r>
                      <a:rPr lang="it-IT" sz="2000" i="1">
                        <a:latin typeface="Cambria Math" panose="02040503050406030204" pitchFamily="18" charset="0"/>
                      </a:rPr>
                      <m:t>𝐺𝐶</m:t>
                    </m:r>
                    <m:r>
                      <a:rPr lang="it-IT" sz="2000" i="1">
                        <a:latin typeface="Cambria Math" panose="02040503050406030204" pitchFamily="18" charset="0"/>
                      </a:rPr>
                      <m:t>)</m:t>
                    </m:r>
                  </m:oMath>
                </a14:m>
                <a:r>
                  <a:rPr lang="it-IT" sz="2000" i="1" dirty="0"/>
                  <a:t> </a:t>
                </a:r>
                <a:r>
                  <a:rPr lang="it-IT" sz="2000" dirty="0"/>
                  <a:t>abbia i propri </a:t>
                </a:r>
                <a:r>
                  <a:rPr lang="it-IT" sz="2000" dirty="0" err="1"/>
                  <a:t>autovalori</a:t>
                </a:r>
                <a:r>
                  <a:rPr lang="it-IT" sz="2000" dirty="0"/>
                  <a:t> in una desiderata regione del piano complesso.</a:t>
                </a:r>
              </a:p>
              <a:p>
                <a:pPr lvl="1" algn="just"/>
                <a:endParaRPr lang="it-IT" sz="2000" dirty="0"/>
              </a:p>
              <a:p>
                <a:pPr lvl="1" algn="just"/>
                <a:r>
                  <a:rPr lang="it-IT" sz="2000" dirty="0"/>
                  <a:t>Una volta progettato l’osservatore, è possibile utilizzare lo stato stimato </a:t>
                </a:r>
                <a14:m>
                  <m:oMath xmlns:m="http://schemas.openxmlformats.org/officeDocument/2006/math">
                    <m:acc>
                      <m:accPr>
                        <m:chr m:val="̃"/>
                        <m:ctrlPr>
                          <a:rPr lang="it-IT" sz="2000" b="0" i="1" smtClean="0">
                            <a:latin typeface="Cambria Math" panose="02040503050406030204" pitchFamily="18" charset="0"/>
                          </a:rPr>
                        </m:ctrlPr>
                      </m:accPr>
                      <m:e>
                        <m:r>
                          <m:rPr>
                            <m:sty m:val="p"/>
                          </m:rPr>
                          <a:rPr lang="it-IT" sz="2000" b="0" i="0" smtClean="0">
                            <a:latin typeface="Cambria Math" panose="02040503050406030204" pitchFamily="18" charset="0"/>
                          </a:rPr>
                          <m:t>x</m:t>
                        </m:r>
                      </m:e>
                    </m:acc>
                    <m:d>
                      <m:dPr>
                        <m:ctrlPr>
                          <a:rPr lang="it-IT" sz="2000" i="1">
                            <a:latin typeface="Cambria Math" panose="02040503050406030204" pitchFamily="18" charset="0"/>
                          </a:rPr>
                        </m:ctrlPr>
                      </m:dPr>
                      <m:e>
                        <m:r>
                          <a:rPr lang="it-IT" sz="2000" i="1">
                            <a:latin typeface="Cambria Math" panose="02040503050406030204" pitchFamily="18" charset="0"/>
                          </a:rPr>
                          <m:t>𝑡</m:t>
                        </m:r>
                      </m:e>
                    </m:d>
                  </m:oMath>
                </a14:m>
                <a:r>
                  <a:rPr lang="it-IT" sz="2000" dirty="0"/>
                  <a:t> per il controllo in retroazione con assegnamento degli </a:t>
                </a:r>
                <a:r>
                  <a:rPr lang="it-IT" sz="2000" dirty="0" err="1"/>
                  <a:t>autovalori</a:t>
                </a:r>
                <a:r>
                  <a:rPr lang="it-IT" sz="2000" dirty="0"/>
                  <a:t>?</a:t>
                </a:r>
              </a:p>
              <a:p>
                <a:pPr lvl="1" algn="just"/>
                <a:endParaRPr lang="it-IT" sz="2000" dirty="0"/>
              </a:p>
              <a:p>
                <a:pPr lvl="1" algn="just"/>
                <a:endParaRPr lang="it-IT" dirty="0"/>
              </a:p>
              <a:p>
                <a:pPr marL="0" indent="0" algn="just">
                  <a:buNone/>
                </a:pPr>
                <a:r>
                  <a:rPr lang="it-IT" dirty="0"/>
                  <a:t> </a:t>
                </a:r>
                <a:br>
                  <a:rPr lang="it-IT" dirty="0"/>
                </a:br>
                <a:endParaRPr lang="it-IT" dirty="0"/>
              </a:p>
              <a:p>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3" t="-452" r="-577"/>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8</a:t>
            </a:fld>
            <a:endParaRPr lang="en-US"/>
          </a:p>
        </p:txBody>
      </p:sp>
      <p:grpSp>
        <p:nvGrpSpPr>
          <p:cNvPr id="35" name="Gruppo 34">
            <a:extLst>
              <a:ext uri="{FF2B5EF4-FFF2-40B4-BE49-F238E27FC236}">
                <a16:creationId xmlns:a16="http://schemas.microsoft.com/office/drawing/2014/main" id="{DC76A510-4AC5-154D-84DE-7B3F9C72E45E}"/>
              </a:ext>
            </a:extLst>
          </p:cNvPr>
          <p:cNvGrpSpPr/>
          <p:nvPr/>
        </p:nvGrpSpPr>
        <p:grpSpPr>
          <a:xfrm>
            <a:off x="1208768" y="3776886"/>
            <a:ext cx="6891624" cy="2532435"/>
            <a:chOff x="539552" y="3776886"/>
            <a:chExt cx="6891624" cy="2532435"/>
          </a:xfrm>
        </p:grpSpPr>
        <p:grpSp>
          <p:nvGrpSpPr>
            <p:cNvPr id="6" name="Gruppo 5">
              <a:extLst>
                <a:ext uri="{FF2B5EF4-FFF2-40B4-BE49-F238E27FC236}">
                  <a16:creationId xmlns:a16="http://schemas.microsoft.com/office/drawing/2014/main" id="{52988954-849A-B54E-8A4B-DF4EF088A205}"/>
                </a:ext>
              </a:extLst>
            </p:cNvPr>
            <p:cNvGrpSpPr/>
            <p:nvPr/>
          </p:nvGrpSpPr>
          <p:grpSpPr>
            <a:xfrm>
              <a:off x="1598524" y="3776886"/>
              <a:ext cx="5832652" cy="2168162"/>
              <a:chOff x="2735796" y="1980918"/>
              <a:chExt cx="5832652" cy="2168162"/>
            </a:xfrm>
          </p:grpSpPr>
          <p:grpSp>
            <p:nvGrpSpPr>
              <p:cNvPr id="8" name="Gruppo 7">
                <a:extLst>
                  <a:ext uri="{FF2B5EF4-FFF2-40B4-BE49-F238E27FC236}">
                    <a16:creationId xmlns:a16="http://schemas.microsoft.com/office/drawing/2014/main" id="{73B07BA7-B1DB-BF49-8195-050A272821AB}"/>
                  </a:ext>
                </a:extLst>
              </p:cNvPr>
              <p:cNvGrpSpPr/>
              <p:nvPr/>
            </p:nvGrpSpPr>
            <p:grpSpPr>
              <a:xfrm>
                <a:off x="4514735" y="1980918"/>
                <a:ext cx="3873689" cy="2168162"/>
                <a:chOff x="4226703" y="4755432"/>
                <a:chExt cx="3873689" cy="2168162"/>
              </a:xfrm>
            </p:grpSpPr>
            <p:sp>
              <p:nvSpPr>
                <p:cNvPr id="18" name="Rettangolo 17">
                  <a:extLst>
                    <a:ext uri="{FF2B5EF4-FFF2-40B4-BE49-F238E27FC236}">
                      <a16:creationId xmlns:a16="http://schemas.microsoft.com/office/drawing/2014/main" id="{E15DF5FF-80D9-5B44-979D-C50E20598DAB}"/>
                    </a:ext>
                  </a:extLst>
                </p:cNvPr>
                <p:cNvSpPr/>
                <p:nvPr/>
              </p:nvSpPr>
              <p:spPr bwMode="auto">
                <a:xfrm>
                  <a:off x="5076058" y="5214870"/>
                  <a:ext cx="1512168" cy="50405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Times New Roman" pitchFamily="18" charset="0"/>
                    </a:rPr>
                    <a:t>Sistema</a:t>
                  </a:r>
                </a:p>
              </p:txBody>
            </p:sp>
            <p:cxnSp>
              <p:nvCxnSpPr>
                <p:cNvPr id="19" name="Connettore 2 18">
                  <a:extLst>
                    <a:ext uri="{FF2B5EF4-FFF2-40B4-BE49-F238E27FC236}">
                      <a16:creationId xmlns:a16="http://schemas.microsoft.com/office/drawing/2014/main" id="{5115C7D5-6085-E24E-89F5-8AEEE34DD4E2}"/>
                    </a:ext>
                  </a:extLst>
                </p:cNvPr>
                <p:cNvCxnSpPr>
                  <a:cxnSpLocks/>
                </p:cNvCxnSpPr>
                <p:nvPr/>
              </p:nvCxnSpPr>
              <p:spPr bwMode="auto">
                <a:xfrm>
                  <a:off x="6588226" y="5466898"/>
                  <a:ext cx="1512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0" name="Rettangolo 19">
                      <a:extLst>
                        <a:ext uri="{FF2B5EF4-FFF2-40B4-BE49-F238E27FC236}">
                          <a16:creationId xmlns:a16="http://schemas.microsoft.com/office/drawing/2014/main" id="{311D07C7-F622-D74B-920F-19F9BDA2F0A8}"/>
                        </a:ext>
                      </a:extLst>
                    </p:cNvPr>
                    <p:cNvSpPr/>
                    <p:nvPr/>
                  </p:nvSpPr>
                  <p:spPr>
                    <a:xfrm>
                      <a:off x="7184753" y="4900415"/>
                      <a:ext cx="8231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i="1">
                                <a:latin typeface="Cambria Math"/>
                              </a:rPr>
                              <m:t>𝑦</m:t>
                            </m:r>
                            <m:d>
                              <m:dPr>
                                <m:ctrlPr>
                                  <a:rPr lang="it-IT" i="1">
                                    <a:latin typeface="Cambria Math" panose="02040503050406030204" pitchFamily="18" charset="0"/>
                                  </a:rPr>
                                </m:ctrlPr>
                              </m:dPr>
                              <m:e>
                                <m:r>
                                  <a:rPr lang="it-IT" i="1">
                                    <a:latin typeface="Cambria Math"/>
                                  </a:rPr>
                                  <m:t>𝑡</m:t>
                                </m:r>
                              </m:e>
                            </m:d>
                          </m:oMath>
                        </m:oMathPara>
                      </a14:m>
                      <a:endParaRPr lang="it-IT" dirty="0"/>
                    </a:p>
                  </p:txBody>
                </p:sp>
              </mc:Choice>
              <mc:Fallback xmlns="">
                <p:sp>
                  <p:nvSpPr>
                    <p:cNvPr id="22" name="Rettangolo 21">
                      <a:extLst>
                        <a:ext uri="{FF2B5EF4-FFF2-40B4-BE49-F238E27FC236}">
                          <a16:creationId xmlns:a16="http://schemas.microsoft.com/office/drawing/2014/main" id="{6DCFFCFD-21DB-EF4C-8911-D6715B56B35D}"/>
                        </a:ext>
                      </a:extLst>
                    </p:cNvPr>
                    <p:cNvSpPr>
                      <a:spLocks noRot="1" noChangeAspect="1" noMove="1" noResize="1" noEditPoints="1" noAdjustHandles="1" noChangeArrowheads="1" noChangeShapeType="1" noTextEdit="1"/>
                    </p:cNvSpPr>
                    <p:nvPr/>
                  </p:nvSpPr>
                  <p:spPr>
                    <a:xfrm>
                      <a:off x="7184753" y="4900415"/>
                      <a:ext cx="823174" cy="461665"/>
                    </a:xfrm>
                    <a:prstGeom prst="rect">
                      <a:avLst/>
                    </a:prstGeom>
                    <a:blipFill>
                      <a:blip r:embed="rId3"/>
                      <a:stretch>
                        <a:fillRect b="-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Rettangolo 20">
                      <a:extLst>
                        <a:ext uri="{FF2B5EF4-FFF2-40B4-BE49-F238E27FC236}">
                          <a16:creationId xmlns:a16="http://schemas.microsoft.com/office/drawing/2014/main" id="{77D1D4F1-330F-1B44-AFE4-AF7D88ECBD7E}"/>
                        </a:ext>
                      </a:extLst>
                    </p:cNvPr>
                    <p:cNvSpPr/>
                    <p:nvPr/>
                  </p:nvSpPr>
                  <p:spPr>
                    <a:xfrm>
                      <a:off x="5470472" y="4755432"/>
                      <a:ext cx="723340" cy="461665"/>
                    </a:xfrm>
                    <a:prstGeom prst="rect">
                      <a:avLst/>
                    </a:prstGeom>
                  </p:spPr>
                  <p:txBody>
                    <a:bodyPr wrap="none">
                      <a:spAutoFit/>
                    </a:bodyPr>
                    <a:lstStyle/>
                    <a:p>
                      <a:r>
                        <a:rPr lang="it-IT" b="0" i="1" dirty="0"/>
                        <a:t>x</a:t>
                      </a:r>
                      <a14:m>
                        <m:oMath xmlns:m="http://schemas.openxmlformats.org/officeDocument/2006/math">
                          <m:d>
                            <m:dPr>
                              <m:ctrlPr>
                                <a:rPr lang="it-IT" i="1">
                                  <a:latin typeface="Cambria Math" panose="02040503050406030204" pitchFamily="18" charset="0"/>
                                </a:rPr>
                              </m:ctrlPr>
                            </m:dPr>
                            <m:e>
                              <m:r>
                                <a:rPr lang="it-IT" i="1">
                                  <a:latin typeface="Cambria Math"/>
                                </a:rPr>
                                <m:t>𝑡</m:t>
                              </m:r>
                            </m:e>
                          </m:d>
                        </m:oMath>
                      </a14:m>
                      <a:endParaRPr lang="it-IT" i="1" dirty="0"/>
                    </a:p>
                  </p:txBody>
                </p:sp>
              </mc:Choice>
              <mc:Fallback xmlns="">
                <p:sp>
                  <p:nvSpPr>
                    <p:cNvPr id="21" name="Rettangolo 20">
                      <a:extLst>
                        <a:ext uri="{FF2B5EF4-FFF2-40B4-BE49-F238E27FC236}">
                          <a16:creationId xmlns:a16="http://schemas.microsoft.com/office/drawing/2014/main" id="{77D1D4F1-330F-1B44-AFE4-AF7D88ECBD7E}"/>
                        </a:ext>
                      </a:extLst>
                    </p:cNvPr>
                    <p:cNvSpPr>
                      <a:spLocks noRot="1" noChangeAspect="1" noMove="1" noResize="1" noEditPoints="1" noAdjustHandles="1" noChangeArrowheads="1" noChangeShapeType="1" noTextEdit="1"/>
                    </p:cNvSpPr>
                    <p:nvPr/>
                  </p:nvSpPr>
                  <p:spPr>
                    <a:xfrm>
                      <a:off x="5470472" y="4755432"/>
                      <a:ext cx="723340" cy="461665"/>
                    </a:xfrm>
                    <a:prstGeom prst="rect">
                      <a:avLst/>
                    </a:prstGeom>
                    <a:blipFill>
                      <a:blip r:embed="rId4"/>
                      <a:stretch>
                        <a:fillRect l="-13793" t="-7895" b="-2631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Rettangolo 21">
                      <a:extLst>
                        <a:ext uri="{FF2B5EF4-FFF2-40B4-BE49-F238E27FC236}">
                          <a16:creationId xmlns:a16="http://schemas.microsoft.com/office/drawing/2014/main" id="{82E4DA87-115A-7B4C-8652-19C4B6B9B949}"/>
                        </a:ext>
                      </a:extLst>
                    </p:cNvPr>
                    <p:cNvSpPr/>
                    <p:nvPr/>
                  </p:nvSpPr>
                  <p:spPr>
                    <a:xfrm>
                      <a:off x="4226703" y="4895216"/>
                      <a:ext cx="723340" cy="461665"/>
                    </a:xfrm>
                    <a:prstGeom prst="rect">
                      <a:avLst/>
                    </a:prstGeom>
                  </p:spPr>
                  <p:txBody>
                    <a:bodyPr wrap="none">
                      <a:spAutoFit/>
                    </a:bodyPr>
                    <a:lstStyle/>
                    <a:p>
                      <a:r>
                        <a:rPr lang="it-IT" b="0" i="1" dirty="0"/>
                        <a:t>u</a:t>
                      </a:r>
                      <a14:m>
                        <m:oMath xmlns:m="http://schemas.openxmlformats.org/officeDocument/2006/math">
                          <m:d>
                            <m:dPr>
                              <m:ctrlPr>
                                <a:rPr lang="it-IT" i="1">
                                  <a:latin typeface="Cambria Math" panose="02040503050406030204" pitchFamily="18" charset="0"/>
                                </a:rPr>
                              </m:ctrlPr>
                            </m:dPr>
                            <m:e>
                              <m:r>
                                <a:rPr lang="it-IT" i="1">
                                  <a:latin typeface="Cambria Math"/>
                                </a:rPr>
                                <m:t>𝑡</m:t>
                              </m:r>
                            </m:e>
                          </m:d>
                        </m:oMath>
                      </a14:m>
                      <a:endParaRPr lang="it-IT" i="1" dirty="0"/>
                    </a:p>
                  </p:txBody>
                </p:sp>
              </mc:Choice>
              <mc:Fallback xmlns="">
                <p:sp>
                  <p:nvSpPr>
                    <p:cNvPr id="24" name="Rettangolo 23">
                      <a:extLst>
                        <a:ext uri="{FF2B5EF4-FFF2-40B4-BE49-F238E27FC236}">
                          <a16:creationId xmlns:a16="http://schemas.microsoft.com/office/drawing/2014/main" id="{74F2ED2E-AF5A-EF48-BB0E-A58DCB044334}"/>
                        </a:ext>
                      </a:extLst>
                    </p:cNvPr>
                    <p:cNvSpPr>
                      <a:spLocks noRot="1" noChangeAspect="1" noMove="1" noResize="1" noEditPoints="1" noAdjustHandles="1" noChangeArrowheads="1" noChangeShapeType="1" noTextEdit="1"/>
                    </p:cNvSpPr>
                    <p:nvPr/>
                  </p:nvSpPr>
                  <p:spPr>
                    <a:xfrm>
                      <a:off x="4226703" y="4895216"/>
                      <a:ext cx="723340" cy="461665"/>
                    </a:xfrm>
                    <a:prstGeom prst="rect">
                      <a:avLst/>
                    </a:prstGeom>
                    <a:blipFill>
                      <a:blip r:embed="rId5"/>
                      <a:stretch>
                        <a:fillRect l="-12069" t="-13889" b="-30556"/>
                      </a:stretch>
                    </a:blipFill>
                  </p:spPr>
                  <p:txBody>
                    <a:bodyPr/>
                    <a:lstStyle/>
                    <a:p>
                      <a:r>
                        <a:rPr lang="it-IT">
                          <a:noFill/>
                        </a:rPr>
                        <a:t> </a:t>
                      </a:r>
                    </a:p>
                  </p:txBody>
                </p:sp>
              </mc:Fallback>
            </mc:AlternateContent>
            <p:sp>
              <p:nvSpPr>
                <p:cNvPr id="23" name="Rettangolo 22">
                  <a:extLst>
                    <a:ext uri="{FF2B5EF4-FFF2-40B4-BE49-F238E27FC236}">
                      <a16:creationId xmlns:a16="http://schemas.microsoft.com/office/drawing/2014/main" id="{0C2B8842-DFB5-4441-BC83-D5861B490EB1}"/>
                    </a:ext>
                  </a:extLst>
                </p:cNvPr>
                <p:cNvSpPr/>
                <p:nvPr/>
              </p:nvSpPr>
              <p:spPr bwMode="auto">
                <a:xfrm>
                  <a:off x="4896036" y="6280037"/>
                  <a:ext cx="1872212" cy="64355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it-IT" dirty="0"/>
                    <a:t>Osservatore</a:t>
                  </a:r>
                  <a:endParaRPr kumimoji="0" lang="it-IT" sz="2400" b="1" i="0" u="none" strike="noStrike" cap="none" normalizeH="0" baseline="0" dirty="0">
                    <a:ln>
                      <a:noFill/>
                    </a:ln>
                    <a:solidFill>
                      <a:schemeClr val="tx1"/>
                    </a:solidFill>
                    <a:effectLst/>
                    <a:latin typeface="Times New Roman" pitchFamily="18" charset="0"/>
                  </a:endParaRPr>
                </a:p>
              </p:txBody>
            </p:sp>
          </p:grpSp>
          <p:cxnSp>
            <p:nvCxnSpPr>
              <p:cNvPr id="9" name="Connettore 2 8">
                <a:extLst>
                  <a:ext uri="{FF2B5EF4-FFF2-40B4-BE49-F238E27FC236}">
                    <a16:creationId xmlns:a16="http://schemas.microsoft.com/office/drawing/2014/main" id="{E749AFAA-90BF-DA4E-8704-8900D3725F27}"/>
                  </a:ext>
                </a:extLst>
              </p:cNvPr>
              <p:cNvCxnSpPr>
                <a:cxnSpLocks/>
                <a:endCxn id="18" idx="1"/>
              </p:cNvCxnSpPr>
              <p:nvPr/>
            </p:nvCxnSpPr>
            <p:spPr bwMode="auto">
              <a:xfrm>
                <a:off x="2735796" y="2687659"/>
                <a:ext cx="2628294" cy="472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Connettore 2 9">
                <a:extLst>
                  <a:ext uri="{FF2B5EF4-FFF2-40B4-BE49-F238E27FC236}">
                    <a16:creationId xmlns:a16="http://schemas.microsoft.com/office/drawing/2014/main" id="{B5C992DE-490D-6F45-AA84-7819B3964DA0}"/>
                  </a:ext>
                </a:extLst>
              </p:cNvPr>
              <p:cNvCxnSpPr>
                <a:cxnSpLocks/>
              </p:cNvCxnSpPr>
              <p:nvPr/>
            </p:nvCxnSpPr>
            <p:spPr bwMode="auto">
              <a:xfrm>
                <a:off x="3707904" y="3937781"/>
                <a:ext cx="1476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Connettore 2 10">
                <a:extLst>
                  <a:ext uri="{FF2B5EF4-FFF2-40B4-BE49-F238E27FC236}">
                    <a16:creationId xmlns:a16="http://schemas.microsoft.com/office/drawing/2014/main" id="{54ED6E2E-1249-E547-B994-7BF30580BA7F}"/>
                  </a:ext>
                </a:extLst>
              </p:cNvPr>
              <p:cNvCxnSpPr>
                <a:cxnSpLocks/>
              </p:cNvCxnSpPr>
              <p:nvPr/>
            </p:nvCxnSpPr>
            <p:spPr bwMode="auto">
              <a:xfrm>
                <a:off x="4286250" y="3717032"/>
                <a:ext cx="89782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Connettore 1 11">
                <a:extLst>
                  <a:ext uri="{FF2B5EF4-FFF2-40B4-BE49-F238E27FC236}">
                    <a16:creationId xmlns:a16="http://schemas.microsoft.com/office/drawing/2014/main" id="{4D7FDBED-1D11-E84E-B8D1-212DB0E59CFF}"/>
                  </a:ext>
                </a:extLst>
              </p:cNvPr>
              <p:cNvCxnSpPr/>
              <p:nvPr/>
            </p:nvCxnSpPr>
            <p:spPr bwMode="auto">
              <a:xfrm flipV="1">
                <a:off x="4286250" y="3284984"/>
                <a:ext cx="0" cy="43204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Connettore 1 12">
                <a:extLst>
                  <a:ext uri="{FF2B5EF4-FFF2-40B4-BE49-F238E27FC236}">
                    <a16:creationId xmlns:a16="http://schemas.microsoft.com/office/drawing/2014/main" id="{555E16B7-A420-8945-9952-1E8480296E7B}"/>
                  </a:ext>
                </a:extLst>
              </p:cNvPr>
              <p:cNvCxnSpPr>
                <a:cxnSpLocks/>
              </p:cNvCxnSpPr>
              <p:nvPr/>
            </p:nvCxnSpPr>
            <p:spPr bwMode="auto">
              <a:xfrm flipH="1" flipV="1">
                <a:off x="4286251" y="3284984"/>
                <a:ext cx="3186536" cy="659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Connettore 1 13">
                <a:extLst>
                  <a:ext uri="{FF2B5EF4-FFF2-40B4-BE49-F238E27FC236}">
                    <a16:creationId xmlns:a16="http://schemas.microsoft.com/office/drawing/2014/main" id="{D6B36838-AAF7-D242-9740-AEB630B41100}"/>
                  </a:ext>
                </a:extLst>
              </p:cNvPr>
              <p:cNvCxnSpPr>
                <a:cxnSpLocks/>
              </p:cNvCxnSpPr>
              <p:nvPr/>
            </p:nvCxnSpPr>
            <p:spPr bwMode="auto">
              <a:xfrm flipV="1">
                <a:off x="7472787" y="2687660"/>
                <a:ext cx="0" cy="60391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Connettore 1 14">
                <a:extLst>
                  <a:ext uri="{FF2B5EF4-FFF2-40B4-BE49-F238E27FC236}">
                    <a16:creationId xmlns:a16="http://schemas.microsoft.com/office/drawing/2014/main" id="{3B1493F9-2F1E-C840-854D-D0F847B439CE}"/>
                  </a:ext>
                </a:extLst>
              </p:cNvPr>
              <p:cNvCxnSpPr>
                <a:cxnSpLocks/>
              </p:cNvCxnSpPr>
              <p:nvPr/>
            </p:nvCxnSpPr>
            <p:spPr bwMode="auto">
              <a:xfrm flipV="1">
                <a:off x="3707904" y="2687659"/>
                <a:ext cx="0" cy="124539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Connettore 2 15">
                <a:extLst>
                  <a:ext uri="{FF2B5EF4-FFF2-40B4-BE49-F238E27FC236}">
                    <a16:creationId xmlns:a16="http://schemas.microsoft.com/office/drawing/2014/main" id="{43FF59F2-7380-8B4D-9F65-16636DD20B65}"/>
                  </a:ext>
                </a:extLst>
              </p:cNvPr>
              <p:cNvCxnSpPr>
                <a:cxnSpLocks/>
              </p:cNvCxnSpPr>
              <p:nvPr/>
            </p:nvCxnSpPr>
            <p:spPr bwMode="auto">
              <a:xfrm>
                <a:off x="7056282" y="3852685"/>
                <a:ext cx="1512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7" name="Rettangolo 16">
                    <a:extLst>
                      <a:ext uri="{FF2B5EF4-FFF2-40B4-BE49-F238E27FC236}">
                        <a16:creationId xmlns:a16="http://schemas.microsoft.com/office/drawing/2014/main" id="{A3E0B1A3-5E63-A742-827F-573887FF3C5A}"/>
                      </a:ext>
                    </a:extLst>
                  </p:cNvPr>
                  <p:cNvSpPr/>
                  <p:nvPr/>
                </p:nvSpPr>
                <p:spPr>
                  <a:xfrm>
                    <a:off x="7522704" y="3341609"/>
                    <a:ext cx="8191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d>
                            <m:dPr>
                              <m:ctrlPr>
                                <a:rPr lang="it-IT" i="1">
                                  <a:latin typeface="Cambria Math" panose="02040503050406030204" pitchFamily="18" charset="0"/>
                                </a:rPr>
                              </m:ctrlPr>
                            </m:dPr>
                            <m:e>
                              <m:r>
                                <a:rPr lang="it-IT" i="1">
                                  <a:latin typeface="Cambria Math"/>
                                </a:rPr>
                                <m:t>𝑡</m:t>
                              </m:r>
                            </m:e>
                          </m:d>
                        </m:oMath>
                      </m:oMathPara>
                    </a14:m>
                    <a:endParaRPr lang="it-IT" i="1" dirty="0"/>
                  </a:p>
                </p:txBody>
              </p:sp>
            </mc:Choice>
            <mc:Fallback xmlns="">
              <p:sp>
                <p:nvSpPr>
                  <p:cNvPr id="17" name="Rettangolo 16">
                    <a:extLst>
                      <a:ext uri="{FF2B5EF4-FFF2-40B4-BE49-F238E27FC236}">
                        <a16:creationId xmlns:a16="http://schemas.microsoft.com/office/drawing/2014/main" id="{A3E0B1A3-5E63-A742-827F-573887FF3C5A}"/>
                      </a:ext>
                    </a:extLst>
                  </p:cNvPr>
                  <p:cNvSpPr>
                    <a:spLocks noRot="1" noChangeAspect="1" noMove="1" noResize="1" noEditPoints="1" noAdjustHandles="1" noChangeArrowheads="1" noChangeShapeType="1" noTextEdit="1"/>
                  </p:cNvSpPr>
                  <p:nvPr/>
                </p:nvSpPr>
                <p:spPr>
                  <a:xfrm>
                    <a:off x="7522704" y="3341609"/>
                    <a:ext cx="819199" cy="461665"/>
                  </a:xfrm>
                  <a:prstGeom prst="rect">
                    <a:avLst/>
                  </a:prstGeom>
                  <a:blipFill>
                    <a:blip r:embed="rId6"/>
                    <a:stretch>
                      <a:fillRect/>
                    </a:stretch>
                  </a:blipFill>
                </p:spPr>
                <p:txBody>
                  <a:bodyPr/>
                  <a:lstStyle/>
                  <a:p>
                    <a:r>
                      <a:rPr lang="it-IT">
                        <a:noFill/>
                      </a:rPr>
                      <a:t> </a:t>
                    </a:r>
                  </a:p>
                </p:txBody>
              </p:sp>
            </mc:Fallback>
          </mc:AlternateContent>
        </p:grpSp>
        <p:grpSp>
          <p:nvGrpSpPr>
            <p:cNvPr id="34" name="Gruppo 33">
              <a:extLst>
                <a:ext uri="{FF2B5EF4-FFF2-40B4-BE49-F238E27FC236}">
                  <a16:creationId xmlns:a16="http://schemas.microsoft.com/office/drawing/2014/main" id="{2DF30788-6101-8449-9B6A-31CD08D0EE65}"/>
                </a:ext>
              </a:extLst>
            </p:cNvPr>
            <p:cNvGrpSpPr/>
            <p:nvPr/>
          </p:nvGrpSpPr>
          <p:grpSpPr>
            <a:xfrm>
              <a:off x="539552" y="4219049"/>
              <a:ext cx="5795961" cy="2090272"/>
              <a:chOff x="539552" y="4219049"/>
              <a:chExt cx="5795961" cy="2090272"/>
            </a:xfrm>
          </p:grpSpPr>
          <p:sp>
            <p:nvSpPr>
              <p:cNvPr id="24" name="Rettangolo 23">
                <a:extLst>
                  <a:ext uri="{FF2B5EF4-FFF2-40B4-BE49-F238E27FC236}">
                    <a16:creationId xmlns:a16="http://schemas.microsoft.com/office/drawing/2014/main" id="{F6CF376C-D6F5-3C42-877D-9F688D5665AF}"/>
                  </a:ext>
                </a:extLst>
              </p:cNvPr>
              <p:cNvSpPr/>
              <p:nvPr/>
            </p:nvSpPr>
            <p:spPr bwMode="auto">
              <a:xfrm>
                <a:off x="1259632" y="4219049"/>
                <a:ext cx="876918" cy="50405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Times New Roman" pitchFamily="18" charset="0"/>
                  </a:rPr>
                  <a:t>K</a:t>
                </a:r>
              </a:p>
            </p:txBody>
          </p:sp>
          <p:cxnSp>
            <p:nvCxnSpPr>
              <p:cNvPr id="25" name="Connettore 1 24">
                <a:extLst>
                  <a:ext uri="{FF2B5EF4-FFF2-40B4-BE49-F238E27FC236}">
                    <a16:creationId xmlns:a16="http://schemas.microsoft.com/office/drawing/2014/main" id="{4A7FD752-7FCE-D64D-A594-8816AA89DD2C}"/>
                  </a:ext>
                </a:extLst>
              </p:cNvPr>
              <p:cNvCxnSpPr>
                <a:cxnSpLocks/>
              </p:cNvCxnSpPr>
              <p:nvPr/>
            </p:nvCxnSpPr>
            <p:spPr bwMode="auto">
              <a:xfrm>
                <a:off x="6335513" y="5648653"/>
                <a:ext cx="0" cy="66066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6" name="Connettore 1 25">
                <a:extLst>
                  <a:ext uri="{FF2B5EF4-FFF2-40B4-BE49-F238E27FC236}">
                    <a16:creationId xmlns:a16="http://schemas.microsoft.com/office/drawing/2014/main" id="{59FEE540-7BC4-BF46-AB8C-6D2A52372AA3}"/>
                  </a:ext>
                </a:extLst>
              </p:cNvPr>
              <p:cNvCxnSpPr>
                <a:cxnSpLocks/>
              </p:cNvCxnSpPr>
              <p:nvPr/>
            </p:nvCxnSpPr>
            <p:spPr bwMode="auto">
              <a:xfrm flipH="1">
                <a:off x="539552" y="6309320"/>
                <a:ext cx="579596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Connettore 1 28">
                <a:extLst>
                  <a:ext uri="{FF2B5EF4-FFF2-40B4-BE49-F238E27FC236}">
                    <a16:creationId xmlns:a16="http://schemas.microsoft.com/office/drawing/2014/main" id="{76806B73-2450-874E-AADD-BDA5AF8A3003}"/>
                  </a:ext>
                </a:extLst>
              </p:cNvPr>
              <p:cNvCxnSpPr>
                <a:cxnSpLocks/>
              </p:cNvCxnSpPr>
              <p:nvPr/>
            </p:nvCxnSpPr>
            <p:spPr bwMode="auto">
              <a:xfrm flipV="1">
                <a:off x="539552" y="4483627"/>
                <a:ext cx="0" cy="182569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Connettore 2 30">
                <a:extLst>
                  <a:ext uri="{FF2B5EF4-FFF2-40B4-BE49-F238E27FC236}">
                    <a16:creationId xmlns:a16="http://schemas.microsoft.com/office/drawing/2014/main" id="{9D380E67-785C-654F-9985-76C51DCC0817}"/>
                  </a:ext>
                </a:extLst>
              </p:cNvPr>
              <p:cNvCxnSpPr>
                <a:cxnSpLocks/>
              </p:cNvCxnSpPr>
              <p:nvPr/>
            </p:nvCxnSpPr>
            <p:spPr bwMode="auto">
              <a:xfrm>
                <a:off x="539552" y="4488352"/>
                <a:ext cx="71625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spTree>
    <p:extLst>
      <p:ext uri="{BB962C8B-B14F-4D97-AF65-F5344CB8AC3E}">
        <p14:creationId xmlns:p14="http://schemas.microsoft.com/office/powerpoint/2010/main" val="422948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Osservatore di </a:t>
            </a:r>
            <a:r>
              <a:rPr lang="it-IT" dirty="0" err="1"/>
              <a:t>Luemberger</a:t>
            </a:r>
            <a:r>
              <a:rPr lang="it-IT" dirty="0"/>
              <a:t>: determinazione matrice di guadagno </a:t>
            </a:r>
            <a:endParaRPr lang="en-US" dirty="0"/>
          </a:p>
        </p:txBody>
      </p:sp>
      <mc:AlternateContent xmlns:mc="http://schemas.openxmlformats.org/markup-compatibility/2006">
        <mc:Choice xmlns:a14="http://schemas.microsoft.com/office/drawing/2010/main" Requires="a14">
          <p:sp>
            <p:nvSpPr>
              <p:cNvPr id="3" name="Segnaposto contenuto 2"/>
              <p:cNvSpPr>
                <a:spLocks noGrp="1"/>
              </p:cNvSpPr>
              <p:nvPr>
                <p:ph idx="1"/>
              </p:nvPr>
            </p:nvSpPr>
            <p:spPr>
              <a:xfrm>
                <a:off x="179512" y="981522"/>
                <a:ext cx="8784976" cy="5590728"/>
              </a:xfrm>
            </p:spPr>
            <p:txBody>
              <a:bodyPr/>
              <a:lstStyle/>
              <a:p>
                <a:pPr algn="just"/>
                <a:r>
                  <a:rPr lang="it-IT" dirty="0"/>
                  <a:t>L’obiettivo per la scelta di  </a:t>
                </a:r>
                <a14:m>
                  <m:oMath xmlns:m="http://schemas.openxmlformats.org/officeDocument/2006/math">
                    <m:r>
                      <a:rPr lang="it-IT" i="1">
                        <a:latin typeface="Cambria Math" panose="02040503050406030204" pitchFamily="18" charset="0"/>
                      </a:rPr>
                      <m:t>𝐺</m:t>
                    </m:r>
                  </m:oMath>
                </a14:m>
                <a:r>
                  <a:rPr lang="it-IT" dirty="0"/>
                  <a:t> è quello di ricondurre tale problema a quello dell’assegnamento degli </a:t>
                </a:r>
                <a:r>
                  <a:rPr lang="it-IT" dirty="0" err="1"/>
                  <a:t>autovalori</a:t>
                </a:r>
                <a:r>
                  <a:rPr lang="it-IT" dirty="0"/>
                  <a:t> mediante retroazione di stato sulla coppia </a:t>
                </a:r>
                <a14:m>
                  <m:oMath xmlns:m="http://schemas.openxmlformats.org/officeDocument/2006/math">
                    <m:d>
                      <m:dPr>
                        <m:ctrlPr>
                          <a:rPr lang="it-IT" b="0" i="1" smtClean="0">
                            <a:latin typeface="Cambria Math" panose="02040503050406030204" pitchFamily="18" charset="0"/>
                          </a:rPr>
                        </m:ctrlPr>
                      </m:dPr>
                      <m:e>
                        <m:r>
                          <a:rPr lang="it-IT" b="0" i="1" smtClean="0">
                            <a:latin typeface="Cambria Math" panose="02040503050406030204" pitchFamily="18" charset="0"/>
                          </a:rPr>
                          <m:t>𝐴</m:t>
                        </m:r>
                        <m:r>
                          <a:rPr lang="it-IT" b="0" i="1" smtClean="0">
                            <a:latin typeface="Cambria Math" panose="02040503050406030204" pitchFamily="18" charset="0"/>
                          </a:rPr>
                          <m:t>,</m:t>
                        </m:r>
                        <m:r>
                          <a:rPr lang="it-IT" b="0" i="1" smtClean="0">
                            <a:latin typeface="Cambria Math" panose="02040503050406030204" pitchFamily="18" charset="0"/>
                          </a:rPr>
                          <m:t>𝐵</m:t>
                        </m:r>
                      </m:e>
                    </m:d>
                    <m:r>
                      <a:rPr lang="it-IT" b="0" i="1" smtClean="0">
                        <a:latin typeface="Cambria Math" panose="02040503050406030204" pitchFamily="18" charset="0"/>
                      </a:rPr>
                      <m:t>.</m:t>
                    </m:r>
                  </m:oMath>
                </a14:m>
                <a:r>
                  <a:rPr lang="it-IT" dirty="0"/>
                  <a:t> </a:t>
                </a:r>
              </a:p>
              <a:p>
                <a:pPr algn="just"/>
                <a:endParaRPr lang="it-IT" dirty="0"/>
              </a:p>
              <a:p>
                <a:pPr algn="just"/>
                <a:r>
                  <a:rPr lang="it-IT" dirty="0"/>
                  <a:t>Ricordiamo infatti, che nell’ipotesi di sistema raggiungibile, siamo capaci di definire una matrice </a:t>
                </a:r>
                <a14:m>
                  <m:oMath xmlns:m="http://schemas.openxmlformats.org/officeDocument/2006/math">
                    <m:r>
                      <a:rPr lang="it-IT" i="1">
                        <a:latin typeface="Cambria Math" panose="02040503050406030204" pitchFamily="18" charset="0"/>
                      </a:rPr>
                      <m:t>𝐾</m:t>
                    </m:r>
                  </m:oMath>
                </a14:m>
                <a:r>
                  <a:rPr lang="it-IT" dirty="0"/>
                  <a:t> in modo fa fissare a piacimento gli </a:t>
                </a:r>
                <a:r>
                  <a:rPr lang="it-IT" dirty="0" err="1"/>
                  <a:t>autovalori</a:t>
                </a:r>
                <a:r>
                  <a:rPr lang="it-IT" dirty="0"/>
                  <a:t> della matrice </a:t>
                </a:r>
                <a14:m>
                  <m:oMath xmlns:m="http://schemas.openxmlformats.org/officeDocument/2006/math">
                    <m:d>
                      <m:dPr>
                        <m:ctrlPr>
                          <a:rPr lang="it-IT" i="1">
                            <a:latin typeface="Cambria Math" panose="02040503050406030204" pitchFamily="18" charset="0"/>
                          </a:rPr>
                        </m:ctrlPr>
                      </m:dPr>
                      <m:e>
                        <m:r>
                          <a:rPr lang="it-IT" b="0" i="1" smtClean="0">
                            <a:latin typeface="Cambria Math" panose="02040503050406030204" pitchFamily="18" charset="0"/>
                          </a:rPr>
                          <m:t>𝐴</m:t>
                        </m:r>
                        <m:r>
                          <a:rPr lang="it-IT" b="0" i="1" smtClean="0">
                            <a:latin typeface="Cambria Math" panose="02040503050406030204" pitchFamily="18" charset="0"/>
                          </a:rPr>
                          <m:t>+</m:t>
                        </m:r>
                        <m:r>
                          <a:rPr lang="it-IT" i="1">
                            <a:latin typeface="Cambria Math" panose="02040503050406030204" pitchFamily="18" charset="0"/>
                          </a:rPr>
                          <m:t>𝐵</m:t>
                        </m:r>
                        <m:r>
                          <a:rPr lang="it-IT" b="0" i="1" smtClean="0">
                            <a:latin typeface="Cambria Math" panose="02040503050406030204" pitchFamily="18" charset="0"/>
                          </a:rPr>
                          <m:t>𝐾</m:t>
                        </m:r>
                      </m:e>
                    </m:d>
                    <m:r>
                      <a:rPr lang="it-IT" b="0" i="1" smtClean="0">
                        <a:latin typeface="Cambria Math" panose="02040503050406030204" pitchFamily="18" charset="0"/>
                      </a:rPr>
                      <m:t>.</m:t>
                    </m:r>
                  </m:oMath>
                </a14:m>
                <a:r>
                  <a:rPr lang="it-IT" b="0" dirty="0"/>
                  <a:t>    </a:t>
                </a:r>
              </a:p>
              <a:p>
                <a:pPr algn="just"/>
                <a:r>
                  <a:rPr lang="it-IT" dirty="0"/>
                  <a:t> Rispetto al problema dell’assegnamento degli </a:t>
                </a:r>
                <a:r>
                  <a:rPr lang="it-IT" dirty="0" err="1"/>
                  <a:t>autovalori</a:t>
                </a:r>
                <a:r>
                  <a:rPr lang="it-IT" dirty="0"/>
                  <a:t>, abbiamo due differenze:</a:t>
                </a:r>
              </a:p>
              <a:p>
                <a:pPr lvl="1" algn="just"/>
                <a:r>
                  <a:rPr lang="it-IT" sz="2000" dirty="0"/>
                  <a:t>La matrice di guadagno </a:t>
                </a:r>
                <a14:m>
                  <m:oMath xmlns:m="http://schemas.openxmlformats.org/officeDocument/2006/math">
                    <m:r>
                      <a:rPr lang="it-IT" sz="2000" i="1">
                        <a:latin typeface="Cambria Math" panose="02040503050406030204" pitchFamily="18" charset="0"/>
                      </a:rPr>
                      <m:t>𝐺</m:t>
                    </m:r>
                  </m:oMath>
                </a14:m>
                <a:r>
                  <a:rPr lang="it-IT" sz="2000" dirty="0"/>
                  <a:t> pre-moltiplica C</a:t>
                </a:r>
              </a:p>
              <a:p>
                <a:pPr lvl="1" algn="just"/>
                <a:r>
                  <a:rPr lang="it-IT" sz="2000" dirty="0"/>
                  <a:t>Dobbiamo individuare una condizione analoga alla raggiungibilità della coppia</a:t>
                </a:r>
                <a14:m>
                  <m:oMath xmlns:m="http://schemas.openxmlformats.org/officeDocument/2006/math">
                    <m:r>
                      <a:rPr lang="it-IT" sz="2000" b="0" i="0" smtClean="0">
                        <a:latin typeface="Cambria Math" panose="02040503050406030204" pitchFamily="18" charset="0"/>
                      </a:rPr>
                      <m:t> </m:t>
                    </m:r>
                    <m:d>
                      <m:dPr>
                        <m:ctrlPr>
                          <a:rPr lang="it-IT" sz="2000" i="1">
                            <a:latin typeface="Cambria Math" panose="02040503050406030204" pitchFamily="18" charset="0"/>
                          </a:rPr>
                        </m:ctrlPr>
                      </m:dPr>
                      <m:e>
                        <m:r>
                          <a:rPr lang="it-IT" sz="2000" i="1">
                            <a:latin typeface="Cambria Math" panose="02040503050406030204" pitchFamily="18" charset="0"/>
                          </a:rPr>
                          <m:t>𝐴</m:t>
                        </m:r>
                        <m:r>
                          <a:rPr lang="it-IT" sz="2000" i="1">
                            <a:latin typeface="Cambria Math" panose="02040503050406030204" pitchFamily="18" charset="0"/>
                          </a:rPr>
                          <m:t>,</m:t>
                        </m:r>
                        <m:r>
                          <a:rPr lang="it-IT" sz="2000" i="1">
                            <a:latin typeface="Cambria Math" panose="02040503050406030204" pitchFamily="18" charset="0"/>
                          </a:rPr>
                          <m:t>𝐵</m:t>
                        </m:r>
                      </m:e>
                    </m:d>
                    <m:r>
                      <a:rPr lang="it-IT" sz="2000" b="0" i="1" smtClean="0">
                        <a:latin typeface="Cambria Math" panose="02040503050406030204" pitchFamily="18" charset="0"/>
                      </a:rPr>
                      <m:t> </m:t>
                    </m:r>
                  </m:oMath>
                </a14:m>
                <a:r>
                  <a:rPr lang="it-IT" sz="2000" dirty="0"/>
                  <a:t>per il caso dell’osservatore. </a:t>
                </a:r>
              </a:p>
              <a:p>
                <a:pPr algn="just"/>
                <a:endParaRPr lang="it-IT" sz="1000" dirty="0"/>
              </a:p>
              <a:p>
                <a:endParaRPr lang="it-IT" dirty="0"/>
              </a:p>
            </p:txBody>
          </p:sp>
        </mc:Choice>
        <mc:Fallback>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2" t="-454" r="-576"/>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9</a:t>
            </a:fld>
            <a:endParaRPr lang="en-US"/>
          </a:p>
        </p:txBody>
      </p:sp>
    </p:spTree>
    <p:extLst>
      <p:ext uri="{BB962C8B-B14F-4D97-AF65-F5344CB8AC3E}">
        <p14:creationId xmlns:p14="http://schemas.microsoft.com/office/powerpoint/2010/main" val="3764590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Osservatore di </a:t>
            </a:r>
            <a:r>
              <a:rPr lang="it-IT" dirty="0" err="1"/>
              <a:t>Luemberger</a:t>
            </a:r>
            <a:r>
              <a:rPr lang="it-IT" dirty="0"/>
              <a:t>: determinazione matrice di guadagno </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pPr algn="just"/>
                <a:r>
                  <a:rPr lang="it-IT" dirty="0"/>
                  <a:t>Considerando che gli </a:t>
                </a:r>
                <a:r>
                  <a:rPr lang="it-IT" dirty="0" err="1"/>
                  <a:t>autovalori</a:t>
                </a:r>
                <a:r>
                  <a:rPr lang="it-IT" dirty="0"/>
                  <a:t> sono invarianti rispetto ad una trasposizione:</a:t>
                </a:r>
              </a:p>
              <a:p>
                <a:pPr marL="0" indent="0" algn="just">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𝑒𝑖𝑔</m:t>
                      </m:r>
                      <m:d>
                        <m:dPr>
                          <m:ctrlPr>
                            <a:rPr lang="it-IT" b="0" i="1" smtClean="0">
                              <a:latin typeface="Cambria Math" panose="02040503050406030204" pitchFamily="18" charset="0"/>
                            </a:rPr>
                          </m:ctrlPr>
                        </m:dPr>
                        <m:e>
                          <m:r>
                            <a:rPr lang="it-IT" b="0" i="1" smtClean="0">
                              <a:latin typeface="Cambria Math" panose="02040503050406030204" pitchFamily="18" charset="0"/>
                            </a:rPr>
                            <m:t>𝐴</m:t>
                          </m:r>
                          <m:r>
                            <a:rPr lang="it-IT" b="0" i="1" smtClean="0">
                              <a:latin typeface="Cambria Math" panose="02040503050406030204" pitchFamily="18" charset="0"/>
                            </a:rPr>
                            <m:t>−</m:t>
                          </m:r>
                          <m:r>
                            <a:rPr lang="it-IT" b="0" i="1" smtClean="0">
                              <a:latin typeface="Cambria Math" panose="02040503050406030204" pitchFamily="18" charset="0"/>
                            </a:rPr>
                            <m:t>𝐺𝐶</m:t>
                          </m:r>
                        </m:e>
                      </m:d>
                      <m:r>
                        <a:rPr lang="it-IT" b="0" i="1" smtClean="0">
                          <a:latin typeface="Cambria Math" panose="02040503050406030204" pitchFamily="18" charset="0"/>
                        </a:rPr>
                        <m:t>=</m:t>
                      </m:r>
                      <m:r>
                        <a:rPr lang="it-IT" i="1">
                          <a:latin typeface="Cambria Math" panose="02040503050406030204" pitchFamily="18" charset="0"/>
                        </a:rPr>
                        <m:t>𝑒𝑖𝑔</m:t>
                      </m:r>
                      <m:r>
                        <a:rPr lang="it-IT" i="1">
                          <a:latin typeface="Cambria Math" panose="02040503050406030204" pitchFamily="18" charset="0"/>
                        </a:rPr>
                        <m:t>(</m:t>
                      </m:r>
                      <m:sSup>
                        <m:sSupPr>
                          <m:ctrlPr>
                            <a:rPr lang="it-IT" b="0" i="1" smtClean="0">
                              <a:latin typeface="Cambria Math" panose="02040503050406030204" pitchFamily="18" charset="0"/>
                            </a:rPr>
                          </m:ctrlPr>
                        </m:sSupPr>
                        <m:e>
                          <m:r>
                            <a:rPr lang="it-IT" i="1">
                              <a:latin typeface="Cambria Math" panose="02040503050406030204" pitchFamily="18" charset="0"/>
                            </a:rPr>
                            <m:t>𝐴</m:t>
                          </m:r>
                        </m:e>
                        <m:sup>
                          <m:r>
                            <a:rPr lang="it-IT" b="0" i="1" smtClean="0">
                              <a:latin typeface="Cambria Math" panose="02040503050406030204" pitchFamily="18" charset="0"/>
                            </a:rPr>
                            <m:t>𝑇</m:t>
                          </m:r>
                        </m:sup>
                      </m:sSup>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i="1">
                              <a:latin typeface="Cambria Math" panose="02040503050406030204" pitchFamily="18" charset="0"/>
                            </a:rPr>
                            <m:t>𝐶</m:t>
                          </m:r>
                        </m:e>
                        <m:sup>
                          <m:r>
                            <a:rPr lang="it-IT" b="0" i="1" smtClean="0">
                              <a:latin typeface="Cambria Math" panose="02040503050406030204" pitchFamily="18" charset="0"/>
                            </a:rPr>
                            <m:t>𝑇</m:t>
                          </m:r>
                        </m:sup>
                      </m:sSup>
                      <m:sSup>
                        <m:sSupPr>
                          <m:ctrlPr>
                            <a:rPr lang="it-IT" b="0" i="1" smtClean="0">
                              <a:latin typeface="Cambria Math" panose="02040503050406030204" pitchFamily="18" charset="0"/>
                            </a:rPr>
                          </m:ctrlPr>
                        </m:sSupPr>
                        <m:e>
                          <m:r>
                            <a:rPr lang="it-IT" b="0" i="1" smtClean="0">
                              <a:latin typeface="Cambria Math" panose="02040503050406030204" pitchFamily="18" charset="0"/>
                            </a:rPr>
                            <m:t>𝐺</m:t>
                          </m:r>
                        </m:e>
                        <m:sup>
                          <m:r>
                            <a:rPr lang="it-IT" b="0" i="1" smtClean="0">
                              <a:latin typeface="Cambria Math" panose="02040503050406030204" pitchFamily="18" charset="0"/>
                            </a:rPr>
                            <m:t>𝑇</m:t>
                          </m:r>
                        </m:sup>
                      </m:sSup>
                      <m:r>
                        <a:rPr lang="it-IT" i="1">
                          <a:latin typeface="Cambria Math" panose="02040503050406030204" pitchFamily="18" charset="0"/>
                        </a:rPr>
                        <m:t>)</m:t>
                      </m:r>
                    </m:oMath>
                  </m:oMathPara>
                </a14:m>
                <a:endParaRPr lang="it-IT" dirty="0"/>
              </a:p>
              <a:p>
                <a:pPr algn="just"/>
                <a:r>
                  <a:rPr lang="it-IT" dirty="0"/>
                  <a:t>Quindi è possibile utilizzare la formula di </a:t>
                </a:r>
                <a:r>
                  <a:rPr lang="it-IT" dirty="0" err="1"/>
                  <a:t>Ackermann</a:t>
                </a:r>
                <a:r>
                  <a:rPr lang="it-IT" dirty="0"/>
                  <a:t> sulla coppia </a:t>
                </a:r>
                <a14:m>
                  <m:oMath xmlns:m="http://schemas.openxmlformats.org/officeDocument/2006/math">
                    <m:sSup>
                      <m:sSupPr>
                        <m:ctrlPr>
                          <a:rPr lang="it-IT" i="1">
                            <a:latin typeface="Cambria Math" panose="02040503050406030204" pitchFamily="18" charset="0"/>
                          </a:rPr>
                        </m:ctrlPr>
                      </m:sSupPr>
                      <m:e>
                        <m:r>
                          <a:rPr lang="it-IT" b="0" i="1" smtClean="0">
                            <a:latin typeface="Cambria Math" panose="02040503050406030204" pitchFamily="18" charset="0"/>
                          </a:rPr>
                          <m:t>(</m:t>
                        </m:r>
                        <m:r>
                          <a:rPr lang="it-IT" i="1">
                            <a:latin typeface="Cambria Math" panose="02040503050406030204" pitchFamily="18" charset="0"/>
                          </a:rPr>
                          <m:t>𝐴</m:t>
                        </m:r>
                      </m:e>
                      <m:sup>
                        <m:r>
                          <a:rPr lang="it-IT" i="1">
                            <a:latin typeface="Cambria Math" panose="02040503050406030204" pitchFamily="18" charset="0"/>
                          </a:rPr>
                          <m:t>𝑇</m:t>
                        </m:r>
                      </m:sup>
                    </m:sSup>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𝐶</m:t>
                        </m:r>
                      </m:e>
                      <m:sup>
                        <m:r>
                          <a:rPr lang="it-IT" b="0" i="1" smtClean="0">
                            <a:latin typeface="Cambria Math" panose="02040503050406030204" pitchFamily="18" charset="0"/>
                          </a:rPr>
                          <m:t>𝑇</m:t>
                        </m:r>
                      </m:sup>
                    </m:sSup>
                    <m:r>
                      <a:rPr lang="it-IT" b="0" i="1" smtClean="0">
                        <a:latin typeface="Cambria Math" panose="02040503050406030204" pitchFamily="18" charset="0"/>
                      </a:rPr>
                      <m:t>)</m:t>
                    </m:r>
                  </m:oMath>
                </a14:m>
                <a:r>
                  <a:rPr lang="it-IT" dirty="0"/>
                  <a:t> a patto che essa sia completamente ‘raggiungibile’, ovvero </a:t>
                </a:r>
              </a:p>
              <a:p>
                <a:pPr marL="0" indent="0" algn="just">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𝑟𝑎𝑛𝑘</m:t>
                      </m:r>
                      <m:d>
                        <m:dPr>
                          <m:ctrlPr>
                            <a:rPr lang="it-IT" b="0" i="1" smtClean="0">
                              <a:latin typeface="Cambria Math" panose="02040503050406030204" pitchFamily="18" charset="0"/>
                            </a:rPr>
                          </m:ctrlPr>
                        </m:dPr>
                        <m:e>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m>
                                <m:mPr>
                                  <m:mcs>
                                    <m:mc>
                                      <m:mcPr>
                                        <m:count m:val="4"/>
                                        <m:mcJc m:val="center"/>
                                      </m:mcPr>
                                    </m:mc>
                                  </m:mcs>
                                  <m:ctrlPr>
                                    <a:rPr lang="it-IT" b="0" i="1" smtClean="0">
                                      <a:latin typeface="Cambria Math" panose="02040503050406030204" pitchFamily="18" charset="0"/>
                                    </a:rPr>
                                  </m:ctrlPr>
                                </m:mPr>
                                <m:mr>
                                  <m:e>
                                    <m:sSup>
                                      <m:sSupPr>
                                        <m:ctrlPr>
                                          <a:rPr lang="it-IT" b="0" i="1" smtClean="0">
                                            <a:latin typeface="Cambria Math" panose="02040503050406030204" pitchFamily="18" charset="0"/>
                                          </a:rPr>
                                        </m:ctrlPr>
                                      </m:sSupPr>
                                      <m:e>
                                        <m:r>
                                          <m:rPr>
                                            <m:brk m:alnAt="7"/>
                                          </m:rPr>
                                          <a:rPr lang="it-IT" b="0" i="1" smtClean="0">
                                            <a:latin typeface="Cambria Math" panose="02040503050406030204" pitchFamily="18" charset="0"/>
                                          </a:rPr>
                                          <m:t>𝐶</m:t>
                                        </m:r>
                                      </m:e>
                                      <m:sup>
                                        <m:r>
                                          <m:rPr>
                                            <m:brk m:alnAt="7"/>
                                          </m:rPr>
                                          <a:rPr lang="it-IT" b="0" i="1" smtClean="0">
                                            <a:latin typeface="Cambria Math" panose="02040503050406030204" pitchFamily="18" charset="0"/>
                                          </a:rPr>
                                          <m:t>𝑇</m:t>
                                        </m:r>
                                      </m:sup>
                                    </m:sSup>
                                  </m:e>
                                  <m:e>
                                    <m:sSup>
                                      <m:sSupPr>
                                        <m:ctrlPr>
                                          <a:rPr lang="it-IT" b="0" i="1" smtClean="0">
                                            <a:latin typeface="Cambria Math" panose="02040503050406030204" pitchFamily="18" charset="0"/>
                                          </a:rPr>
                                        </m:ctrlPr>
                                      </m:sSupPr>
                                      <m:e>
                                        <m:r>
                                          <a:rPr lang="it-IT" b="0" i="1" smtClean="0">
                                            <a:latin typeface="Cambria Math" panose="02040503050406030204" pitchFamily="18" charset="0"/>
                                          </a:rPr>
                                          <m:t>𝐴</m:t>
                                        </m:r>
                                      </m:e>
                                      <m:sup>
                                        <m:r>
                                          <a:rPr lang="it-IT" b="0" i="1" smtClean="0">
                                            <a:latin typeface="Cambria Math" panose="02040503050406030204" pitchFamily="18" charset="0"/>
                                          </a:rPr>
                                          <m:t>𝑇</m:t>
                                        </m:r>
                                      </m:sup>
                                    </m:sSup>
                                    <m:sSup>
                                      <m:sSupPr>
                                        <m:ctrlPr>
                                          <a:rPr lang="it-IT" b="0" i="1" smtClean="0">
                                            <a:latin typeface="Cambria Math" panose="02040503050406030204" pitchFamily="18" charset="0"/>
                                          </a:rPr>
                                        </m:ctrlPr>
                                      </m:sSupPr>
                                      <m:e>
                                        <m:r>
                                          <a:rPr lang="it-IT" b="0" i="1" smtClean="0">
                                            <a:latin typeface="Cambria Math" panose="02040503050406030204" pitchFamily="18" charset="0"/>
                                          </a:rPr>
                                          <m:t>𝐶</m:t>
                                        </m:r>
                                      </m:e>
                                      <m:sup>
                                        <m:r>
                                          <a:rPr lang="it-IT" b="0" i="1" smtClean="0">
                                            <a:latin typeface="Cambria Math" panose="02040503050406030204" pitchFamily="18" charset="0"/>
                                          </a:rPr>
                                          <m:t>𝑇</m:t>
                                        </m:r>
                                      </m:sup>
                                    </m:sSup>
                                  </m:e>
                                  <m:e>
                                    <m:r>
                                      <a:rPr lang="it-IT" b="0" i="1" smtClean="0">
                                        <a:latin typeface="Cambria Math" panose="02040503050406030204" pitchFamily="18" charset="0"/>
                                        <a:ea typeface="Cambria Math" panose="02040503050406030204" pitchFamily="18" charset="0"/>
                                      </a:rPr>
                                      <m:t>⋯</m:t>
                                    </m:r>
                                  </m:e>
                                  <m:e>
                                    <m:r>
                                      <a:rPr lang="it-IT" b="0" i="1" smtClean="0">
                                        <a:latin typeface="Cambria Math" panose="02040503050406030204" pitchFamily="18" charset="0"/>
                                      </a:rPr>
                                      <m:t>  </m:t>
                                    </m:r>
                                    <m:sSup>
                                      <m:sSupPr>
                                        <m:ctrlPr>
                                          <a:rPr lang="it-IT" b="0" i="1" smtClean="0">
                                            <a:latin typeface="Cambria Math" panose="02040503050406030204" pitchFamily="18" charset="0"/>
                                          </a:rPr>
                                        </m:ctrlPr>
                                      </m:sSupPr>
                                      <m:e>
                                        <m:d>
                                          <m:dPr>
                                            <m:ctrlPr>
                                              <a:rPr lang="it-IT" b="0" i="1" smtClean="0">
                                                <a:latin typeface="Cambria Math" panose="02040503050406030204" pitchFamily="18" charset="0"/>
                                              </a:rPr>
                                            </m:ctrlPr>
                                          </m:dPr>
                                          <m:e>
                                            <m:sSup>
                                              <m:sSupPr>
                                                <m:ctrlPr>
                                                  <a:rPr lang="it-IT" b="0" i="1" smtClean="0">
                                                    <a:latin typeface="Cambria Math" panose="02040503050406030204" pitchFamily="18" charset="0"/>
                                                  </a:rPr>
                                                </m:ctrlPr>
                                              </m:sSupPr>
                                              <m:e>
                                                <m:r>
                                                  <a:rPr lang="it-IT" b="0" i="1" smtClean="0">
                                                    <a:latin typeface="Cambria Math" panose="02040503050406030204" pitchFamily="18" charset="0"/>
                                                  </a:rPr>
                                                  <m:t>𝐴</m:t>
                                                </m:r>
                                              </m:e>
                                              <m:sup>
                                                <m:r>
                                                  <a:rPr lang="it-IT" b="0" i="1" smtClean="0">
                                                    <a:latin typeface="Cambria Math" panose="02040503050406030204" pitchFamily="18" charset="0"/>
                                                  </a:rPr>
                                                  <m:t>𝑇</m:t>
                                                </m:r>
                                              </m:sup>
                                            </m:sSup>
                                          </m:e>
                                        </m:d>
                                      </m:e>
                                      <m:sup>
                                        <m:r>
                                          <a:rPr lang="it-IT" b="0" i="1" smtClean="0">
                                            <a:latin typeface="Cambria Math" panose="02040503050406030204" pitchFamily="18" charset="0"/>
                                          </a:rPr>
                                          <m:t>𝑛</m:t>
                                        </m:r>
                                        <m:r>
                                          <a:rPr lang="it-IT" b="0" i="1" smtClean="0">
                                            <a:latin typeface="Cambria Math" panose="02040503050406030204" pitchFamily="18" charset="0"/>
                                          </a:rPr>
                                          <m:t>−1 </m:t>
                                        </m:r>
                                      </m:sup>
                                    </m:sSup>
                                    <m:sSup>
                                      <m:sSupPr>
                                        <m:ctrlPr>
                                          <a:rPr lang="it-IT" b="0" i="1" smtClean="0">
                                            <a:latin typeface="Cambria Math" panose="02040503050406030204" pitchFamily="18" charset="0"/>
                                          </a:rPr>
                                        </m:ctrlPr>
                                      </m:sSupPr>
                                      <m:e>
                                        <m:r>
                                          <a:rPr lang="it-IT" b="0" i="1" smtClean="0">
                                            <a:latin typeface="Cambria Math" panose="02040503050406030204" pitchFamily="18" charset="0"/>
                                          </a:rPr>
                                          <m:t>𝐶</m:t>
                                        </m:r>
                                      </m:e>
                                      <m:sup>
                                        <m:r>
                                          <a:rPr lang="it-IT" b="0" i="1" smtClean="0">
                                            <a:latin typeface="Cambria Math" panose="02040503050406030204" pitchFamily="18" charset="0"/>
                                          </a:rPr>
                                          <m:t>𝑇</m:t>
                                        </m:r>
                                      </m:sup>
                                    </m:sSup>
                                    <m:r>
                                      <a:rPr lang="it-IT" b="0" i="1" smtClean="0">
                                        <a:latin typeface="Cambria Math" panose="02040503050406030204" pitchFamily="18" charset="0"/>
                                      </a:rPr>
                                      <m:t> </m:t>
                                    </m:r>
                                  </m:e>
                                </m:mr>
                              </m:m>
                            </m:e>
                          </m:d>
                        </m:e>
                      </m:d>
                      <m:r>
                        <a:rPr lang="it-IT" b="0" i="1" smtClean="0">
                          <a:latin typeface="Cambria Math" panose="02040503050406030204" pitchFamily="18" charset="0"/>
                        </a:rPr>
                        <m:t>=</m:t>
                      </m:r>
                      <m:r>
                        <a:rPr lang="it-IT" b="0" i="1" smtClean="0">
                          <a:latin typeface="Cambria Math" panose="02040503050406030204" pitchFamily="18" charset="0"/>
                        </a:rPr>
                        <m:t>𝑛</m:t>
                      </m:r>
                    </m:oMath>
                  </m:oMathPara>
                </a14:m>
                <a:endParaRPr lang="it-IT" dirty="0"/>
              </a:p>
              <a:p>
                <a:pPr algn="just"/>
                <a:r>
                  <a:rPr lang="it-IT" dirty="0"/>
                  <a:t>Ma la matrice di </a:t>
                </a:r>
                <a14:m>
                  <m:oMath xmlns:m="http://schemas.openxmlformats.org/officeDocument/2006/math">
                    <m:r>
                      <a:rPr lang="it-IT" b="0" i="0" smtClean="0">
                        <a:latin typeface="Cambria Math" panose="02040503050406030204" pitchFamily="18" charset="0"/>
                      </a:rPr>
                      <m:t>−</m:t>
                    </m:r>
                    <m:d>
                      <m:dPr>
                        <m:begChr m:val="["/>
                        <m:endChr m:val="]"/>
                        <m:ctrlPr>
                          <a:rPr lang="it-IT" i="1">
                            <a:latin typeface="Cambria Math" panose="02040503050406030204" pitchFamily="18" charset="0"/>
                          </a:rPr>
                        </m:ctrlPr>
                      </m:dPr>
                      <m:e>
                        <m:m>
                          <m:mPr>
                            <m:mcs>
                              <m:mc>
                                <m:mcPr>
                                  <m:count m:val="4"/>
                                  <m:mcJc m:val="center"/>
                                </m:mcPr>
                              </m:mc>
                            </m:mcs>
                            <m:ctrlPr>
                              <a:rPr lang="it-IT" i="1">
                                <a:latin typeface="Cambria Math" panose="02040503050406030204" pitchFamily="18" charset="0"/>
                              </a:rPr>
                            </m:ctrlPr>
                          </m:mPr>
                          <m:mr>
                            <m:e>
                              <m:sSup>
                                <m:sSupPr>
                                  <m:ctrlPr>
                                    <a:rPr lang="it-IT" i="1">
                                      <a:latin typeface="Cambria Math" panose="02040503050406030204" pitchFamily="18" charset="0"/>
                                    </a:rPr>
                                  </m:ctrlPr>
                                </m:sSupPr>
                                <m:e>
                                  <m:r>
                                    <m:rPr>
                                      <m:brk m:alnAt="7"/>
                                    </m:rPr>
                                    <a:rPr lang="it-IT" i="1">
                                      <a:latin typeface="Cambria Math" panose="02040503050406030204" pitchFamily="18" charset="0"/>
                                    </a:rPr>
                                    <m:t>𝐶</m:t>
                                  </m:r>
                                </m:e>
                                <m:sup>
                                  <m:r>
                                    <m:rPr>
                                      <m:brk m:alnAt="7"/>
                                    </m:rPr>
                                    <a:rPr lang="it-IT" i="1">
                                      <a:latin typeface="Cambria Math" panose="02040503050406030204" pitchFamily="18" charset="0"/>
                                    </a:rPr>
                                    <m:t>𝑇</m:t>
                                  </m:r>
                                </m:sup>
                              </m:sSup>
                            </m:e>
                            <m:e>
                              <m:sSup>
                                <m:sSupPr>
                                  <m:ctrlPr>
                                    <a:rPr lang="it-IT" i="1">
                                      <a:latin typeface="Cambria Math" panose="02040503050406030204" pitchFamily="18" charset="0"/>
                                    </a:rPr>
                                  </m:ctrlPr>
                                </m:sSupPr>
                                <m:e>
                                  <m:r>
                                    <a:rPr lang="it-IT" i="1">
                                      <a:latin typeface="Cambria Math" panose="02040503050406030204" pitchFamily="18" charset="0"/>
                                    </a:rPr>
                                    <m:t>𝐴</m:t>
                                  </m:r>
                                </m:e>
                                <m:sup>
                                  <m:r>
                                    <a:rPr lang="it-IT" i="1">
                                      <a:latin typeface="Cambria Math" panose="02040503050406030204" pitchFamily="18" charset="0"/>
                                    </a:rPr>
                                    <m:t>𝑇</m:t>
                                  </m:r>
                                </m:sup>
                              </m:sSup>
                              <m:sSup>
                                <m:sSupPr>
                                  <m:ctrlPr>
                                    <a:rPr lang="it-IT" i="1">
                                      <a:latin typeface="Cambria Math" panose="02040503050406030204" pitchFamily="18" charset="0"/>
                                    </a:rPr>
                                  </m:ctrlPr>
                                </m:sSupPr>
                                <m:e>
                                  <m:r>
                                    <a:rPr lang="it-IT" i="1">
                                      <a:latin typeface="Cambria Math" panose="02040503050406030204" pitchFamily="18" charset="0"/>
                                    </a:rPr>
                                    <m:t>𝐶</m:t>
                                  </m:r>
                                </m:e>
                                <m:sup>
                                  <m:r>
                                    <a:rPr lang="it-IT" i="1">
                                      <a:latin typeface="Cambria Math" panose="02040503050406030204" pitchFamily="18" charset="0"/>
                                    </a:rPr>
                                    <m:t>𝑇</m:t>
                                  </m:r>
                                </m:sup>
                              </m:sSup>
                            </m:e>
                            <m:e>
                              <m:r>
                                <a:rPr lang="it-IT" i="1">
                                  <a:latin typeface="Cambria Math" panose="02040503050406030204" pitchFamily="18" charset="0"/>
                                  <a:ea typeface="Cambria Math" panose="02040503050406030204" pitchFamily="18" charset="0"/>
                                </a:rPr>
                                <m:t>⋯</m:t>
                              </m:r>
                            </m:e>
                            <m:e>
                              <m:r>
                                <a:rPr lang="it-IT" i="1">
                                  <a:latin typeface="Cambria Math" panose="02040503050406030204" pitchFamily="18" charset="0"/>
                                </a:rPr>
                                <m:t>  </m:t>
                              </m:r>
                              <m:sSup>
                                <m:sSupPr>
                                  <m:ctrlPr>
                                    <a:rPr lang="it-IT" i="1">
                                      <a:latin typeface="Cambria Math" panose="02040503050406030204" pitchFamily="18" charset="0"/>
                                    </a:rPr>
                                  </m:ctrlPr>
                                </m:sSupPr>
                                <m:e>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1">
                                              <a:latin typeface="Cambria Math" panose="02040503050406030204" pitchFamily="18" charset="0"/>
                                            </a:rPr>
                                            <m:t>𝐴</m:t>
                                          </m:r>
                                        </m:e>
                                        <m:sup>
                                          <m:r>
                                            <a:rPr lang="it-IT" i="1">
                                              <a:latin typeface="Cambria Math" panose="02040503050406030204" pitchFamily="18" charset="0"/>
                                            </a:rPr>
                                            <m:t>𝑇</m:t>
                                          </m:r>
                                        </m:sup>
                                      </m:sSup>
                                    </m:e>
                                  </m:d>
                                </m:e>
                                <m:sup>
                                  <m:r>
                                    <a:rPr lang="it-IT" i="1">
                                      <a:latin typeface="Cambria Math" panose="02040503050406030204" pitchFamily="18" charset="0"/>
                                    </a:rPr>
                                    <m:t>𝑛</m:t>
                                  </m:r>
                                  <m:r>
                                    <a:rPr lang="it-IT" i="1">
                                      <a:latin typeface="Cambria Math" panose="02040503050406030204" pitchFamily="18" charset="0"/>
                                    </a:rPr>
                                    <m:t>−1 </m:t>
                                  </m:r>
                                </m:sup>
                              </m:sSup>
                              <m:sSup>
                                <m:sSupPr>
                                  <m:ctrlPr>
                                    <a:rPr lang="it-IT" i="1">
                                      <a:latin typeface="Cambria Math" panose="02040503050406030204" pitchFamily="18" charset="0"/>
                                    </a:rPr>
                                  </m:ctrlPr>
                                </m:sSupPr>
                                <m:e>
                                  <m:r>
                                    <a:rPr lang="it-IT" i="1">
                                      <a:latin typeface="Cambria Math" panose="02040503050406030204" pitchFamily="18" charset="0"/>
                                    </a:rPr>
                                    <m:t>𝐶</m:t>
                                  </m:r>
                                </m:e>
                                <m:sup>
                                  <m:r>
                                    <a:rPr lang="it-IT" i="1">
                                      <a:latin typeface="Cambria Math" panose="02040503050406030204" pitchFamily="18" charset="0"/>
                                    </a:rPr>
                                    <m:t>𝑇</m:t>
                                  </m:r>
                                </m:sup>
                              </m:sSup>
                              <m:r>
                                <a:rPr lang="it-IT" i="1">
                                  <a:latin typeface="Cambria Math" panose="02040503050406030204" pitchFamily="18" charset="0"/>
                                </a:rPr>
                                <m:t> </m:t>
                              </m:r>
                            </m:e>
                          </m:mr>
                        </m:m>
                      </m:e>
                    </m:d>
                  </m:oMath>
                </a14:m>
                <a:r>
                  <a:rPr lang="it-IT" dirty="0"/>
                  <a:t> non è altro che la matrice di osservabilità del sistema trasposta </a:t>
                </a:r>
                <a14:m>
                  <m:oMath xmlns:m="http://schemas.openxmlformats.org/officeDocument/2006/math">
                    <m:sSubSup>
                      <m:sSubSupPr>
                        <m:ctrlPr>
                          <a:rPr lang="it-IT" b="0" i="1" smtClean="0">
                            <a:latin typeface="Cambria Math" panose="02040503050406030204" pitchFamily="18" charset="0"/>
                          </a:rPr>
                        </m:ctrlPr>
                      </m:sSubSupPr>
                      <m:e>
                        <m:r>
                          <a:rPr lang="it-IT" b="0" i="1" smtClean="0">
                            <a:latin typeface="Cambria Math" panose="02040503050406030204" pitchFamily="18" charset="0"/>
                          </a:rPr>
                          <m:t>−</m:t>
                        </m:r>
                        <m:r>
                          <a:rPr lang="it-IT" b="0" i="1" smtClean="0">
                            <a:latin typeface="Cambria Math" panose="02040503050406030204" pitchFamily="18" charset="0"/>
                          </a:rPr>
                          <m:t>𝑀</m:t>
                        </m:r>
                      </m:e>
                      <m:sub>
                        <m:r>
                          <a:rPr lang="it-IT" b="0" i="1" smtClean="0">
                            <a:latin typeface="Cambria Math" panose="02040503050406030204" pitchFamily="18" charset="0"/>
                          </a:rPr>
                          <m:t>0</m:t>
                        </m:r>
                      </m:sub>
                      <m:sup>
                        <m:r>
                          <a:rPr lang="it-IT" b="0" i="1" smtClean="0">
                            <a:latin typeface="Cambria Math" panose="02040503050406030204" pitchFamily="18" charset="0"/>
                          </a:rPr>
                          <m:t>𝑇</m:t>
                        </m:r>
                      </m:sup>
                    </m:sSubSup>
                  </m:oMath>
                </a14:m>
                <a:r>
                  <a:rPr lang="it-IT" dirty="0"/>
                  <a:t>.</a:t>
                </a:r>
              </a:p>
              <a:p>
                <a:pPr algn="just"/>
                <a:r>
                  <a:rPr lang="it-IT" dirty="0"/>
                  <a:t>Concludendo, nell’ipotesi che il sistema sia completamente osservabile, è possibile fissare gli </a:t>
                </a:r>
                <a:r>
                  <a:rPr lang="it-IT" dirty="0" err="1"/>
                  <a:t>autovalori</a:t>
                </a:r>
                <a:r>
                  <a:rPr lang="it-IT" dirty="0"/>
                  <a:t> dell’osservatore mediante una matrice di guadagno </a:t>
                </a:r>
                <a14:m>
                  <m:oMath xmlns:m="http://schemas.openxmlformats.org/officeDocument/2006/math">
                    <m:r>
                      <a:rPr lang="it-IT" i="1">
                        <a:latin typeface="Cambria Math" panose="02040503050406030204" pitchFamily="18" charset="0"/>
                      </a:rPr>
                      <m:t>𝐺</m:t>
                    </m:r>
                  </m:oMath>
                </a14:m>
                <a:r>
                  <a:rPr lang="it-IT" dirty="0"/>
                  <a:t> calcolabile attraverso la formula di </a:t>
                </a:r>
                <a:r>
                  <a:rPr lang="it-IT" dirty="0" err="1"/>
                  <a:t>Ackermann</a:t>
                </a:r>
                <a:r>
                  <a:rPr lang="it-IT" dirty="0"/>
                  <a:t>:</a:t>
                </a:r>
              </a:p>
              <a:p>
                <a:pPr marL="0" indent="0" algn="ctr">
                  <a:buNone/>
                </a:pPr>
                <a14:m>
                  <m:oMath xmlns:m="http://schemas.openxmlformats.org/officeDocument/2006/math">
                    <m:sSup>
                      <m:sSupPr>
                        <m:ctrlPr>
                          <a:rPr lang="it-IT" b="0" i="1" smtClean="0">
                            <a:latin typeface="Cambria Math" panose="02040503050406030204" pitchFamily="18" charset="0"/>
                          </a:rPr>
                        </m:ctrlPr>
                      </m:sSupPr>
                      <m:e>
                        <m:r>
                          <a:rPr lang="it-IT" b="0" i="1" smtClean="0">
                            <a:latin typeface="Cambria Math" panose="02040503050406030204" pitchFamily="18" charset="0"/>
                          </a:rPr>
                          <m:t>𝐺</m:t>
                        </m:r>
                      </m:e>
                      <m:sup>
                        <m:r>
                          <a:rPr lang="it-IT" b="0" i="1" smtClean="0">
                            <a:latin typeface="Cambria Math" panose="02040503050406030204" pitchFamily="18" charset="0"/>
                          </a:rPr>
                          <m:t>𝑇</m:t>
                        </m:r>
                      </m:sup>
                    </m:sSup>
                    <m:r>
                      <a:rPr lang="it-IT" i="1">
                        <a:latin typeface="Cambria Math" panose="02040503050406030204" pitchFamily="18" charset="0"/>
                      </a:rPr>
                      <m:t>=</m:t>
                    </m:r>
                    <m:acc>
                      <m:accPr>
                        <m:chr m:val="̅"/>
                        <m:ctrlPr>
                          <a:rPr lang="it-IT" i="1">
                            <a:latin typeface="Cambria Math" panose="02040503050406030204" pitchFamily="18" charset="0"/>
                          </a:rPr>
                        </m:ctrlPr>
                      </m:accPr>
                      <m:e>
                        <m:r>
                          <a:rPr lang="it-IT" i="1">
                            <a:latin typeface="Cambria Math" panose="02040503050406030204" pitchFamily="18" charset="0"/>
                          </a:rPr>
                          <m:t>𝛾</m:t>
                        </m:r>
                      </m:e>
                    </m:acc>
                  </m:oMath>
                </a14:m>
                <a:r>
                  <a:rPr lang="it-IT" dirty="0"/>
                  <a:t> </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𝑝</m:t>
                        </m:r>
                      </m:e>
                      <m:sub>
                        <m:sSup>
                          <m:sSupPr>
                            <m:ctrlPr>
                              <a:rPr lang="it-IT" b="0" i="1" smtClean="0">
                                <a:latin typeface="Cambria Math" panose="02040503050406030204" pitchFamily="18" charset="0"/>
                              </a:rPr>
                            </m:ctrlPr>
                          </m:sSupPr>
                          <m:e>
                            <m:r>
                              <a:rPr lang="it-IT" i="1">
                                <a:latin typeface="Cambria Math" panose="02040503050406030204" pitchFamily="18" charset="0"/>
                              </a:rPr>
                              <m:t>𝐴</m:t>
                            </m:r>
                          </m:e>
                          <m:sup>
                            <m:r>
                              <a:rPr lang="it-IT" b="0" i="1" smtClean="0">
                                <a:latin typeface="Cambria Math" panose="02040503050406030204" pitchFamily="18" charset="0"/>
                              </a:rPr>
                              <m:t>𝑇</m:t>
                            </m:r>
                          </m:sup>
                        </m:sSup>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𝐶</m:t>
                            </m:r>
                          </m:e>
                          <m:sup>
                            <m:r>
                              <a:rPr lang="it-IT" b="0" i="1" smtClean="0">
                                <a:latin typeface="Cambria Math" panose="02040503050406030204" pitchFamily="18" charset="0"/>
                              </a:rPr>
                              <m:t>𝑇</m:t>
                            </m:r>
                          </m:sup>
                        </m:sSup>
                        <m:sSup>
                          <m:sSupPr>
                            <m:ctrlPr>
                              <a:rPr lang="it-IT" b="0" i="1" smtClean="0">
                                <a:latin typeface="Cambria Math" panose="02040503050406030204" pitchFamily="18" charset="0"/>
                              </a:rPr>
                            </m:ctrlPr>
                          </m:sSupPr>
                          <m:e>
                            <m:r>
                              <a:rPr lang="it-IT" b="0" i="1" smtClean="0">
                                <a:latin typeface="Cambria Math" panose="02040503050406030204" pitchFamily="18" charset="0"/>
                              </a:rPr>
                              <m:t>𝐺</m:t>
                            </m:r>
                          </m:e>
                          <m:sup>
                            <m:r>
                              <a:rPr lang="it-IT" b="0" i="1" smtClean="0">
                                <a:latin typeface="Cambria Math" panose="02040503050406030204" pitchFamily="18" charset="0"/>
                              </a:rPr>
                              <m:t>𝑇</m:t>
                            </m:r>
                          </m:sup>
                        </m:sSup>
                      </m:sub>
                    </m:sSub>
                    <m:d>
                      <m:dPr>
                        <m:ctrlPr>
                          <a:rPr lang="it-IT" i="1">
                            <a:latin typeface="Cambria Math" panose="02040503050406030204" pitchFamily="18" charset="0"/>
                          </a:rPr>
                        </m:ctrlPr>
                      </m:dPr>
                      <m:e>
                        <m:sSup>
                          <m:sSupPr>
                            <m:ctrlPr>
                              <a:rPr lang="it-IT" b="0" i="1" smtClean="0">
                                <a:latin typeface="Cambria Math" panose="02040503050406030204" pitchFamily="18" charset="0"/>
                              </a:rPr>
                            </m:ctrlPr>
                          </m:sSupPr>
                          <m:e>
                            <m:r>
                              <a:rPr lang="it-IT" i="1">
                                <a:latin typeface="Cambria Math" panose="02040503050406030204" pitchFamily="18" charset="0"/>
                              </a:rPr>
                              <m:t>𝐴</m:t>
                            </m:r>
                          </m:e>
                          <m:sup>
                            <m:r>
                              <a:rPr lang="it-IT" b="0" i="1" smtClean="0">
                                <a:latin typeface="Cambria Math" panose="02040503050406030204" pitchFamily="18" charset="0"/>
                              </a:rPr>
                              <m:t>𝑇</m:t>
                            </m:r>
                          </m:sup>
                        </m:sSup>
                      </m:e>
                    </m:d>
                  </m:oMath>
                </a14:m>
                <a:endParaRPr lang="it-IT" dirty="0"/>
              </a:p>
              <a:p>
                <a:pPr marL="0" indent="0" algn="just">
                  <a:buNone/>
                </a:pPr>
                <a:r>
                  <a:rPr lang="it-IT" dirty="0"/>
                  <a:t>      con</a:t>
                </a:r>
                <a14:m>
                  <m:oMath xmlns:m="http://schemas.openxmlformats.org/officeDocument/2006/math">
                    <m:r>
                      <a:rPr lang="it-IT" b="0" i="0" smtClean="0">
                        <a:latin typeface="Cambria Math" panose="02040503050406030204" pitchFamily="18" charset="0"/>
                      </a:rPr>
                      <m:t>  </m:t>
                    </m:r>
                    <m:acc>
                      <m:accPr>
                        <m:chr m:val="̅"/>
                        <m:ctrlPr>
                          <a:rPr lang="it-IT" i="1">
                            <a:latin typeface="Cambria Math" panose="02040503050406030204" pitchFamily="18" charset="0"/>
                          </a:rPr>
                        </m:ctrlPr>
                      </m:accPr>
                      <m:e>
                        <m:r>
                          <a:rPr lang="it-IT" i="1">
                            <a:latin typeface="Cambria Math" panose="02040503050406030204" pitchFamily="18" charset="0"/>
                          </a:rPr>
                          <m:t>𝛾</m:t>
                        </m:r>
                      </m:e>
                    </m:acc>
                    <m:r>
                      <a:rPr lang="it-IT" b="0" i="1" smtClean="0">
                        <a:latin typeface="Cambria Math" panose="02040503050406030204" pitchFamily="18" charset="0"/>
                      </a:rPr>
                      <m:t>=</m:t>
                    </m:r>
                    <m:d>
                      <m:dPr>
                        <m:begChr m:val="["/>
                        <m:endChr m:val="]"/>
                        <m:ctrlPr>
                          <a:rPr lang="it-IT" i="1">
                            <a:latin typeface="Cambria Math" panose="02040503050406030204" pitchFamily="18" charset="0"/>
                          </a:rPr>
                        </m:ctrlPr>
                      </m:dPr>
                      <m:e>
                        <m:r>
                          <a:rPr lang="it-IT" i="1">
                            <a:latin typeface="Cambria Math" panose="02040503050406030204" pitchFamily="18" charset="0"/>
                          </a:rPr>
                          <m:t>0  0 …  0  1</m:t>
                        </m:r>
                      </m:e>
                    </m:d>
                    <m:sSup>
                      <m:sSupPr>
                        <m:ctrlPr>
                          <a:rPr lang="it-IT" b="0" i="1" smtClean="0">
                            <a:latin typeface="Cambria Math" panose="02040503050406030204" pitchFamily="18" charset="0"/>
                          </a:rPr>
                        </m:ctrlPr>
                      </m:sSupPr>
                      <m:e>
                        <m:d>
                          <m:dPr>
                            <m:ctrlPr>
                              <a:rPr lang="it-IT" i="1" smtClean="0">
                                <a:latin typeface="Cambria Math" panose="02040503050406030204" pitchFamily="18" charset="0"/>
                              </a:rPr>
                            </m:ctrlPr>
                          </m:dPr>
                          <m:e>
                            <m:sSubSup>
                              <m:sSubSupPr>
                                <m:ctrlPr>
                                  <a:rPr lang="it-IT" i="1">
                                    <a:latin typeface="Cambria Math" panose="02040503050406030204" pitchFamily="18" charset="0"/>
                                  </a:rPr>
                                </m:ctrlPr>
                              </m:sSubSupPr>
                              <m:e>
                                <m:r>
                                  <a:rPr lang="it-IT" i="1">
                                    <a:latin typeface="Cambria Math" panose="02040503050406030204" pitchFamily="18" charset="0"/>
                                  </a:rPr>
                                  <m:t>𝑀</m:t>
                                </m:r>
                              </m:e>
                              <m:sub>
                                <m:r>
                                  <a:rPr lang="it-IT" i="1">
                                    <a:latin typeface="Cambria Math" panose="02040503050406030204" pitchFamily="18" charset="0"/>
                                  </a:rPr>
                                  <m:t>𝑜</m:t>
                                </m:r>
                              </m:sub>
                              <m:sup>
                                <m:r>
                                  <a:rPr lang="it-IT" i="1">
                                    <a:latin typeface="Cambria Math" panose="02040503050406030204" pitchFamily="18" charset="0"/>
                                  </a:rPr>
                                  <m:t>𝑇</m:t>
                                </m:r>
                              </m:sup>
                            </m:sSubSup>
                          </m:e>
                        </m:d>
                      </m:e>
                      <m:sup>
                        <m:r>
                          <a:rPr lang="it-IT" b="0" i="1" smtClean="0">
                            <a:latin typeface="Cambria Math" panose="02040503050406030204" pitchFamily="18" charset="0"/>
                          </a:rPr>
                          <m:t>−1</m:t>
                        </m:r>
                      </m:sup>
                    </m:sSup>
                  </m:oMath>
                </a14:m>
                <a:r>
                  <a:rPr lang="it-IT" dirty="0"/>
                  <a:t>.</a:t>
                </a:r>
              </a:p>
              <a:p>
                <a:pPr algn="just"/>
                <a:endParaRPr lang="it-IT" dirty="0"/>
              </a:p>
              <a:p>
                <a:pPr algn="just"/>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3" t="-452" r="-577"/>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10</a:t>
            </a:fld>
            <a:endParaRPr lang="en-US"/>
          </a:p>
        </p:txBody>
      </p:sp>
    </p:spTree>
    <p:extLst>
      <p:ext uri="{BB962C8B-B14F-4D97-AF65-F5344CB8AC3E}">
        <p14:creationId xmlns:p14="http://schemas.microsoft.com/office/powerpoint/2010/main" val="2444708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err="1"/>
              <a:t>Stabilizzabilità</a:t>
            </a:r>
            <a:r>
              <a:rPr lang="it-IT" dirty="0"/>
              <a:t> e rilevabilità </a:t>
            </a:r>
            <a:endParaRPr lang="en-US" dirty="0"/>
          </a:p>
        </p:txBody>
      </p:sp>
      <mc:AlternateContent xmlns:mc="http://schemas.openxmlformats.org/markup-compatibility/2006">
        <mc:Choice xmlns:a14="http://schemas.microsoft.com/office/drawing/2010/main" Requires="a14">
          <p:sp>
            <p:nvSpPr>
              <p:cNvPr id="3" name="Segnaposto contenuto 2"/>
              <p:cNvSpPr>
                <a:spLocks noGrp="1"/>
              </p:cNvSpPr>
              <p:nvPr>
                <p:ph idx="1"/>
              </p:nvPr>
            </p:nvSpPr>
            <p:spPr>
              <a:xfrm>
                <a:off x="179512" y="981522"/>
                <a:ext cx="8784976" cy="5590728"/>
              </a:xfrm>
            </p:spPr>
            <p:txBody>
              <a:bodyPr/>
              <a:lstStyle/>
              <a:p>
                <a:pPr algn="just"/>
                <a:r>
                  <a:rPr lang="it-IT" dirty="0"/>
                  <a:t>La coppia </a:t>
                </a:r>
                <a14:m>
                  <m:oMath xmlns:m="http://schemas.openxmlformats.org/officeDocument/2006/math">
                    <m:d>
                      <m:dPr>
                        <m:ctrlPr>
                          <a:rPr lang="it-IT" i="1">
                            <a:latin typeface="Cambria Math" panose="02040503050406030204" pitchFamily="18" charset="0"/>
                          </a:rPr>
                        </m:ctrlPr>
                      </m:dPr>
                      <m:e>
                        <m:r>
                          <a:rPr lang="it-IT" i="1">
                            <a:latin typeface="Cambria Math" panose="02040503050406030204" pitchFamily="18" charset="0"/>
                          </a:rPr>
                          <m:t>𝐴</m:t>
                        </m:r>
                        <m:r>
                          <a:rPr lang="it-IT" i="1">
                            <a:latin typeface="Cambria Math" panose="02040503050406030204" pitchFamily="18" charset="0"/>
                          </a:rPr>
                          <m:t>,</m:t>
                        </m:r>
                        <m:r>
                          <a:rPr lang="it-IT" i="1">
                            <a:latin typeface="Cambria Math" panose="02040503050406030204" pitchFamily="18" charset="0"/>
                          </a:rPr>
                          <m:t>𝐵</m:t>
                        </m:r>
                      </m:e>
                    </m:d>
                  </m:oMath>
                </a14:m>
                <a:r>
                  <a:rPr lang="it-IT" dirty="0"/>
                  <a:t> è detta </a:t>
                </a:r>
                <a:r>
                  <a:rPr lang="it-IT" b="1" dirty="0">
                    <a:solidFill>
                      <a:schemeClr val="accent2"/>
                    </a:solidFill>
                  </a:rPr>
                  <a:t>stabilizzabile</a:t>
                </a:r>
                <a:r>
                  <a:rPr lang="it-IT" dirty="0"/>
                  <a:t>  se </a:t>
                </a:r>
                <a14:m>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 </m:t>
                    </m:r>
                    <m:r>
                      <a:rPr lang="it-IT" b="0" i="1" smtClean="0">
                        <a:latin typeface="Cambria Math" panose="02040503050406030204" pitchFamily="18" charset="0"/>
                        <a:ea typeface="Cambria Math" panose="02040503050406030204" pitchFamily="18" charset="0"/>
                      </a:rPr>
                      <m:t>𝐾</m:t>
                    </m:r>
                    <m:r>
                      <a:rPr lang="it-IT" b="0" i="1" smtClean="0">
                        <a:latin typeface="Cambria Math" panose="02040503050406030204" pitchFamily="18" charset="0"/>
                        <a:ea typeface="Cambria Math" panose="02040503050406030204" pitchFamily="18" charset="0"/>
                      </a:rPr>
                      <m:t> :</m:t>
                    </m:r>
                    <m:d>
                      <m:dPr>
                        <m:ctrlPr>
                          <a:rPr lang="it-IT" b="0" i="1" smtClean="0">
                            <a:latin typeface="Cambria Math" panose="02040503050406030204" pitchFamily="18" charset="0"/>
                            <a:ea typeface="Cambria Math" panose="02040503050406030204" pitchFamily="18" charset="0"/>
                          </a:rPr>
                        </m:ctrlPr>
                      </m:dPr>
                      <m:e>
                        <m:r>
                          <a:rPr lang="it-IT" b="0" i="1" smtClean="0">
                            <a:latin typeface="Cambria Math" panose="02040503050406030204" pitchFamily="18" charset="0"/>
                            <a:ea typeface="Cambria Math" panose="02040503050406030204" pitchFamily="18" charset="0"/>
                          </a:rPr>
                          <m:t>𝐴</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𝐵𝐾</m:t>
                        </m:r>
                      </m:e>
                    </m:d>
                  </m:oMath>
                </a14:m>
                <a:r>
                  <a:rPr lang="it-IT" dirty="0"/>
                  <a:t> presenta tutti gli </a:t>
                </a:r>
                <a:r>
                  <a:rPr lang="it-IT" dirty="0" err="1"/>
                  <a:t>autovalori</a:t>
                </a:r>
                <a:r>
                  <a:rPr lang="it-IT" dirty="0"/>
                  <a:t> a parte reale negativa. </a:t>
                </a:r>
              </a:p>
              <a:p>
                <a:pPr algn="just"/>
                <a:r>
                  <a:rPr lang="it-IT" dirty="0"/>
                  <a:t>Un sistema è stabilizzabile se è raggiungibile o se la parte non raggiungibile presenta tutti modi di evoluzione convergenti.</a:t>
                </a:r>
              </a:p>
              <a:p>
                <a:pPr algn="just"/>
                <a:endParaRPr lang="it-IT" dirty="0"/>
              </a:p>
              <a:p>
                <a:pPr algn="just"/>
                <a:r>
                  <a:rPr lang="it-IT" dirty="0"/>
                  <a:t>La coppia </a:t>
                </a:r>
                <a14:m>
                  <m:oMath xmlns:m="http://schemas.openxmlformats.org/officeDocument/2006/math">
                    <m:d>
                      <m:dPr>
                        <m:ctrlPr>
                          <a:rPr lang="it-IT" i="1">
                            <a:latin typeface="Cambria Math" panose="02040503050406030204" pitchFamily="18" charset="0"/>
                          </a:rPr>
                        </m:ctrlPr>
                      </m:dPr>
                      <m:e>
                        <m:r>
                          <a:rPr lang="it-IT" i="1">
                            <a:latin typeface="Cambria Math" panose="02040503050406030204" pitchFamily="18" charset="0"/>
                          </a:rPr>
                          <m:t>𝐴</m:t>
                        </m:r>
                        <m:r>
                          <a:rPr lang="it-IT" i="1">
                            <a:latin typeface="Cambria Math" panose="02040503050406030204" pitchFamily="18" charset="0"/>
                          </a:rPr>
                          <m:t>,</m:t>
                        </m:r>
                        <m:r>
                          <a:rPr lang="it-IT" b="0" i="1" smtClean="0">
                            <a:latin typeface="Cambria Math" panose="02040503050406030204" pitchFamily="18" charset="0"/>
                          </a:rPr>
                          <m:t>𝐶</m:t>
                        </m:r>
                      </m:e>
                    </m:d>
                  </m:oMath>
                </a14:m>
                <a:r>
                  <a:rPr lang="it-IT" dirty="0"/>
                  <a:t> è detta </a:t>
                </a:r>
                <a:r>
                  <a:rPr lang="it-IT" b="1" dirty="0">
                    <a:solidFill>
                      <a:schemeClr val="accent2"/>
                    </a:solidFill>
                  </a:rPr>
                  <a:t>rilevabile</a:t>
                </a:r>
                <a:r>
                  <a:rPr lang="it-IT" dirty="0"/>
                  <a:t>  se </a:t>
                </a:r>
                <a14:m>
                  <m:oMath xmlns:m="http://schemas.openxmlformats.org/officeDocument/2006/math">
                    <m:r>
                      <a:rPr lang="it-IT" i="1">
                        <a:latin typeface="Cambria Math" panose="02040503050406030204" pitchFamily="18" charset="0"/>
                        <a:ea typeface="Cambria Math" panose="02040503050406030204" pitchFamily="18" charset="0"/>
                      </a:rPr>
                      <m:t>∃ </m:t>
                    </m:r>
                    <m:r>
                      <a:rPr lang="it-IT" b="0" i="1" smtClean="0">
                        <a:latin typeface="Cambria Math" panose="02040503050406030204" pitchFamily="18" charset="0"/>
                        <a:ea typeface="Cambria Math" panose="02040503050406030204" pitchFamily="18" charset="0"/>
                      </a:rPr>
                      <m:t>𝐺</m:t>
                    </m:r>
                    <m:r>
                      <a:rPr lang="it-IT" i="1">
                        <a:latin typeface="Cambria Math" panose="02040503050406030204" pitchFamily="18" charset="0"/>
                        <a:ea typeface="Cambria Math" panose="02040503050406030204" pitchFamily="18" charset="0"/>
                      </a:rPr>
                      <m:t> :</m:t>
                    </m:r>
                    <m:d>
                      <m:dPr>
                        <m:ctrlPr>
                          <a:rPr lang="it-IT" i="1">
                            <a:latin typeface="Cambria Math" panose="02040503050406030204" pitchFamily="18" charset="0"/>
                            <a:ea typeface="Cambria Math" panose="02040503050406030204" pitchFamily="18" charset="0"/>
                          </a:rPr>
                        </m:ctrlPr>
                      </m:dPr>
                      <m:e>
                        <m:r>
                          <a:rPr lang="it-IT" i="1">
                            <a:latin typeface="Cambria Math" panose="02040503050406030204" pitchFamily="18" charset="0"/>
                            <a:ea typeface="Cambria Math" panose="02040503050406030204" pitchFamily="18" charset="0"/>
                          </a:rPr>
                          <m:t>𝐴</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𝐺𝐶</m:t>
                        </m:r>
                      </m:e>
                    </m:d>
                  </m:oMath>
                </a14:m>
                <a:r>
                  <a:rPr lang="it-IT" dirty="0"/>
                  <a:t> presenta tutti gli </a:t>
                </a:r>
                <a:r>
                  <a:rPr lang="it-IT" dirty="0" err="1"/>
                  <a:t>autovalori</a:t>
                </a:r>
                <a:r>
                  <a:rPr lang="it-IT" dirty="0"/>
                  <a:t> a parte reale negativa. </a:t>
                </a:r>
              </a:p>
              <a:p>
                <a:pPr algn="just"/>
                <a:r>
                  <a:rPr lang="it-IT" dirty="0"/>
                  <a:t>Un sistema è rilevabile se è osservabile o se la parte non osservabile presenta tutti modi di evoluzione convergenti.</a:t>
                </a:r>
              </a:p>
              <a:p>
                <a:pPr marL="0" indent="0" algn="just">
                  <a:buNone/>
                </a:pPr>
                <a:endParaRPr lang="it-IT" dirty="0"/>
              </a:p>
            </p:txBody>
          </p:sp>
        </mc:Choice>
        <mc:Fallback>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2" t="-454" r="-576"/>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11</a:t>
            </a:fld>
            <a:endParaRPr lang="en-US"/>
          </a:p>
        </p:txBody>
      </p:sp>
    </p:spTree>
    <p:extLst>
      <p:ext uri="{BB962C8B-B14F-4D97-AF65-F5344CB8AC3E}">
        <p14:creationId xmlns:p14="http://schemas.microsoft.com/office/powerpoint/2010/main" val="1836537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Principio di separazione</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pPr algn="just"/>
                <a:r>
                  <a:rPr lang="it-IT" dirty="0"/>
                  <a:t>Nell’ipotesi di sistema osservabile, abbiamo dimostrato che lo stato stimato dall’osservatore </a:t>
                </a:r>
                <a14:m>
                  <m:oMath xmlns:m="http://schemas.openxmlformats.org/officeDocument/2006/math">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r>
                      <a:rPr lang="it-IT" b="0" i="1" dirty="0" smtClean="0">
                        <a:latin typeface="Cambria Math" panose="02040503050406030204" pitchFamily="18" charset="0"/>
                      </a:rPr>
                      <m:t>(</m:t>
                    </m:r>
                    <m:r>
                      <a:rPr lang="it-IT" b="0" i="1" dirty="0" smtClean="0">
                        <a:latin typeface="Cambria Math" panose="02040503050406030204" pitchFamily="18" charset="0"/>
                      </a:rPr>
                      <m:t>𝑡</m:t>
                    </m:r>
                    <m:r>
                      <a:rPr lang="it-IT" b="0" i="1" dirty="0" smtClean="0">
                        <a:latin typeface="Cambria Math" panose="02040503050406030204" pitchFamily="18" charset="0"/>
                      </a:rPr>
                      <m:t>)</m:t>
                    </m:r>
                  </m:oMath>
                </a14:m>
                <a:r>
                  <a:rPr lang="it-IT" dirty="0"/>
                  <a:t> convergerà a quello effettivo del sistema </a:t>
                </a:r>
                <a14:m>
                  <m:oMath xmlns:m="http://schemas.openxmlformats.org/officeDocument/2006/math">
                    <m:r>
                      <a:rPr lang="it-IT" b="0" i="1" smtClean="0">
                        <a:latin typeface="Cambria Math" panose="02040503050406030204" pitchFamily="18" charset="0"/>
                      </a:rPr>
                      <m:t>𝑥</m:t>
                    </m:r>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oMath>
                </a14:m>
                <a:r>
                  <a:rPr lang="it-IT" dirty="0"/>
                  <a:t> con delle costanti di tempo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𝜏</m:t>
                        </m:r>
                      </m:e>
                      <m:sub>
                        <m:r>
                          <a:rPr lang="it-IT" b="0" i="1" smtClean="0">
                            <a:latin typeface="Cambria Math" panose="02040503050406030204" pitchFamily="18" charset="0"/>
                          </a:rPr>
                          <m:t>𝑜𝑠𝑠</m:t>
                        </m:r>
                      </m:sub>
                    </m:sSub>
                  </m:oMath>
                </a14:m>
                <a:r>
                  <a:rPr lang="it-IT" dirty="0"/>
                  <a:t> fissate dalla matrice </a:t>
                </a:r>
                <a14:m>
                  <m:oMath xmlns:m="http://schemas.openxmlformats.org/officeDocument/2006/math">
                    <m:r>
                      <a:rPr lang="it-IT" i="1">
                        <a:latin typeface="Cambria Math" panose="02040503050406030204" pitchFamily="18" charset="0"/>
                        <a:ea typeface="Cambria Math" panose="02040503050406030204" pitchFamily="18" charset="0"/>
                      </a:rPr>
                      <m:t>𝐺</m:t>
                    </m:r>
                  </m:oMath>
                </a14:m>
                <a:r>
                  <a:rPr lang="it-IT" dirty="0"/>
                  <a:t>.</a:t>
                </a:r>
              </a:p>
              <a:p>
                <a:pPr algn="just"/>
                <a:r>
                  <a:rPr lang="it-IT" dirty="0"/>
                  <a:t>Obiettivo adesso è capire cosa accade agli </a:t>
                </a:r>
                <a:r>
                  <a:rPr lang="it-IT" dirty="0" err="1"/>
                  <a:t>autovalori</a:t>
                </a:r>
                <a:r>
                  <a:rPr lang="it-IT" dirty="0"/>
                  <a:t> del sistema a ciclo chiuso (di dimensione </a:t>
                </a:r>
                <a14:m>
                  <m:oMath xmlns:m="http://schemas.openxmlformats.org/officeDocument/2006/math">
                    <m:r>
                      <a:rPr lang="it-IT" b="0" i="1" smtClean="0">
                        <a:latin typeface="Cambria Math" panose="02040503050406030204" pitchFamily="18" charset="0"/>
                      </a:rPr>
                      <m:t>2</m:t>
                    </m:r>
                    <m:r>
                      <a:rPr lang="it-IT" b="0" i="1" smtClean="0">
                        <a:latin typeface="Cambria Math" panose="02040503050406030204" pitchFamily="18" charset="0"/>
                      </a:rPr>
                      <m:t>𝑛</m:t>
                    </m:r>
                  </m:oMath>
                </a14:m>
                <a:r>
                  <a:rPr lang="it-IT" dirty="0"/>
                  <a:t>) nel momento in cui </a:t>
                </a:r>
                <a:r>
                  <a:rPr lang="it-IT" dirty="0" err="1"/>
                  <a:t>retroazioniamo</a:t>
                </a:r>
                <a:r>
                  <a:rPr lang="it-IT" dirty="0"/>
                  <a:t> lo stato stimato del sistema.</a:t>
                </a:r>
              </a:p>
              <a:p>
                <a:pPr algn="just"/>
                <a:endParaRPr lang="it-IT" dirty="0"/>
              </a:p>
              <a:p>
                <a:pPr algn="just"/>
                <a:endParaRPr lang="it-IT" dirty="0"/>
              </a:p>
              <a:p>
                <a:pPr algn="just"/>
                <a:endParaRPr lang="it-IT" dirty="0"/>
              </a:p>
              <a:p>
                <a:pPr algn="just"/>
                <a:endParaRPr lang="it-IT" dirty="0"/>
              </a:p>
              <a:p>
                <a:pPr algn="just"/>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3" t="-452" r="-577"/>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12</a:t>
            </a:fld>
            <a:endParaRPr lang="en-US"/>
          </a:p>
        </p:txBody>
      </p:sp>
      <p:grpSp>
        <p:nvGrpSpPr>
          <p:cNvPr id="6" name="Gruppo 5">
            <a:extLst>
              <a:ext uri="{FF2B5EF4-FFF2-40B4-BE49-F238E27FC236}">
                <a16:creationId xmlns:a16="http://schemas.microsoft.com/office/drawing/2014/main" id="{43D0A3A5-AB31-674C-ADCC-AA74F3F21EB4}"/>
              </a:ext>
            </a:extLst>
          </p:cNvPr>
          <p:cNvGrpSpPr/>
          <p:nvPr/>
        </p:nvGrpSpPr>
        <p:grpSpPr>
          <a:xfrm>
            <a:off x="1126188" y="3408332"/>
            <a:ext cx="6891624" cy="2532435"/>
            <a:chOff x="539552" y="3776886"/>
            <a:chExt cx="6891624" cy="2532435"/>
          </a:xfrm>
        </p:grpSpPr>
        <p:grpSp>
          <p:nvGrpSpPr>
            <p:cNvPr id="8" name="Gruppo 7">
              <a:extLst>
                <a:ext uri="{FF2B5EF4-FFF2-40B4-BE49-F238E27FC236}">
                  <a16:creationId xmlns:a16="http://schemas.microsoft.com/office/drawing/2014/main" id="{5D33774C-717C-944C-BE94-815281549E8A}"/>
                </a:ext>
              </a:extLst>
            </p:cNvPr>
            <p:cNvGrpSpPr/>
            <p:nvPr/>
          </p:nvGrpSpPr>
          <p:grpSpPr>
            <a:xfrm>
              <a:off x="1598525" y="3776886"/>
              <a:ext cx="5832651" cy="2168162"/>
              <a:chOff x="2735797" y="1980918"/>
              <a:chExt cx="5832651" cy="2168162"/>
            </a:xfrm>
          </p:grpSpPr>
          <p:grpSp>
            <p:nvGrpSpPr>
              <p:cNvPr id="15" name="Gruppo 14">
                <a:extLst>
                  <a:ext uri="{FF2B5EF4-FFF2-40B4-BE49-F238E27FC236}">
                    <a16:creationId xmlns:a16="http://schemas.microsoft.com/office/drawing/2014/main" id="{375BD5D1-DEE0-6843-8D16-F406E3A51BEF}"/>
                  </a:ext>
                </a:extLst>
              </p:cNvPr>
              <p:cNvGrpSpPr/>
              <p:nvPr/>
            </p:nvGrpSpPr>
            <p:grpSpPr>
              <a:xfrm>
                <a:off x="3394444" y="1980918"/>
                <a:ext cx="4993980" cy="2168162"/>
                <a:chOff x="3106412" y="4755432"/>
                <a:chExt cx="4993980" cy="2168162"/>
              </a:xfrm>
            </p:grpSpPr>
            <mc:AlternateContent xmlns:mc="http://schemas.openxmlformats.org/markup-compatibility/2006" xmlns:a14="http://schemas.microsoft.com/office/drawing/2010/main">
              <mc:Choice Requires="a14">
                <p:sp>
                  <p:nvSpPr>
                    <p:cNvPr id="25" name="Rettangolo 24">
                      <a:extLst>
                        <a:ext uri="{FF2B5EF4-FFF2-40B4-BE49-F238E27FC236}">
                          <a16:creationId xmlns:a16="http://schemas.microsoft.com/office/drawing/2014/main" id="{02789241-1FF1-394A-88D4-5A51359339D4}"/>
                        </a:ext>
                      </a:extLst>
                    </p:cNvPr>
                    <p:cNvSpPr/>
                    <p:nvPr/>
                  </p:nvSpPr>
                  <p:spPr bwMode="auto">
                    <a:xfrm>
                      <a:off x="4575329" y="5214869"/>
                      <a:ext cx="2012897" cy="54318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it-IT" sz="1600" i="1" smtClean="0">
                                    <a:latin typeface="Cambria Math" panose="02040503050406030204" pitchFamily="18" charset="0"/>
                                  </a:rPr>
                                </m:ctrlPr>
                              </m:mPr>
                              <m:mr>
                                <m:e>
                                  <m:acc>
                                    <m:accPr>
                                      <m:chr m:val="̇"/>
                                      <m:ctrlPr>
                                        <a:rPr lang="it-IT" sz="1600" i="1">
                                          <a:latin typeface="Cambria Math" panose="02040503050406030204" pitchFamily="18" charset="0"/>
                                        </a:rPr>
                                      </m:ctrlPr>
                                    </m:accPr>
                                    <m:e>
                                      <m:r>
                                        <a:rPr lang="it-IT" sz="1600" i="1">
                                          <a:latin typeface="Cambria Math"/>
                                        </a:rPr>
                                        <m:t>𝑥</m:t>
                                      </m:r>
                                    </m:e>
                                  </m:acc>
                                  <m:d>
                                    <m:dPr>
                                      <m:ctrlPr>
                                        <a:rPr lang="it-IT" sz="1600" i="1">
                                          <a:latin typeface="Cambria Math" panose="02040503050406030204" pitchFamily="18" charset="0"/>
                                        </a:rPr>
                                      </m:ctrlPr>
                                    </m:dPr>
                                    <m:e>
                                      <m:r>
                                        <a:rPr lang="it-IT" sz="1600" i="1">
                                          <a:latin typeface="Cambria Math"/>
                                        </a:rPr>
                                        <m:t>𝑡</m:t>
                                      </m:r>
                                    </m:e>
                                  </m:d>
                                  <m:r>
                                    <a:rPr lang="it-IT" sz="1600" i="1">
                                      <a:latin typeface="Cambria Math"/>
                                    </a:rPr>
                                    <m:t>= </m:t>
                                  </m:r>
                                  <m:r>
                                    <a:rPr lang="it-IT" sz="1600" i="1">
                                      <a:latin typeface="Cambria Math"/>
                                    </a:rPr>
                                    <m:t>𝐴𝑥</m:t>
                                  </m:r>
                                  <m:d>
                                    <m:dPr>
                                      <m:ctrlPr>
                                        <a:rPr lang="it-IT" sz="1600" i="1">
                                          <a:latin typeface="Cambria Math" panose="02040503050406030204" pitchFamily="18" charset="0"/>
                                        </a:rPr>
                                      </m:ctrlPr>
                                    </m:dPr>
                                    <m:e>
                                      <m:r>
                                        <a:rPr lang="it-IT" sz="1600" i="1">
                                          <a:latin typeface="Cambria Math"/>
                                        </a:rPr>
                                        <m:t>𝑡</m:t>
                                      </m:r>
                                    </m:e>
                                  </m:d>
                                  <m:r>
                                    <a:rPr lang="it-IT" sz="1600" i="1">
                                      <a:latin typeface="Cambria Math"/>
                                    </a:rPr>
                                    <m:t>+</m:t>
                                  </m:r>
                                  <m:r>
                                    <a:rPr lang="it-IT" sz="1600" i="1">
                                      <a:latin typeface="Cambria Math"/>
                                    </a:rPr>
                                    <m:t>𝐵𝑢</m:t>
                                  </m:r>
                                  <m:d>
                                    <m:dPr>
                                      <m:ctrlPr>
                                        <a:rPr lang="it-IT" sz="1600" i="1">
                                          <a:latin typeface="Cambria Math" panose="02040503050406030204" pitchFamily="18" charset="0"/>
                                        </a:rPr>
                                      </m:ctrlPr>
                                    </m:dPr>
                                    <m:e>
                                      <m:r>
                                        <a:rPr lang="it-IT" sz="1600" i="1">
                                          <a:latin typeface="Cambria Math"/>
                                        </a:rPr>
                                        <m:t>𝑡</m:t>
                                      </m:r>
                                    </m:e>
                                  </m:d>
                                </m:e>
                              </m:mr>
                              <m:mr>
                                <m:e>
                                  <m:r>
                                    <a:rPr lang="it-IT" sz="1600" b="1" i="1" smtClean="0">
                                      <a:latin typeface="Cambria Math" panose="02040503050406030204" pitchFamily="18" charset="0"/>
                                    </a:rPr>
                                    <m:t>                           </m:t>
                                  </m:r>
                                  <m:r>
                                    <a:rPr lang="it-IT" sz="1600" i="1">
                                      <a:latin typeface="Cambria Math"/>
                                    </a:rPr>
                                    <m:t>𝑦</m:t>
                                  </m:r>
                                  <m:d>
                                    <m:dPr>
                                      <m:ctrlPr>
                                        <a:rPr lang="it-IT" sz="1600" i="1">
                                          <a:latin typeface="Cambria Math" panose="02040503050406030204" pitchFamily="18" charset="0"/>
                                        </a:rPr>
                                      </m:ctrlPr>
                                    </m:dPr>
                                    <m:e>
                                      <m:r>
                                        <a:rPr lang="it-IT" sz="1600" i="1">
                                          <a:latin typeface="Cambria Math"/>
                                        </a:rPr>
                                        <m:t>𝑡</m:t>
                                      </m:r>
                                    </m:e>
                                  </m:d>
                                  <m:r>
                                    <a:rPr lang="it-IT" sz="1600" i="1">
                                      <a:latin typeface="Cambria Math"/>
                                    </a:rPr>
                                    <m:t>=</m:t>
                                  </m:r>
                                  <m:r>
                                    <a:rPr lang="it-IT" sz="1600" i="1">
                                      <a:latin typeface="Cambria Math"/>
                                    </a:rPr>
                                    <m:t>𝐶𝑥</m:t>
                                  </m:r>
                                  <m:d>
                                    <m:dPr>
                                      <m:ctrlPr>
                                        <a:rPr lang="it-IT" sz="1600" i="1">
                                          <a:latin typeface="Cambria Math" panose="02040503050406030204" pitchFamily="18" charset="0"/>
                                        </a:rPr>
                                      </m:ctrlPr>
                                    </m:dPr>
                                    <m:e>
                                      <m:r>
                                        <a:rPr lang="it-IT" sz="1600" i="1">
                                          <a:latin typeface="Cambria Math"/>
                                        </a:rPr>
                                        <m:t>𝑡</m:t>
                                      </m:r>
                                    </m:e>
                                  </m:d>
                                  <m:r>
                                    <a:rPr lang="it-IT" sz="1600" b="0" i="1">
                                      <a:latin typeface="Cambria Math" panose="02040503050406030204" pitchFamily="18" charset="0"/>
                                    </a:rPr>
                                    <m:t>                  </m:t>
                                  </m:r>
                                  <m:r>
                                    <a:rPr lang="it-IT" sz="1600" b="0" i="1">
                                      <a:latin typeface="Cambria Math"/>
                                    </a:rPr>
                                    <m:t>                           </m:t>
                                  </m:r>
                                </m:e>
                              </m:mr>
                            </m:m>
                          </m:oMath>
                        </m:oMathPara>
                      </a14:m>
                      <a:endParaRPr kumimoji="0" lang="it-IT" sz="1600" b="1" i="0" u="none" strike="noStrike" cap="none" normalizeH="0" baseline="0" dirty="0">
                        <a:ln>
                          <a:noFill/>
                        </a:ln>
                        <a:solidFill>
                          <a:schemeClr val="tx1"/>
                        </a:solidFill>
                        <a:effectLst/>
                      </a:endParaRPr>
                    </a:p>
                  </p:txBody>
                </p:sp>
              </mc:Choice>
              <mc:Fallback xmlns="">
                <p:sp>
                  <p:nvSpPr>
                    <p:cNvPr id="25" name="Rettangolo 24">
                      <a:extLst>
                        <a:ext uri="{FF2B5EF4-FFF2-40B4-BE49-F238E27FC236}">
                          <a16:creationId xmlns:a16="http://schemas.microsoft.com/office/drawing/2014/main" id="{02789241-1FF1-394A-88D4-5A51359339D4}"/>
                        </a:ext>
                      </a:extLst>
                    </p:cNvPr>
                    <p:cNvSpPr>
                      <a:spLocks noRot="1" noChangeAspect="1" noMove="1" noResize="1" noEditPoints="1" noAdjustHandles="1" noChangeArrowheads="1" noChangeShapeType="1" noTextEdit="1"/>
                    </p:cNvSpPr>
                    <p:nvPr/>
                  </p:nvSpPr>
                  <p:spPr bwMode="auto">
                    <a:xfrm>
                      <a:off x="4575329" y="5214869"/>
                      <a:ext cx="2012897" cy="543183"/>
                    </a:xfrm>
                    <a:prstGeom prst="rect">
                      <a:avLst/>
                    </a:prstGeom>
                    <a:blipFill>
                      <a:blip r:embed="rId3"/>
                      <a:stretch>
                        <a:fillRect l="-63125" r="-60000" b="-13636"/>
                      </a:stretch>
                    </a:blipFill>
                    <a:ln w="9525" cap="flat" cmpd="sng" algn="ctr">
                      <a:solidFill>
                        <a:schemeClr val="tx1"/>
                      </a:solidFill>
                      <a:prstDash val="solid"/>
                      <a:round/>
                      <a:headEnd type="none" w="med" len="med"/>
                      <a:tailEnd type="none" w="med" len="med"/>
                    </a:ln>
                    <a:effectLst/>
                  </p:spPr>
                  <p:txBody>
                    <a:bodyPr/>
                    <a:lstStyle/>
                    <a:p>
                      <a:r>
                        <a:rPr lang="it-IT">
                          <a:noFill/>
                        </a:rPr>
                        <a:t> </a:t>
                      </a:r>
                    </a:p>
                  </p:txBody>
                </p:sp>
              </mc:Fallback>
            </mc:AlternateContent>
            <p:cxnSp>
              <p:nvCxnSpPr>
                <p:cNvPr id="26" name="Connettore 2 25">
                  <a:extLst>
                    <a:ext uri="{FF2B5EF4-FFF2-40B4-BE49-F238E27FC236}">
                      <a16:creationId xmlns:a16="http://schemas.microsoft.com/office/drawing/2014/main" id="{0E5A1A33-7C0B-C242-A42A-649383D933A8}"/>
                    </a:ext>
                  </a:extLst>
                </p:cNvPr>
                <p:cNvCxnSpPr>
                  <a:cxnSpLocks/>
                </p:cNvCxnSpPr>
                <p:nvPr/>
              </p:nvCxnSpPr>
              <p:spPr bwMode="auto">
                <a:xfrm>
                  <a:off x="6588226" y="5466898"/>
                  <a:ext cx="1512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7" name="Rettangolo 26">
                      <a:extLst>
                        <a:ext uri="{FF2B5EF4-FFF2-40B4-BE49-F238E27FC236}">
                          <a16:creationId xmlns:a16="http://schemas.microsoft.com/office/drawing/2014/main" id="{235870DB-FBE7-734F-994C-3997BF98EBDF}"/>
                        </a:ext>
                      </a:extLst>
                    </p:cNvPr>
                    <p:cNvSpPr/>
                    <p:nvPr/>
                  </p:nvSpPr>
                  <p:spPr>
                    <a:xfrm>
                      <a:off x="7184753" y="4900415"/>
                      <a:ext cx="8231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i="1">
                                <a:latin typeface="Cambria Math"/>
                              </a:rPr>
                              <m:t>𝑦</m:t>
                            </m:r>
                            <m:d>
                              <m:dPr>
                                <m:ctrlPr>
                                  <a:rPr lang="it-IT" i="1">
                                    <a:latin typeface="Cambria Math" panose="02040503050406030204" pitchFamily="18" charset="0"/>
                                  </a:rPr>
                                </m:ctrlPr>
                              </m:dPr>
                              <m:e>
                                <m:r>
                                  <a:rPr lang="it-IT" i="1">
                                    <a:latin typeface="Cambria Math"/>
                                  </a:rPr>
                                  <m:t>𝑡</m:t>
                                </m:r>
                              </m:e>
                            </m:d>
                          </m:oMath>
                        </m:oMathPara>
                      </a14:m>
                      <a:endParaRPr lang="it-IT" dirty="0"/>
                    </a:p>
                  </p:txBody>
                </p:sp>
              </mc:Choice>
              <mc:Fallback xmlns="">
                <p:sp>
                  <p:nvSpPr>
                    <p:cNvPr id="22" name="Rettangolo 21">
                      <a:extLst>
                        <a:ext uri="{FF2B5EF4-FFF2-40B4-BE49-F238E27FC236}">
                          <a16:creationId xmlns:a16="http://schemas.microsoft.com/office/drawing/2014/main" id="{6DCFFCFD-21DB-EF4C-8911-D6715B56B35D}"/>
                        </a:ext>
                      </a:extLst>
                    </p:cNvPr>
                    <p:cNvSpPr>
                      <a:spLocks noRot="1" noChangeAspect="1" noMove="1" noResize="1" noEditPoints="1" noAdjustHandles="1" noChangeArrowheads="1" noChangeShapeType="1" noTextEdit="1"/>
                    </p:cNvSpPr>
                    <p:nvPr/>
                  </p:nvSpPr>
                  <p:spPr>
                    <a:xfrm>
                      <a:off x="7184753" y="4900415"/>
                      <a:ext cx="823174" cy="461665"/>
                    </a:xfrm>
                    <a:prstGeom prst="rect">
                      <a:avLst/>
                    </a:prstGeom>
                    <a:blipFill>
                      <a:blip r:embed="rId4"/>
                      <a:stretch>
                        <a:fillRect b="-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Rettangolo 27">
                      <a:extLst>
                        <a:ext uri="{FF2B5EF4-FFF2-40B4-BE49-F238E27FC236}">
                          <a16:creationId xmlns:a16="http://schemas.microsoft.com/office/drawing/2014/main" id="{C5388797-1EAB-3944-9EC7-03DA8F4564B5}"/>
                        </a:ext>
                      </a:extLst>
                    </p:cNvPr>
                    <p:cNvSpPr/>
                    <p:nvPr/>
                  </p:nvSpPr>
                  <p:spPr>
                    <a:xfrm>
                      <a:off x="5470472" y="4755432"/>
                      <a:ext cx="723340" cy="461665"/>
                    </a:xfrm>
                    <a:prstGeom prst="rect">
                      <a:avLst/>
                    </a:prstGeom>
                  </p:spPr>
                  <p:txBody>
                    <a:bodyPr wrap="none">
                      <a:spAutoFit/>
                    </a:bodyPr>
                    <a:lstStyle/>
                    <a:p>
                      <a:r>
                        <a:rPr lang="it-IT" b="0" i="1" dirty="0"/>
                        <a:t>x</a:t>
                      </a:r>
                      <a14:m>
                        <m:oMath xmlns:m="http://schemas.openxmlformats.org/officeDocument/2006/math">
                          <m:d>
                            <m:dPr>
                              <m:ctrlPr>
                                <a:rPr lang="it-IT" i="1">
                                  <a:latin typeface="Cambria Math" panose="02040503050406030204" pitchFamily="18" charset="0"/>
                                </a:rPr>
                              </m:ctrlPr>
                            </m:dPr>
                            <m:e>
                              <m:r>
                                <a:rPr lang="it-IT" i="1">
                                  <a:latin typeface="Cambria Math"/>
                                </a:rPr>
                                <m:t>𝑡</m:t>
                              </m:r>
                            </m:e>
                          </m:d>
                        </m:oMath>
                      </a14:m>
                      <a:endParaRPr lang="it-IT" i="1" dirty="0"/>
                    </a:p>
                  </p:txBody>
                </p:sp>
              </mc:Choice>
              <mc:Fallback xmlns="">
                <p:sp>
                  <p:nvSpPr>
                    <p:cNvPr id="28" name="Rettangolo 27">
                      <a:extLst>
                        <a:ext uri="{FF2B5EF4-FFF2-40B4-BE49-F238E27FC236}">
                          <a16:creationId xmlns:a16="http://schemas.microsoft.com/office/drawing/2014/main" id="{C5388797-1EAB-3944-9EC7-03DA8F4564B5}"/>
                        </a:ext>
                      </a:extLst>
                    </p:cNvPr>
                    <p:cNvSpPr>
                      <a:spLocks noRot="1" noChangeAspect="1" noMove="1" noResize="1" noEditPoints="1" noAdjustHandles="1" noChangeArrowheads="1" noChangeShapeType="1" noTextEdit="1"/>
                    </p:cNvSpPr>
                    <p:nvPr/>
                  </p:nvSpPr>
                  <p:spPr>
                    <a:xfrm>
                      <a:off x="5470472" y="4755432"/>
                      <a:ext cx="723340" cy="461665"/>
                    </a:xfrm>
                    <a:prstGeom prst="rect">
                      <a:avLst/>
                    </a:prstGeom>
                    <a:blipFill>
                      <a:blip r:embed="rId5"/>
                      <a:stretch>
                        <a:fillRect l="-12069" t="-7895" b="-2631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 name="Rettangolo 28">
                      <a:extLst>
                        <a:ext uri="{FF2B5EF4-FFF2-40B4-BE49-F238E27FC236}">
                          <a16:creationId xmlns:a16="http://schemas.microsoft.com/office/drawing/2014/main" id="{42313E5D-39F8-A344-B30F-C8C55BD1B6B4}"/>
                        </a:ext>
                      </a:extLst>
                    </p:cNvPr>
                    <p:cNvSpPr/>
                    <p:nvPr/>
                  </p:nvSpPr>
                  <p:spPr>
                    <a:xfrm>
                      <a:off x="3419872" y="4837720"/>
                      <a:ext cx="723340" cy="461665"/>
                    </a:xfrm>
                    <a:prstGeom prst="rect">
                      <a:avLst/>
                    </a:prstGeom>
                  </p:spPr>
                  <p:txBody>
                    <a:bodyPr wrap="none">
                      <a:spAutoFit/>
                    </a:bodyPr>
                    <a:lstStyle/>
                    <a:p>
                      <a:r>
                        <a:rPr lang="it-IT" b="0" i="1" dirty="0"/>
                        <a:t>u</a:t>
                      </a:r>
                      <a14:m>
                        <m:oMath xmlns:m="http://schemas.openxmlformats.org/officeDocument/2006/math">
                          <m:d>
                            <m:dPr>
                              <m:ctrlPr>
                                <a:rPr lang="it-IT" i="1">
                                  <a:latin typeface="Cambria Math" panose="02040503050406030204" pitchFamily="18" charset="0"/>
                                </a:rPr>
                              </m:ctrlPr>
                            </m:dPr>
                            <m:e>
                              <m:r>
                                <a:rPr lang="it-IT" i="1">
                                  <a:latin typeface="Cambria Math"/>
                                </a:rPr>
                                <m:t>𝑡</m:t>
                              </m:r>
                            </m:e>
                          </m:d>
                        </m:oMath>
                      </a14:m>
                      <a:endParaRPr lang="it-IT" i="1" dirty="0"/>
                    </a:p>
                  </p:txBody>
                </p:sp>
              </mc:Choice>
              <mc:Fallback xmlns="">
                <p:sp>
                  <p:nvSpPr>
                    <p:cNvPr id="29" name="Rettangolo 28">
                      <a:extLst>
                        <a:ext uri="{FF2B5EF4-FFF2-40B4-BE49-F238E27FC236}">
                          <a16:creationId xmlns:a16="http://schemas.microsoft.com/office/drawing/2014/main" id="{42313E5D-39F8-A344-B30F-C8C55BD1B6B4}"/>
                        </a:ext>
                      </a:extLst>
                    </p:cNvPr>
                    <p:cNvSpPr>
                      <a:spLocks noRot="1" noChangeAspect="1" noMove="1" noResize="1" noEditPoints="1" noAdjustHandles="1" noChangeArrowheads="1" noChangeShapeType="1" noTextEdit="1"/>
                    </p:cNvSpPr>
                    <p:nvPr/>
                  </p:nvSpPr>
                  <p:spPr>
                    <a:xfrm>
                      <a:off x="3419872" y="4837720"/>
                      <a:ext cx="723340" cy="461665"/>
                    </a:xfrm>
                    <a:prstGeom prst="rect">
                      <a:avLst/>
                    </a:prstGeom>
                    <a:blipFill>
                      <a:blip r:embed="rId6"/>
                      <a:stretch>
                        <a:fillRect l="-13793" t="-8108" b="-2973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 name="Rettangolo 29">
                      <a:extLst>
                        <a:ext uri="{FF2B5EF4-FFF2-40B4-BE49-F238E27FC236}">
                          <a16:creationId xmlns:a16="http://schemas.microsoft.com/office/drawing/2014/main" id="{050B66F0-EFCA-B248-BA98-C1E12386569D}"/>
                        </a:ext>
                      </a:extLst>
                    </p:cNvPr>
                    <p:cNvSpPr/>
                    <p:nvPr/>
                  </p:nvSpPr>
                  <p:spPr bwMode="auto">
                    <a:xfrm>
                      <a:off x="3106412" y="6280037"/>
                      <a:ext cx="3661836" cy="64355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14:m>
                        <m:oMathPara xmlns:m="http://schemas.openxmlformats.org/officeDocument/2006/math">
                          <m:oMathParaPr>
                            <m:jc m:val="centerGroup"/>
                          </m:oMathParaPr>
                          <m:oMath xmlns:m="http://schemas.openxmlformats.org/officeDocument/2006/math">
                            <m:acc>
                              <m:accPr>
                                <m:chr m:val="̇"/>
                                <m:ctrlPr>
                                  <a:rPr lang="it-IT" sz="1600" i="1">
                                    <a:latin typeface="Cambria Math" panose="02040503050406030204" pitchFamily="18" charset="0"/>
                                  </a:rPr>
                                </m:ctrlPr>
                              </m:accPr>
                              <m:e>
                                <m:acc>
                                  <m:accPr>
                                    <m:chr m:val="̃"/>
                                    <m:ctrlPr>
                                      <a:rPr lang="it-IT" sz="1600" i="1">
                                        <a:latin typeface="Cambria Math" panose="02040503050406030204" pitchFamily="18" charset="0"/>
                                      </a:rPr>
                                    </m:ctrlPr>
                                  </m:accPr>
                                  <m:e>
                                    <m:r>
                                      <a:rPr lang="it-IT" sz="1600" i="1">
                                        <a:latin typeface="Cambria Math"/>
                                      </a:rPr>
                                      <m:t>𝑥</m:t>
                                    </m:r>
                                  </m:e>
                                </m:acc>
                              </m:e>
                            </m:acc>
                            <m:d>
                              <m:dPr>
                                <m:ctrlPr>
                                  <a:rPr lang="it-IT" sz="1600" i="1">
                                    <a:latin typeface="Cambria Math" panose="02040503050406030204" pitchFamily="18" charset="0"/>
                                  </a:rPr>
                                </m:ctrlPr>
                              </m:dPr>
                              <m:e>
                                <m:r>
                                  <a:rPr lang="it-IT" sz="1600" i="1">
                                    <a:latin typeface="Cambria Math"/>
                                  </a:rPr>
                                  <m:t>𝑡</m:t>
                                </m:r>
                              </m:e>
                            </m:d>
                            <m:r>
                              <a:rPr lang="it-IT" sz="1600" i="1">
                                <a:latin typeface="Cambria Math"/>
                              </a:rPr>
                              <m:t>= </m:t>
                            </m:r>
                            <m:r>
                              <a:rPr lang="it-IT" sz="1600" i="1">
                                <a:latin typeface="Cambria Math"/>
                              </a:rPr>
                              <m:t>𝐴</m:t>
                            </m:r>
                            <m:acc>
                              <m:accPr>
                                <m:chr m:val="̃"/>
                                <m:ctrlPr>
                                  <a:rPr lang="it-IT" sz="1600" i="1">
                                    <a:latin typeface="Cambria Math" panose="02040503050406030204" pitchFamily="18" charset="0"/>
                                  </a:rPr>
                                </m:ctrlPr>
                              </m:accPr>
                              <m:e>
                                <m:r>
                                  <a:rPr lang="it-IT" sz="1600" i="1">
                                    <a:latin typeface="Cambria Math"/>
                                  </a:rPr>
                                  <m:t>𝑥</m:t>
                                </m:r>
                              </m:e>
                            </m:acc>
                            <m:d>
                              <m:dPr>
                                <m:ctrlPr>
                                  <a:rPr lang="it-IT" sz="1600" i="1">
                                    <a:latin typeface="Cambria Math" panose="02040503050406030204" pitchFamily="18" charset="0"/>
                                  </a:rPr>
                                </m:ctrlPr>
                              </m:dPr>
                              <m:e>
                                <m:r>
                                  <a:rPr lang="it-IT" sz="1600" i="1">
                                    <a:latin typeface="Cambria Math"/>
                                  </a:rPr>
                                  <m:t>𝑡</m:t>
                                </m:r>
                              </m:e>
                            </m:d>
                            <m:r>
                              <a:rPr lang="it-IT" sz="1600" i="1">
                                <a:latin typeface="Cambria Math"/>
                              </a:rPr>
                              <m:t>+</m:t>
                            </m:r>
                            <m:r>
                              <a:rPr lang="it-IT" sz="1600" b="0" i="1">
                                <a:latin typeface="Cambria Math"/>
                              </a:rPr>
                              <m:t>𝐵𝑢</m:t>
                            </m:r>
                            <m:d>
                              <m:dPr>
                                <m:ctrlPr>
                                  <a:rPr lang="it-IT" sz="1600" b="0" i="1">
                                    <a:latin typeface="Cambria Math" panose="02040503050406030204" pitchFamily="18" charset="0"/>
                                  </a:rPr>
                                </m:ctrlPr>
                              </m:dPr>
                              <m:e>
                                <m:r>
                                  <a:rPr lang="it-IT" sz="1600" b="0" i="1">
                                    <a:latin typeface="Cambria Math"/>
                                  </a:rPr>
                                  <m:t>𝑡</m:t>
                                </m:r>
                              </m:e>
                            </m:d>
                            <m:r>
                              <m:rPr>
                                <m:nor/>
                              </m:rPr>
                              <a:rPr lang="it-IT" sz="1600" b="0" i="1">
                                <a:latin typeface="Cambria Math" panose="02040503050406030204" pitchFamily="18" charset="0"/>
                              </a:rPr>
                              <m:t>+</m:t>
                            </m:r>
                            <m:r>
                              <m:rPr>
                                <m:nor/>
                              </m:rPr>
                              <a:rPr lang="it-IT" sz="1600" b="0" i="1">
                                <a:latin typeface="Cambria Math" panose="02040503050406030204" pitchFamily="18" charset="0"/>
                              </a:rPr>
                              <m:t>G</m:t>
                            </m:r>
                            <m:d>
                              <m:dPr>
                                <m:ctrlPr>
                                  <a:rPr lang="it-IT" sz="1600" b="0" i="1">
                                    <a:latin typeface="Cambria Math" panose="02040503050406030204" pitchFamily="18" charset="0"/>
                                  </a:rPr>
                                </m:ctrlPr>
                              </m:dPr>
                              <m:e>
                                <m:r>
                                  <m:rPr>
                                    <m:nor/>
                                  </m:rPr>
                                  <a:rPr lang="it-IT" sz="1600" b="0" i="1">
                                    <a:latin typeface="Cambria Math" panose="02040503050406030204" pitchFamily="18" charset="0"/>
                                  </a:rPr>
                                  <m:t>y</m:t>
                                </m:r>
                                <m:r>
                                  <m:rPr>
                                    <m:nor/>
                                  </m:rPr>
                                  <a:rPr lang="it-IT" sz="1600" b="0" i="1">
                                    <a:latin typeface="Cambria Math" panose="02040503050406030204" pitchFamily="18" charset="0"/>
                                  </a:rPr>
                                  <m:t>(</m:t>
                                </m:r>
                                <m:r>
                                  <m:rPr>
                                    <m:nor/>
                                  </m:rPr>
                                  <a:rPr lang="it-IT" sz="1600" b="0" i="1">
                                    <a:latin typeface="Cambria Math" panose="02040503050406030204" pitchFamily="18" charset="0"/>
                                  </a:rPr>
                                  <m:t>t</m:t>
                                </m:r>
                                <m:r>
                                  <m:rPr>
                                    <m:nor/>
                                  </m:rPr>
                                  <a:rPr lang="it-IT" sz="1600" b="0" i="1">
                                    <a:latin typeface="Cambria Math" panose="02040503050406030204" pitchFamily="18" charset="0"/>
                                  </a:rPr>
                                  <m:t>)−</m:t>
                                </m:r>
                                <m:r>
                                  <m:rPr>
                                    <m:nor/>
                                  </m:rPr>
                                  <a:rPr lang="it-IT" sz="1600" b="0" i="1">
                                    <a:latin typeface="Cambria Math" panose="02040503050406030204" pitchFamily="18" charset="0"/>
                                  </a:rPr>
                                  <m:t>C</m:t>
                                </m:r>
                                <m:r>
                                  <a:rPr lang="it-IT" sz="1600" b="0" i="1">
                                    <a:latin typeface="Cambria Math" panose="02040503050406030204" pitchFamily="18" charset="0"/>
                                  </a:rPr>
                                  <m:t> </m:t>
                                </m:r>
                                <m:acc>
                                  <m:accPr>
                                    <m:chr m:val="̃"/>
                                    <m:ctrlPr>
                                      <a:rPr lang="it-IT" sz="1600" b="0" i="1">
                                        <a:latin typeface="Cambria Math" panose="02040503050406030204" pitchFamily="18" charset="0"/>
                                      </a:rPr>
                                    </m:ctrlPr>
                                  </m:accPr>
                                  <m:e>
                                    <m:r>
                                      <a:rPr lang="it-IT" sz="1600" b="0" i="1">
                                        <a:latin typeface="Cambria Math"/>
                                      </a:rPr>
                                      <m:t>𝑥</m:t>
                                    </m:r>
                                  </m:e>
                                </m:acc>
                                <m:r>
                                  <a:rPr lang="it-IT" sz="1600" b="0" i="1" dirty="0">
                                    <a:latin typeface="Cambria Math" panose="02040503050406030204" pitchFamily="18" charset="0"/>
                                  </a:rPr>
                                  <m:t>(</m:t>
                                </m:r>
                                <m:r>
                                  <a:rPr lang="it-IT" sz="1600" b="0" i="1" dirty="0">
                                    <a:latin typeface="Cambria Math" panose="02040503050406030204" pitchFamily="18" charset="0"/>
                                  </a:rPr>
                                  <m:t>𝑡</m:t>
                                </m:r>
                                <m:r>
                                  <a:rPr lang="it-IT" sz="1600" b="0" i="1" dirty="0">
                                    <a:latin typeface="Cambria Math" panose="02040503050406030204" pitchFamily="18" charset="0"/>
                                  </a:rPr>
                                  <m:t>)</m:t>
                                </m:r>
                              </m:e>
                            </m:d>
                          </m:oMath>
                        </m:oMathPara>
                      </a14:m>
                      <a:endParaRPr kumimoji="0" lang="it-IT" sz="1600" b="0" i="0" u="none" strike="noStrike" cap="none" normalizeH="0" baseline="0" dirty="0">
                        <a:ln>
                          <a:noFill/>
                        </a:ln>
                        <a:solidFill>
                          <a:schemeClr val="tx1"/>
                        </a:solidFill>
                        <a:effectLst/>
                      </a:endParaRPr>
                    </a:p>
                  </p:txBody>
                </p:sp>
              </mc:Choice>
              <mc:Fallback xmlns="">
                <p:sp>
                  <p:nvSpPr>
                    <p:cNvPr id="30" name="Rettangolo 29">
                      <a:extLst>
                        <a:ext uri="{FF2B5EF4-FFF2-40B4-BE49-F238E27FC236}">
                          <a16:creationId xmlns:a16="http://schemas.microsoft.com/office/drawing/2014/main" id="{050B66F0-EFCA-B248-BA98-C1E12386569D}"/>
                        </a:ext>
                      </a:extLst>
                    </p:cNvPr>
                    <p:cNvSpPr>
                      <a:spLocks noRot="1" noChangeAspect="1" noMove="1" noResize="1" noEditPoints="1" noAdjustHandles="1" noChangeArrowheads="1" noChangeShapeType="1" noTextEdit="1"/>
                    </p:cNvSpPr>
                    <p:nvPr/>
                  </p:nvSpPr>
                  <p:spPr bwMode="auto">
                    <a:xfrm>
                      <a:off x="3106412" y="6280037"/>
                      <a:ext cx="3661836" cy="643557"/>
                    </a:xfrm>
                    <a:prstGeom prst="rect">
                      <a:avLst/>
                    </a:prstGeom>
                    <a:blipFill>
                      <a:blip r:embed="rId7"/>
                      <a:stretch>
                        <a:fillRect/>
                      </a:stretch>
                    </a:blipFill>
                    <a:ln w="9525" cap="flat" cmpd="sng" algn="ctr">
                      <a:solidFill>
                        <a:schemeClr val="tx1"/>
                      </a:solidFill>
                      <a:prstDash val="solid"/>
                      <a:round/>
                      <a:headEnd type="none" w="med" len="med"/>
                      <a:tailEnd type="none" w="med" len="med"/>
                    </a:ln>
                    <a:effectLst/>
                  </p:spPr>
                  <p:txBody>
                    <a:bodyPr/>
                    <a:lstStyle/>
                    <a:p>
                      <a:r>
                        <a:rPr lang="it-IT">
                          <a:noFill/>
                        </a:rPr>
                        <a:t> </a:t>
                      </a:r>
                    </a:p>
                  </p:txBody>
                </p:sp>
              </mc:Fallback>
            </mc:AlternateContent>
          </p:grpSp>
          <p:cxnSp>
            <p:nvCxnSpPr>
              <p:cNvPr id="16" name="Connettore 2 15">
                <a:extLst>
                  <a:ext uri="{FF2B5EF4-FFF2-40B4-BE49-F238E27FC236}">
                    <a16:creationId xmlns:a16="http://schemas.microsoft.com/office/drawing/2014/main" id="{250E43D5-8054-8745-8018-06C0474ADD02}"/>
                  </a:ext>
                </a:extLst>
              </p:cNvPr>
              <p:cNvCxnSpPr>
                <a:cxnSpLocks/>
                <a:endCxn id="25" idx="1"/>
              </p:cNvCxnSpPr>
              <p:nvPr/>
            </p:nvCxnSpPr>
            <p:spPr bwMode="auto">
              <a:xfrm>
                <a:off x="2735797" y="2711947"/>
                <a:ext cx="212756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7" name="Connettore 2 16">
                <a:extLst>
                  <a:ext uri="{FF2B5EF4-FFF2-40B4-BE49-F238E27FC236}">
                    <a16:creationId xmlns:a16="http://schemas.microsoft.com/office/drawing/2014/main" id="{F3FF5C20-F640-8849-B2E9-8AE5942A3923}"/>
                  </a:ext>
                </a:extLst>
              </p:cNvPr>
              <p:cNvCxnSpPr>
                <a:cxnSpLocks/>
              </p:cNvCxnSpPr>
              <p:nvPr/>
            </p:nvCxnSpPr>
            <p:spPr bwMode="auto">
              <a:xfrm>
                <a:off x="3034404" y="3937781"/>
                <a:ext cx="36004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 name="Connettore 2 17">
                <a:extLst>
                  <a:ext uri="{FF2B5EF4-FFF2-40B4-BE49-F238E27FC236}">
                    <a16:creationId xmlns:a16="http://schemas.microsoft.com/office/drawing/2014/main" id="{063B5A8F-CBAD-1B4D-98F8-84FBFBE2BFD1}"/>
                  </a:ext>
                </a:extLst>
              </p:cNvPr>
              <p:cNvCxnSpPr>
                <a:cxnSpLocks/>
              </p:cNvCxnSpPr>
              <p:nvPr/>
            </p:nvCxnSpPr>
            <p:spPr bwMode="auto">
              <a:xfrm>
                <a:off x="3106412" y="3717032"/>
                <a:ext cx="28803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Connettore 1 18">
                <a:extLst>
                  <a:ext uri="{FF2B5EF4-FFF2-40B4-BE49-F238E27FC236}">
                    <a16:creationId xmlns:a16="http://schemas.microsoft.com/office/drawing/2014/main" id="{E1DACD4A-AE24-D942-8C4A-52951A5A5841}"/>
                  </a:ext>
                </a:extLst>
              </p:cNvPr>
              <p:cNvCxnSpPr/>
              <p:nvPr/>
            </p:nvCxnSpPr>
            <p:spPr bwMode="auto">
              <a:xfrm flipV="1">
                <a:off x="3106412" y="3284984"/>
                <a:ext cx="0" cy="43204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Connettore 1 19">
                <a:extLst>
                  <a:ext uri="{FF2B5EF4-FFF2-40B4-BE49-F238E27FC236}">
                    <a16:creationId xmlns:a16="http://schemas.microsoft.com/office/drawing/2014/main" id="{82818A41-F6A8-AB4B-96CB-0A6774CCCBE7}"/>
                  </a:ext>
                </a:extLst>
              </p:cNvPr>
              <p:cNvCxnSpPr>
                <a:cxnSpLocks/>
              </p:cNvCxnSpPr>
              <p:nvPr/>
            </p:nvCxnSpPr>
            <p:spPr bwMode="auto">
              <a:xfrm flipH="1" flipV="1">
                <a:off x="3106412" y="3284984"/>
                <a:ext cx="4366375" cy="659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Connettore 1 20">
                <a:extLst>
                  <a:ext uri="{FF2B5EF4-FFF2-40B4-BE49-F238E27FC236}">
                    <a16:creationId xmlns:a16="http://schemas.microsoft.com/office/drawing/2014/main" id="{E45E31A5-E333-2241-9AFB-65634571F0CE}"/>
                  </a:ext>
                </a:extLst>
              </p:cNvPr>
              <p:cNvCxnSpPr>
                <a:cxnSpLocks/>
              </p:cNvCxnSpPr>
              <p:nvPr/>
            </p:nvCxnSpPr>
            <p:spPr bwMode="auto">
              <a:xfrm flipV="1">
                <a:off x="7472787" y="2687660"/>
                <a:ext cx="0" cy="60391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2" name="Connettore 1 21">
                <a:extLst>
                  <a:ext uri="{FF2B5EF4-FFF2-40B4-BE49-F238E27FC236}">
                    <a16:creationId xmlns:a16="http://schemas.microsoft.com/office/drawing/2014/main" id="{6DF2301E-D494-BE4F-A18A-88356DA9CE8C}"/>
                  </a:ext>
                </a:extLst>
              </p:cNvPr>
              <p:cNvCxnSpPr>
                <a:cxnSpLocks/>
              </p:cNvCxnSpPr>
              <p:nvPr/>
            </p:nvCxnSpPr>
            <p:spPr bwMode="auto">
              <a:xfrm flipV="1">
                <a:off x="3034404" y="2687659"/>
                <a:ext cx="0" cy="124539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Connettore 2 22">
                <a:extLst>
                  <a:ext uri="{FF2B5EF4-FFF2-40B4-BE49-F238E27FC236}">
                    <a16:creationId xmlns:a16="http://schemas.microsoft.com/office/drawing/2014/main" id="{4A0A06A7-BD44-B64F-9E8C-BA3835EBA38E}"/>
                  </a:ext>
                </a:extLst>
              </p:cNvPr>
              <p:cNvCxnSpPr>
                <a:cxnSpLocks/>
              </p:cNvCxnSpPr>
              <p:nvPr/>
            </p:nvCxnSpPr>
            <p:spPr bwMode="auto">
              <a:xfrm>
                <a:off x="7056282" y="3852685"/>
                <a:ext cx="1512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4" name="Rettangolo 23">
                    <a:extLst>
                      <a:ext uri="{FF2B5EF4-FFF2-40B4-BE49-F238E27FC236}">
                        <a16:creationId xmlns:a16="http://schemas.microsoft.com/office/drawing/2014/main" id="{02DC3BBE-3124-F74C-BD09-E6EA46DFC721}"/>
                      </a:ext>
                    </a:extLst>
                  </p:cNvPr>
                  <p:cNvSpPr/>
                  <p:nvPr/>
                </p:nvSpPr>
                <p:spPr>
                  <a:xfrm>
                    <a:off x="7522704" y="3341609"/>
                    <a:ext cx="8191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d>
                            <m:dPr>
                              <m:ctrlPr>
                                <a:rPr lang="it-IT" i="1">
                                  <a:latin typeface="Cambria Math" panose="02040503050406030204" pitchFamily="18" charset="0"/>
                                </a:rPr>
                              </m:ctrlPr>
                            </m:dPr>
                            <m:e>
                              <m:r>
                                <a:rPr lang="it-IT" i="1">
                                  <a:latin typeface="Cambria Math"/>
                                </a:rPr>
                                <m:t>𝑡</m:t>
                              </m:r>
                            </m:e>
                          </m:d>
                        </m:oMath>
                      </m:oMathPara>
                    </a14:m>
                    <a:endParaRPr lang="it-IT" i="1" dirty="0"/>
                  </a:p>
                </p:txBody>
              </p:sp>
            </mc:Choice>
            <mc:Fallback xmlns="">
              <p:sp>
                <p:nvSpPr>
                  <p:cNvPr id="24" name="Rettangolo 23">
                    <a:extLst>
                      <a:ext uri="{FF2B5EF4-FFF2-40B4-BE49-F238E27FC236}">
                        <a16:creationId xmlns:a16="http://schemas.microsoft.com/office/drawing/2014/main" id="{02DC3BBE-3124-F74C-BD09-E6EA46DFC721}"/>
                      </a:ext>
                    </a:extLst>
                  </p:cNvPr>
                  <p:cNvSpPr>
                    <a:spLocks noRot="1" noChangeAspect="1" noMove="1" noResize="1" noEditPoints="1" noAdjustHandles="1" noChangeArrowheads="1" noChangeShapeType="1" noTextEdit="1"/>
                  </p:cNvSpPr>
                  <p:nvPr/>
                </p:nvSpPr>
                <p:spPr>
                  <a:xfrm>
                    <a:off x="7522704" y="3341609"/>
                    <a:ext cx="819199" cy="461665"/>
                  </a:xfrm>
                  <a:prstGeom prst="rect">
                    <a:avLst/>
                  </a:prstGeom>
                  <a:blipFill>
                    <a:blip r:embed="rId8"/>
                    <a:stretch>
                      <a:fillRect/>
                    </a:stretch>
                  </a:blipFill>
                </p:spPr>
                <p:txBody>
                  <a:bodyPr/>
                  <a:lstStyle/>
                  <a:p>
                    <a:r>
                      <a:rPr lang="it-IT">
                        <a:noFill/>
                      </a:rPr>
                      <a:t> </a:t>
                    </a:r>
                  </a:p>
                </p:txBody>
              </p:sp>
            </mc:Fallback>
          </mc:AlternateContent>
        </p:grpSp>
        <p:grpSp>
          <p:nvGrpSpPr>
            <p:cNvPr id="9" name="Gruppo 8">
              <a:extLst>
                <a:ext uri="{FF2B5EF4-FFF2-40B4-BE49-F238E27FC236}">
                  <a16:creationId xmlns:a16="http://schemas.microsoft.com/office/drawing/2014/main" id="{E49A2BBE-E466-794A-B5CC-4A5509DD6995}"/>
                </a:ext>
              </a:extLst>
            </p:cNvPr>
            <p:cNvGrpSpPr/>
            <p:nvPr/>
          </p:nvGrpSpPr>
          <p:grpSpPr>
            <a:xfrm>
              <a:off x="539552" y="4301610"/>
              <a:ext cx="5795961" cy="2007711"/>
              <a:chOff x="539552" y="4301610"/>
              <a:chExt cx="5795961" cy="2007711"/>
            </a:xfrm>
          </p:grpSpPr>
          <p:sp>
            <p:nvSpPr>
              <p:cNvPr id="10" name="Rettangolo 9">
                <a:extLst>
                  <a:ext uri="{FF2B5EF4-FFF2-40B4-BE49-F238E27FC236}">
                    <a16:creationId xmlns:a16="http://schemas.microsoft.com/office/drawing/2014/main" id="{603E0775-DBE7-EA4A-A1DB-4FAC81B8F51E}"/>
                  </a:ext>
                </a:extLst>
              </p:cNvPr>
              <p:cNvSpPr/>
              <p:nvPr/>
            </p:nvSpPr>
            <p:spPr bwMode="auto">
              <a:xfrm>
                <a:off x="817012" y="4301610"/>
                <a:ext cx="876918" cy="50405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2400" b="0" i="1" u="none" strike="noStrike" cap="none" normalizeH="0" baseline="0" dirty="0">
                    <a:ln>
                      <a:noFill/>
                    </a:ln>
                    <a:solidFill>
                      <a:schemeClr val="tx1"/>
                    </a:solidFill>
                    <a:effectLst/>
                    <a:latin typeface="Times New Roman" pitchFamily="18" charset="0"/>
                  </a:rPr>
                  <a:t>K</a:t>
                </a:r>
              </a:p>
            </p:txBody>
          </p:sp>
          <p:cxnSp>
            <p:nvCxnSpPr>
              <p:cNvPr id="11" name="Connettore 1 10">
                <a:extLst>
                  <a:ext uri="{FF2B5EF4-FFF2-40B4-BE49-F238E27FC236}">
                    <a16:creationId xmlns:a16="http://schemas.microsoft.com/office/drawing/2014/main" id="{64A08E78-9C0F-BF44-A092-5D4D31E9E61D}"/>
                  </a:ext>
                </a:extLst>
              </p:cNvPr>
              <p:cNvCxnSpPr>
                <a:cxnSpLocks/>
              </p:cNvCxnSpPr>
              <p:nvPr/>
            </p:nvCxnSpPr>
            <p:spPr bwMode="auto">
              <a:xfrm>
                <a:off x="6335513" y="5648653"/>
                <a:ext cx="0" cy="66066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Connettore 1 11">
                <a:extLst>
                  <a:ext uri="{FF2B5EF4-FFF2-40B4-BE49-F238E27FC236}">
                    <a16:creationId xmlns:a16="http://schemas.microsoft.com/office/drawing/2014/main" id="{8EC3DE71-BC20-D146-9A5E-0DA783239787}"/>
                  </a:ext>
                </a:extLst>
              </p:cNvPr>
              <p:cNvCxnSpPr>
                <a:cxnSpLocks/>
              </p:cNvCxnSpPr>
              <p:nvPr/>
            </p:nvCxnSpPr>
            <p:spPr bwMode="auto">
              <a:xfrm flipH="1">
                <a:off x="539552" y="6309320"/>
                <a:ext cx="579596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Connettore 1 12">
                <a:extLst>
                  <a:ext uri="{FF2B5EF4-FFF2-40B4-BE49-F238E27FC236}">
                    <a16:creationId xmlns:a16="http://schemas.microsoft.com/office/drawing/2014/main" id="{EC213829-C7AC-214F-A76E-3459F1214272}"/>
                  </a:ext>
                </a:extLst>
              </p:cNvPr>
              <p:cNvCxnSpPr>
                <a:cxnSpLocks/>
              </p:cNvCxnSpPr>
              <p:nvPr/>
            </p:nvCxnSpPr>
            <p:spPr bwMode="auto">
              <a:xfrm flipV="1">
                <a:off x="539552" y="4483627"/>
                <a:ext cx="0" cy="182569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Connettore 2 13">
                <a:extLst>
                  <a:ext uri="{FF2B5EF4-FFF2-40B4-BE49-F238E27FC236}">
                    <a16:creationId xmlns:a16="http://schemas.microsoft.com/office/drawing/2014/main" id="{35FE602A-9686-C84F-A262-8702A440805F}"/>
                  </a:ext>
                </a:extLst>
              </p:cNvPr>
              <p:cNvCxnSpPr>
                <a:cxnSpLocks/>
              </p:cNvCxnSpPr>
              <p:nvPr/>
            </p:nvCxnSpPr>
            <p:spPr bwMode="auto">
              <a:xfrm>
                <a:off x="539552" y="4507915"/>
                <a:ext cx="27745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spTree>
    <p:extLst>
      <p:ext uri="{BB962C8B-B14F-4D97-AF65-F5344CB8AC3E}">
        <p14:creationId xmlns:p14="http://schemas.microsoft.com/office/powerpoint/2010/main" val="4029452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Principio di separazione</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pPr algn="just"/>
                <a:r>
                  <a:rPr lang="it-IT" dirty="0"/>
                  <a:t>Nell’ipotesi di </a:t>
                </a:r>
                <a14:m>
                  <m:oMath xmlns:m="http://schemas.openxmlformats.org/officeDocument/2006/math">
                    <m:r>
                      <a:rPr lang="it-IT" i="1">
                        <a:latin typeface="Cambria Math"/>
                      </a:rPr>
                      <m:t>𝑢</m:t>
                    </m:r>
                    <m:d>
                      <m:dPr>
                        <m:ctrlPr>
                          <a:rPr lang="it-IT" i="1">
                            <a:latin typeface="Cambria Math" panose="02040503050406030204" pitchFamily="18" charset="0"/>
                          </a:rPr>
                        </m:ctrlPr>
                      </m:dPr>
                      <m:e>
                        <m:r>
                          <a:rPr lang="it-IT" i="1">
                            <a:latin typeface="Cambria Math"/>
                          </a:rPr>
                          <m:t>𝑡</m:t>
                        </m:r>
                      </m:e>
                    </m:d>
                    <m:r>
                      <a:rPr lang="it-IT" b="0" i="1" smtClean="0">
                        <a:latin typeface="Cambria Math" panose="02040503050406030204" pitchFamily="18" charset="0"/>
                      </a:rPr>
                      <m:t>=</m:t>
                    </m:r>
                    <m:r>
                      <a:rPr lang="it-IT" b="0" i="1" smtClean="0">
                        <a:latin typeface="Cambria Math" panose="02040503050406030204" pitchFamily="18" charset="0"/>
                      </a:rPr>
                      <m:t>𝐾</m:t>
                    </m:r>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r>
                      <a:rPr lang="it-IT" b="0" i="1" dirty="0" smtClean="0">
                        <a:latin typeface="Cambria Math" panose="02040503050406030204" pitchFamily="18" charset="0"/>
                      </a:rPr>
                      <m:t>(</m:t>
                    </m:r>
                    <m:r>
                      <a:rPr lang="it-IT" b="0" i="1" dirty="0" smtClean="0">
                        <a:latin typeface="Cambria Math" panose="02040503050406030204" pitchFamily="18" charset="0"/>
                      </a:rPr>
                      <m:t>𝑡</m:t>
                    </m:r>
                    <m:r>
                      <a:rPr lang="it-IT" b="0" i="1" dirty="0" smtClean="0">
                        <a:latin typeface="Cambria Math" panose="02040503050406030204" pitchFamily="18" charset="0"/>
                      </a:rPr>
                      <m:t>)</m:t>
                    </m:r>
                  </m:oMath>
                </a14:m>
                <a:r>
                  <a:rPr lang="it-IT" i="1" dirty="0"/>
                  <a:t>, </a:t>
                </a:r>
                <a:r>
                  <a:rPr lang="it-IT" dirty="0"/>
                  <a:t>il sistema a ciclo chiuso risulta:</a:t>
                </a:r>
              </a:p>
              <a:p>
                <a:pPr marL="0" indent="0" algn="just">
                  <a:buNone/>
                </a:pPr>
                <a14:m>
                  <m:oMathPara xmlns:m="http://schemas.openxmlformats.org/officeDocument/2006/math">
                    <m:oMathParaPr>
                      <m:jc m:val="centerGroup"/>
                    </m:oMathParaPr>
                    <m:oMath xmlns:m="http://schemas.openxmlformats.org/officeDocument/2006/math">
                      <m:acc>
                        <m:accPr>
                          <m:chr m:val="̇"/>
                          <m:ctrlPr>
                            <a:rPr lang="it-IT" i="1">
                              <a:latin typeface="Cambria Math" panose="02040503050406030204" pitchFamily="18" charset="0"/>
                            </a:rPr>
                          </m:ctrlPr>
                        </m:accPr>
                        <m:e>
                          <m:acc>
                            <m:accPr>
                              <m:chr m:val="̃"/>
                              <m:ctrlPr>
                                <a:rPr lang="it-IT" i="1">
                                  <a:latin typeface="Cambria Math" panose="02040503050406030204" pitchFamily="18" charset="0"/>
                                </a:rPr>
                              </m:ctrlPr>
                            </m:accPr>
                            <m:e>
                              <m:r>
                                <a:rPr lang="it-IT" i="1">
                                  <a:latin typeface="Cambria Math"/>
                                </a:rPr>
                                <m:t>𝑥</m:t>
                              </m:r>
                            </m:e>
                          </m:acc>
                        </m:e>
                      </m:acc>
                      <m:d>
                        <m:dPr>
                          <m:ctrlPr>
                            <a:rPr lang="it-IT" i="1">
                              <a:latin typeface="Cambria Math" panose="02040503050406030204" pitchFamily="18" charset="0"/>
                            </a:rPr>
                          </m:ctrlPr>
                        </m:dPr>
                        <m:e>
                          <m:r>
                            <a:rPr lang="it-IT" i="1">
                              <a:latin typeface="Cambria Math"/>
                            </a:rPr>
                            <m:t>𝑡</m:t>
                          </m:r>
                        </m:e>
                      </m:d>
                      <m:r>
                        <a:rPr lang="it-IT" i="1">
                          <a:latin typeface="Cambria Math"/>
                        </a:rPr>
                        <m:t>= </m:t>
                      </m:r>
                      <m:r>
                        <a:rPr lang="it-IT" i="1">
                          <a:latin typeface="Cambria Math"/>
                        </a:rPr>
                        <m:t>𝐴</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a:rPr lang="it-IT" i="1">
                          <a:latin typeface="Cambria Math"/>
                        </a:rPr>
                        <m:t>+</m:t>
                      </m:r>
                      <m:r>
                        <a:rPr lang="it-IT" i="1">
                          <a:latin typeface="Cambria Math"/>
                        </a:rPr>
                        <m:t>𝐵𝑢</m:t>
                      </m:r>
                      <m:d>
                        <m:dPr>
                          <m:ctrlPr>
                            <a:rPr lang="it-IT" i="1">
                              <a:latin typeface="Cambria Math" panose="02040503050406030204" pitchFamily="18" charset="0"/>
                            </a:rPr>
                          </m:ctrlPr>
                        </m:dPr>
                        <m:e>
                          <m:r>
                            <a:rPr lang="it-IT" i="1">
                              <a:latin typeface="Cambria Math"/>
                            </a:rPr>
                            <m:t>𝑡</m:t>
                          </m:r>
                        </m:e>
                      </m:d>
                      <m:r>
                        <m:rPr>
                          <m:nor/>
                        </m:rPr>
                        <a:rPr lang="it-IT" i="1">
                          <a:latin typeface="Cambria Math" panose="02040503050406030204" pitchFamily="18" charset="0"/>
                        </a:rPr>
                        <m:t>+</m:t>
                      </m:r>
                      <m:r>
                        <m:rPr>
                          <m:nor/>
                        </m:rPr>
                        <a:rPr lang="it-IT" i="1">
                          <a:latin typeface="Cambria Math" panose="02040503050406030204" pitchFamily="18" charset="0"/>
                        </a:rPr>
                        <m:t>G</m:t>
                      </m:r>
                      <m:d>
                        <m:dPr>
                          <m:ctrlPr>
                            <a:rPr lang="it-IT" i="1">
                              <a:latin typeface="Cambria Math" panose="02040503050406030204" pitchFamily="18" charset="0"/>
                            </a:rPr>
                          </m:ctrlPr>
                        </m:dPr>
                        <m:e>
                          <m:r>
                            <m:rPr>
                              <m:nor/>
                            </m:rPr>
                            <a:rPr lang="it-IT" i="1">
                              <a:latin typeface="Cambria Math" panose="02040503050406030204" pitchFamily="18" charset="0"/>
                            </a:rPr>
                            <m:t>y</m:t>
                          </m:r>
                          <m:r>
                            <m:rPr>
                              <m:nor/>
                            </m:rPr>
                            <a:rPr lang="it-IT" i="1">
                              <a:latin typeface="Cambria Math" panose="02040503050406030204" pitchFamily="18" charset="0"/>
                            </a:rPr>
                            <m:t>(</m:t>
                          </m:r>
                          <m:r>
                            <m:rPr>
                              <m:nor/>
                            </m:rPr>
                            <a:rPr lang="it-IT" i="1">
                              <a:latin typeface="Cambria Math" panose="02040503050406030204" pitchFamily="18" charset="0"/>
                            </a:rPr>
                            <m:t>t</m:t>
                          </m:r>
                          <m:r>
                            <m:rPr>
                              <m:nor/>
                            </m:rPr>
                            <a:rPr lang="it-IT" i="1">
                              <a:latin typeface="Cambria Math" panose="02040503050406030204" pitchFamily="18" charset="0"/>
                            </a:rPr>
                            <m:t>)−</m:t>
                          </m:r>
                          <m:r>
                            <m:rPr>
                              <m:nor/>
                            </m:rPr>
                            <a:rPr lang="it-IT" i="1">
                              <a:latin typeface="Cambria Math" panose="02040503050406030204" pitchFamily="18" charset="0"/>
                            </a:rPr>
                            <m:t>C</m:t>
                          </m:r>
                          <m:r>
                            <a:rPr lang="it-IT" i="1">
                              <a:latin typeface="Cambria Math" panose="02040503050406030204" pitchFamily="18" charset="0"/>
                            </a:rPr>
                            <m:t> </m:t>
                          </m:r>
                          <m:acc>
                            <m:accPr>
                              <m:chr m:val="̃"/>
                              <m:ctrlPr>
                                <a:rPr lang="it-IT" i="1">
                                  <a:latin typeface="Cambria Math" panose="02040503050406030204" pitchFamily="18" charset="0"/>
                                </a:rPr>
                              </m:ctrlPr>
                            </m:accPr>
                            <m:e>
                              <m:r>
                                <a:rPr lang="it-IT" i="1">
                                  <a:latin typeface="Cambria Math"/>
                                </a:rPr>
                                <m:t>𝑥</m:t>
                              </m:r>
                            </m:e>
                          </m:acc>
                          <m:r>
                            <a:rPr lang="it-IT" i="1" dirty="0">
                              <a:latin typeface="Cambria Math" panose="02040503050406030204" pitchFamily="18" charset="0"/>
                            </a:rPr>
                            <m:t>(</m:t>
                          </m:r>
                          <m:r>
                            <a:rPr lang="it-IT" i="1" dirty="0">
                              <a:latin typeface="Cambria Math" panose="02040503050406030204" pitchFamily="18" charset="0"/>
                            </a:rPr>
                            <m:t>𝑡</m:t>
                          </m:r>
                          <m:r>
                            <a:rPr lang="it-IT" i="1" dirty="0">
                              <a:latin typeface="Cambria Math" panose="02040503050406030204" pitchFamily="18" charset="0"/>
                            </a:rPr>
                            <m:t>)</m:t>
                          </m:r>
                        </m:e>
                      </m:d>
                    </m:oMath>
                  </m:oMathPara>
                </a14:m>
                <a:endParaRPr lang="it-IT" dirty="0"/>
              </a:p>
              <a:p>
                <a:pPr marL="0" indent="0" algn="just">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       =(</m:t>
                      </m:r>
                      <m:r>
                        <a:rPr lang="it-IT" i="1">
                          <a:latin typeface="Cambria Math"/>
                        </a:rPr>
                        <m:t>𝐴</m:t>
                      </m:r>
                      <m:r>
                        <a:rPr lang="it-IT" b="0" i="1" smtClean="0">
                          <a:latin typeface="Cambria Math" panose="02040503050406030204" pitchFamily="18" charset="0"/>
                        </a:rPr>
                        <m:t>+</m:t>
                      </m:r>
                      <m:r>
                        <a:rPr lang="it-IT" b="0" i="1" smtClean="0">
                          <a:latin typeface="Cambria Math" panose="02040503050406030204" pitchFamily="18" charset="0"/>
                        </a:rPr>
                        <m:t>𝐵𝐾</m:t>
                      </m:r>
                      <m:r>
                        <a:rPr lang="it-IT" b="0" i="1" smtClean="0">
                          <a:latin typeface="Cambria Math" panose="02040503050406030204" pitchFamily="18" charset="0"/>
                        </a:rPr>
                        <m:t>)</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m:rPr>
                          <m:nor/>
                        </m:rPr>
                        <a:rPr lang="it-IT" i="1">
                          <a:latin typeface="Cambria Math" panose="02040503050406030204" pitchFamily="18" charset="0"/>
                        </a:rPr>
                        <m:t>+</m:t>
                      </m:r>
                      <m:r>
                        <m:rPr>
                          <m:nor/>
                        </m:rPr>
                        <a:rPr lang="it-IT" i="1">
                          <a:latin typeface="Cambria Math" panose="02040503050406030204" pitchFamily="18" charset="0"/>
                        </a:rPr>
                        <m:t>G</m:t>
                      </m:r>
                      <m:d>
                        <m:dPr>
                          <m:ctrlPr>
                            <a:rPr lang="it-IT" i="1">
                              <a:latin typeface="Cambria Math" panose="02040503050406030204" pitchFamily="18" charset="0"/>
                            </a:rPr>
                          </m:ctrlPr>
                        </m:dPr>
                        <m:e>
                          <m:r>
                            <m:rPr>
                              <m:nor/>
                            </m:rPr>
                            <a:rPr lang="it-IT" i="1">
                              <a:latin typeface="Cambria Math" panose="02040503050406030204" pitchFamily="18" charset="0"/>
                            </a:rPr>
                            <m:t>y</m:t>
                          </m:r>
                          <m:r>
                            <m:rPr>
                              <m:nor/>
                            </m:rPr>
                            <a:rPr lang="it-IT" i="1">
                              <a:latin typeface="Cambria Math" panose="02040503050406030204" pitchFamily="18" charset="0"/>
                            </a:rPr>
                            <m:t>(</m:t>
                          </m:r>
                          <m:r>
                            <m:rPr>
                              <m:nor/>
                            </m:rPr>
                            <a:rPr lang="it-IT" i="1">
                              <a:latin typeface="Cambria Math" panose="02040503050406030204" pitchFamily="18" charset="0"/>
                            </a:rPr>
                            <m:t>t</m:t>
                          </m:r>
                          <m:r>
                            <m:rPr>
                              <m:nor/>
                            </m:rPr>
                            <a:rPr lang="it-IT" i="1">
                              <a:latin typeface="Cambria Math" panose="02040503050406030204" pitchFamily="18" charset="0"/>
                            </a:rPr>
                            <m:t>)−</m:t>
                          </m:r>
                          <m:r>
                            <m:rPr>
                              <m:nor/>
                            </m:rPr>
                            <a:rPr lang="it-IT" i="1">
                              <a:latin typeface="Cambria Math" panose="02040503050406030204" pitchFamily="18" charset="0"/>
                            </a:rPr>
                            <m:t>C</m:t>
                          </m:r>
                          <m:r>
                            <a:rPr lang="it-IT" i="1">
                              <a:latin typeface="Cambria Math" panose="02040503050406030204" pitchFamily="18" charset="0"/>
                            </a:rPr>
                            <m:t> </m:t>
                          </m:r>
                          <m:acc>
                            <m:accPr>
                              <m:chr m:val="̃"/>
                              <m:ctrlPr>
                                <a:rPr lang="it-IT" i="1">
                                  <a:latin typeface="Cambria Math" panose="02040503050406030204" pitchFamily="18" charset="0"/>
                                </a:rPr>
                              </m:ctrlPr>
                            </m:accPr>
                            <m:e>
                              <m:r>
                                <a:rPr lang="it-IT" i="1">
                                  <a:latin typeface="Cambria Math"/>
                                </a:rPr>
                                <m:t>𝑥</m:t>
                              </m:r>
                            </m:e>
                          </m:acc>
                          <m:r>
                            <a:rPr lang="it-IT" i="1" dirty="0">
                              <a:latin typeface="Cambria Math" panose="02040503050406030204" pitchFamily="18" charset="0"/>
                            </a:rPr>
                            <m:t>(</m:t>
                          </m:r>
                          <m:r>
                            <a:rPr lang="it-IT" i="1" dirty="0">
                              <a:latin typeface="Cambria Math" panose="02040503050406030204" pitchFamily="18" charset="0"/>
                            </a:rPr>
                            <m:t>𝑡</m:t>
                          </m:r>
                          <m:r>
                            <a:rPr lang="it-IT" i="1" dirty="0">
                              <a:latin typeface="Cambria Math" panose="02040503050406030204" pitchFamily="18" charset="0"/>
                            </a:rPr>
                            <m:t>)</m:t>
                          </m:r>
                        </m:e>
                      </m:d>
                    </m:oMath>
                  </m:oMathPara>
                </a14:m>
                <a:endParaRPr lang="it-IT" dirty="0"/>
              </a:p>
              <a:p>
                <a:pPr marL="0" indent="0" algn="just">
                  <a:buNone/>
                </a:pPr>
                <a14:m>
                  <m:oMathPara xmlns:m="http://schemas.openxmlformats.org/officeDocument/2006/math">
                    <m:oMathParaPr>
                      <m:jc m:val="centerGroup"/>
                    </m:oMathParaPr>
                    <m:oMath xmlns:m="http://schemas.openxmlformats.org/officeDocument/2006/math">
                      <m:r>
                        <a:rPr lang="it-IT" i="1">
                          <a:latin typeface="Cambria Math" panose="02040503050406030204" pitchFamily="18" charset="0"/>
                        </a:rPr>
                        <m:t>=(</m:t>
                      </m:r>
                      <m:r>
                        <a:rPr lang="it-IT" i="1">
                          <a:latin typeface="Cambria Math"/>
                        </a:rPr>
                        <m:t>𝐴</m:t>
                      </m:r>
                      <m:r>
                        <a:rPr lang="it-IT" i="1">
                          <a:latin typeface="Cambria Math" panose="02040503050406030204" pitchFamily="18" charset="0"/>
                        </a:rPr>
                        <m:t>+</m:t>
                      </m:r>
                      <m:r>
                        <a:rPr lang="it-IT" i="1">
                          <a:latin typeface="Cambria Math" panose="02040503050406030204" pitchFamily="18" charset="0"/>
                        </a:rPr>
                        <m:t>𝐵𝐾</m:t>
                      </m:r>
                      <m:r>
                        <a:rPr lang="it-IT" b="0" i="1" smtClean="0">
                          <a:latin typeface="Cambria Math" panose="02040503050406030204" pitchFamily="18" charset="0"/>
                        </a:rPr>
                        <m:t>−</m:t>
                      </m:r>
                      <m:r>
                        <a:rPr lang="it-IT" b="0" i="1" smtClean="0">
                          <a:latin typeface="Cambria Math" panose="02040503050406030204" pitchFamily="18" charset="0"/>
                        </a:rPr>
                        <m:t>𝐺𝐶</m:t>
                      </m:r>
                      <m:r>
                        <a:rPr lang="it-IT" i="1">
                          <a:latin typeface="Cambria Math" panose="02040503050406030204" pitchFamily="18" charset="0"/>
                        </a:rPr>
                        <m:t>)</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m:rPr>
                          <m:nor/>
                        </m:rPr>
                        <a:rPr lang="it-IT" i="1">
                          <a:latin typeface="Cambria Math" panose="02040503050406030204" pitchFamily="18" charset="0"/>
                        </a:rPr>
                        <m:t>+</m:t>
                      </m:r>
                      <m:r>
                        <m:rPr>
                          <m:nor/>
                        </m:rPr>
                        <a:rPr lang="it-IT" i="1">
                          <a:latin typeface="Cambria Math" panose="02040503050406030204" pitchFamily="18" charset="0"/>
                        </a:rPr>
                        <m:t>Gy</m:t>
                      </m:r>
                      <m:r>
                        <m:rPr>
                          <m:nor/>
                        </m:rPr>
                        <a:rPr lang="it-IT" i="1">
                          <a:latin typeface="Cambria Math" panose="02040503050406030204" pitchFamily="18" charset="0"/>
                        </a:rPr>
                        <m:t>(</m:t>
                      </m:r>
                      <m:r>
                        <m:rPr>
                          <m:nor/>
                        </m:rPr>
                        <a:rPr lang="it-IT" i="1">
                          <a:latin typeface="Cambria Math" panose="02040503050406030204" pitchFamily="18" charset="0"/>
                        </a:rPr>
                        <m:t>t</m:t>
                      </m:r>
                      <m:r>
                        <m:rPr>
                          <m:nor/>
                        </m:rPr>
                        <a:rPr lang="it-IT" i="1">
                          <a:latin typeface="Cambria Math" panose="02040503050406030204" pitchFamily="18" charset="0"/>
                        </a:rPr>
                        <m:t>)</m:t>
                      </m:r>
                    </m:oMath>
                  </m:oMathPara>
                </a14:m>
                <a:endParaRPr lang="it-IT" dirty="0"/>
              </a:p>
              <a:p>
                <a:pPr algn="just"/>
                <a:endParaRPr lang="it-IT" dirty="0"/>
              </a:p>
              <a:p>
                <a:pPr algn="just"/>
                <a:endParaRPr lang="it-IT" dirty="0"/>
              </a:p>
              <a:p>
                <a:pPr algn="just"/>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2"/>
                <a:stretch>
                  <a:fillRect l="-433" t="-226"/>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13</a:t>
            </a:fld>
            <a:endParaRPr lang="en-US"/>
          </a:p>
        </p:txBody>
      </p:sp>
      <p:grpSp>
        <p:nvGrpSpPr>
          <p:cNvPr id="6" name="Gruppo 5">
            <a:extLst>
              <a:ext uri="{FF2B5EF4-FFF2-40B4-BE49-F238E27FC236}">
                <a16:creationId xmlns:a16="http://schemas.microsoft.com/office/drawing/2014/main" id="{43D0A3A5-AB31-674C-ADCC-AA74F3F21EB4}"/>
              </a:ext>
            </a:extLst>
          </p:cNvPr>
          <p:cNvGrpSpPr/>
          <p:nvPr/>
        </p:nvGrpSpPr>
        <p:grpSpPr>
          <a:xfrm>
            <a:off x="1126188" y="3140968"/>
            <a:ext cx="6891624" cy="2532435"/>
            <a:chOff x="539552" y="3776886"/>
            <a:chExt cx="6891624" cy="2532435"/>
          </a:xfrm>
        </p:grpSpPr>
        <p:grpSp>
          <p:nvGrpSpPr>
            <p:cNvPr id="8" name="Gruppo 7">
              <a:extLst>
                <a:ext uri="{FF2B5EF4-FFF2-40B4-BE49-F238E27FC236}">
                  <a16:creationId xmlns:a16="http://schemas.microsoft.com/office/drawing/2014/main" id="{5D33774C-717C-944C-BE94-815281549E8A}"/>
                </a:ext>
              </a:extLst>
            </p:cNvPr>
            <p:cNvGrpSpPr/>
            <p:nvPr/>
          </p:nvGrpSpPr>
          <p:grpSpPr>
            <a:xfrm>
              <a:off x="539552" y="3776886"/>
              <a:ext cx="6891624" cy="2168162"/>
              <a:chOff x="1676824" y="1980918"/>
              <a:chExt cx="6891624" cy="2168162"/>
            </a:xfrm>
          </p:grpSpPr>
          <p:grpSp>
            <p:nvGrpSpPr>
              <p:cNvPr id="15" name="Gruppo 14">
                <a:extLst>
                  <a:ext uri="{FF2B5EF4-FFF2-40B4-BE49-F238E27FC236}">
                    <a16:creationId xmlns:a16="http://schemas.microsoft.com/office/drawing/2014/main" id="{375BD5D1-DEE0-6843-8D16-F406E3A51BEF}"/>
                  </a:ext>
                </a:extLst>
              </p:cNvPr>
              <p:cNvGrpSpPr/>
              <p:nvPr/>
            </p:nvGrpSpPr>
            <p:grpSpPr>
              <a:xfrm>
                <a:off x="3394444" y="1980918"/>
                <a:ext cx="4993980" cy="2168162"/>
                <a:chOff x="3106412" y="4755432"/>
                <a:chExt cx="4993980" cy="2168162"/>
              </a:xfrm>
            </p:grpSpPr>
            <mc:AlternateContent xmlns:mc="http://schemas.openxmlformats.org/markup-compatibility/2006" xmlns:a14="http://schemas.microsoft.com/office/drawing/2010/main">
              <mc:Choice Requires="a14">
                <p:sp>
                  <p:nvSpPr>
                    <p:cNvPr id="25" name="Rettangolo 24">
                      <a:extLst>
                        <a:ext uri="{FF2B5EF4-FFF2-40B4-BE49-F238E27FC236}">
                          <a16:creationId xmlns:a16="http://schemas.microsoft.com/office/drawing/2014/main" id="{02789241-1FF1-394A-88D4-5A51359339D4}"/>
                        </a:ext>
                      </a:extLst>
                    </p:cNvPr>
                    <p:cNvSpPr/>
                    <p:nvPr/>
                  </p:nvSpPr>
                  <p:spPr bwMode="auto">
                    <a:xfrm>
                      <a:off x="4575329" y="5214869"/>
                      <a:ext cx="2012897" cy="54318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it-IT" sz="1600" i="1" smtClean="0">
                                    <a:latin typeface="Cambria Math" panose="02040503050406030204" pitchFamily="18" charset="0"/>
                                  </a:rPr>
                                </m:ctrlPr>
                              </m:mPr>
                              <m:mr>
                                <m:e>
                                  <m:acc>
                                    <m:accPr>
                                      <m:chr m:val="̇"/>
                                      <m:ctrlPr>
                                        <a:rPr lang="it-IT" sz="1600" i="1">
                                          <a:latin typeface="Cambria Math" panose="02040503050406030204" pitchFamily="18" charset="0"/>
                                        </a:rPr>
                                      </m:ctrlPr>
                                    </m:accPr>
                                    <m:e>
                                      <m:r>
                                        <a:rPr lang="it-IT" sz="1600" i="1">
                                          <a:latin typeface="Cambria Math"/>
                                        </a:rPr>
                                        <m:t>𝑥</m:t>
                                      </m:r>
                                    </m:e>
                                  </m:acc>
                                  <m:d>
                                    <m:dPr>
                                      <m:ctrlPr>
                                        <a:rPr lang="it-IT" sz="1600" i="1">
                                          <a:latin typeface="Cambria Math" panose="02040503050406030204" pitchFamily="18" charset="0"/>
                                        </a:rPr>
                                      </m:ctrlPr>
                                    </m:dPr>
                                    <m:e>
                                      <m:r>
                                        <a:rPr lang="it-IT" sz="1600" i="1">
                                          <a:latin typeface="Cambria Math"/>
                                        </a:rPr>
                                        <m:t>𝑡</m:t>
                                      </m:r>
                                    </m:e>
                                  </m:d>
                                  <m:r>
                                    <a:rPr lang="it-IT" sz="1600" i="1">
                                      <a:latin typeface="Cambria Math"/>
                                    </a:rPr>
                                    <m:t>= </m:t>
                                  </m:r>
                                  <m:r>
                                    <a:rPr lang="it-IT" sz="1600" i="1">
                                      <a:latin typeface="Cambria Math"/>
                                    </a:rPr>
                                    <m:t>𝐴𝑥</m:t>
                                  </m:r>
                                  <m:d>
                                    <m:dPr>
                                      <m:ctrlPr>
                                        <a:rPr lang="it-IT" sz="1600" i="1">
                                          <a:latin typeface="Cambria Math" panose="02040503050406030204" pitchFamily="18" charset="0"/>
                                        </a:rPr>
                                      </m:ctrlPr>
                                    </m:dPr>
                                    <m:e>
                                      <m:r>
                                        <a:rPr lang="it-IT" sz="1600" i="1">
                                          <a:latin typeface="Cambria Math"/>
                                        </a:rPr>
                                        <m:t>𝑡</m:t>
                                      </m:r>
                                    </m:e>
                                  </m:d>
                                  <m:r>
                                    <a:rPr lang="it-IT" sz="1600" i="1">
                                      <a:latin typeface="Cambria Math"/>
                                    </a:rPr>
                                    <m:t>+</m:t>
                                  </m:r>
                                  <m:r>
                                    <a:rPr lang="it-IT" sz="1600" i="1">
                                      <a:latin typeface="Cambria Math"/>
                                    </a:rPr>
                                    <m:t>𝐵𝑢</m:t>
                                  </m:r>
                                  <m:d>
                                    <m:dPr>
                                      <m:ctrlPr>
                                        <a:rPr lang="it-IT" sz="1600" i="1">
                                          <a:latin typeface="Cambria Math" panose="02040503050406030204" pitchFamily="18" charset="0"/>
                                        </a:rPr>
                                      </m:ctrlPr>
                                    </m:dPr>
                                    <m:e>
                                      <m:r>
                                        <a:rPr lang="it-IT" sz="1600" i="1">
                                          <a:latin typeface="Cambria Math"/>
                                        </a:rPr>
                                        <m:t>𝑡</m:t>
                                      </m:r>
                                    </m:e>
                                  </m:d>
                                </m:e>
                              </m:mr>
                              <m:mr>
                                <m:e>
                                  <m:r>
                                    <a:rPr lang="it-IT" sz="1600" b="1" i="1" smtClean="0">
                                      <a:latin typeface="Cambria Math" panose="02040503050406030204" pitchFamily="18" charset="0"/>
                                    </a:rPr>
                                    <m:t>                           </m:t>
                                  </m:r>
                                  <m:r>
                                    <a:rPr lang="it-IT" sz="1600" i="1">
                                      <a:latin typeface="Cambria Math"/>
                                    </a:rPr>
                                    <m:t>𝑦</m:t>
                                  </m:r>
                                  <m:d>
                                    <m:dPr>
                                      <m:ctrlPr>
                                        <a:rPr lang="it-IT" sz="1600" i="1">
                                          <a:latin typeface="Cambria Math" panose="02040503050406030204" pitchFamily="18" charset="0"/>
                                        </a:rPr>
                                      </m:ctrlPr>
                                    </m:dPr>
                                    <m:e>
                                      <m:r>
                                        <a:rPr lang="it-IT" sz="1600" i="1">
                                          <a:latin typeface="Cambria Math"/>
                                        </a:rPr>
                                        <m:t>𝑡</m:t>
                                      </m:r>
                                    </m:e>
                                  </m:d>
                                  <m:r>
                                    <a:rPr lang="it-IT" sz="1600" i="1">
                                      <a:latin typeface="Cambria Math"/>
                                    </a:rPr>
                                    <m:t>=</m:t>
                                  </m:r>
                                  <m:r>
                                    <a:rPr lang="it-IT" sz="1600" i="1">
                                      <a:latin typeface="Cambria Math"/>
                                    </a:rPr>
                                    <m:t>𝐶𝑥</m:t>
                                  </m:r>
                                  <m:d>
                                    <m:dPr>
                                      <m:ctrlPr>
                                        <a:rPr lang="it-IT" sz="1600" i="1">
                                          <a:latin typeface="Cambria Math" panose="02040503050406030204" pitchFamily="18" charset="0"/>
                                        </a:rPr>
                                      </m:ctrlPr>
                                    </m:dPr>
                                    <m:e>
                                      <m:r>
                                        <a:rPr lang="it-IT" sz="1600" i="1">
                                          <a:latin typeface="Cambria Math"/>
                                        </a:rPr>
                                        <m:t>𝑡</m:t>
                                      </m:r>
                                    </m:e>
                                  </m:d>
                                  <m:r>
                                    <a:rPr lang="it-IT" sz="1600" b="0" i="1">
                                      <a:latin typeface="Cambria Math" panose="02040503050406030204" pitchFamily="18" charset="0"/>
                                    </a:rPr>
                                    <m:t>                  </m:t>
                                  </m:r>
                                  <m:r>
                                    <a:rPr lang="it-IT" sz="1600" b="0" i="1">
                                      <a:latin typeface="Cambria Math"/>
                                    </a:rPr>
                                    <m:t>                           </m:t>
                                  </m:r>
                                </m:e>
                              </m:mr>
                            </m:m>
                          </m:oMath>
                        </m:oMathPara>
                      </a14:m>
                      <a:endParaRPr kumimoji="0" lang="it-IT" sz="1600" b="1" i="0" u="none" strike="noStrike" cap="none" normalizeH="0" baseline="0" dirty="0">
                        <a:ln>
                          <a:noFill/>
                        </a:ln>
                        <a:solidFill>
                          <a:schemeClr val="tx1"/>
                        </a:solidFill>
                        <a:effectLst/>
                      </a:endParaRPr>
                    </a:p>
                  </p:txBody>
                </p:sp>
              </mc:Choice>
              <mc:Fallback xmlns="">
                <p:sp>
                  <p:nvSpPr>
                    <p:cNvPr id="25" name="Rettangolo 24">
                      <a:extLst>
                        <a:ext uri="{FF2B5EF4-FFF2-40B4-BE49-F238E27FC236}">
                          <a16:creationId xmlns:a16="http://schemas.microsoft.com/office/drawing/2014/main" id="{02789241-1FF1-394A-88D4-5A51359339D4}"/>
                        </a:ext>
                      </a:extLst>
                    </p:cNvPr>
                    <p:cNvSpPr>
                      <a:spLocks noRot="1" noChangeAspect="1" noMove="1" noResize="1" noEditPoints="1" noAdjustHandles="1" noChangeArrowheads="1" noChangeShapeType="1" noTextEdit="1"/>
                    </p:cNvSpPr>
                    <p:nvPr/>
                  </p:nvSpPr>
                  <p:spPr bwMode="auto">
                    <a:xfrm>
                      <a:off x="4575329" y="5214869"/>
                      <a:ext cx="2012897" cy="543183"/>
                    </a:xfrm>
                    <a:prstGeom prst="rect">
                      <a:avLst/>
                    </a:prstGeom>
                    <a:blipFill>
                      <a:blip r:embed="rId3"/>
                      <a:stretch>
                        <a:fillRect l="-63125" r="-60000" b="-13333"/>
                      </a:stretch>
                    </a:blipFill>
                    <a:ln w="9525" cap="flat" cmpd="sng" algn="ctr">
                      <a:solidFill>
                        <a:schemeClr val="tx1"/>
                      </a:solidFill>
                      <a:prstDash val="solid"/>
                      <a:round/>
                      <a:headEnd type="none" w="med" len="med"/>
                      <a:tailEnd type="none" w="med" len="med"/>
                    </a:ln>
                    <a:effectLst/>
                  </p:spPr>
                  <p:txBody>
                    <a:bodyPr/>
                    <a:lstStyle/>
                    <a:p>
                      <a:r>
                        <a:rPr lang="it-IT">
                          <a:noFill/>
                        </a:rPr>
                        <a:t> </a:t>
                      </a:r>
                    </a:p>
                  </p:txBody>
                </p:sp>
              </mc:Fallback>
            </mc:AlternateContent>
            <p:cxnSp>
              <p:nvCxnSpPr>
                <p:cNvPr id="26" name="Connettore 2 25">
                  <a:extLst>
                    <a:ext uri="{FF2B5EF4-FFF2-40B4-BE49-F238E27FC236}">
                      <a16:creationId xmlns:a16="http://schemas.microsoft.com/office/drawing/2014/main" id="{0E5A1A33-7C0B-C242-A42A-649383D933A8}"/>
                    </a:ext>
                  </a:extLst>
                </p:cNvPr>
                <p:cNvCxnSpPr>
                  <a:cxnSpLocks/>
                </p:cNvCxnSpPr>
                <p:nvPr/>
              </p:nvCxnSpPr>
              <p:spPr bwMode="auto">
                <a:xfrm>
                  <a:off x="6588226" y="5466898"/>
                  <a:ext cx="1512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7" name="Rettangolo 26">
                      <a:extLst>
                        <a:ext uri="{FF2B5EF4-FFF2-40B4-BE49-F238E27FC236}">
                          <a16:creationId xmlns:a16="http://schemas.microsoft.com/office/drawing/2014/main" id="{235870DB-FBE7-734F-994C-3997BF98EBDF}"/>
                        </a:ext>
                      </a:extLst>
                    </p:cNvPr>
                    <p:cNvSpPr/>
                    <p:nvPr/>
                  </p:nvSpPr>
                  <p:spPr>
                    <a:xfrm>
                      <a:off x="7184753" y="4900415"/>
                      <a:ext cx="8231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i="1">
                                <a:latin typeface="Cambria Math"/>
                              </a:rPr>
                              <m:t>𝑦</m:t>
                            </m:r>
                            <m:d>
                              <m:dPr>
                                <m:ctrlPr>
                                  <a:rPr lang="it-IT" i="1">
                                    <a:latin typeface="Cambria Math" panose="02040503050406030204" pitchFamily="18" charset="0"/>
                                  </a:rPr>
                                </m:ctrlPr>
                              </m:dPr>
                              <m:e>
                                <m:r>
                                  <a:rPr lang="it-IT" i="1">
                                    <a:latin typeface="Cambria Math"/>
                                  </a:rPr>
                                  <m:t>𝑡</m:t>
                                </m:r>
                              </m:e>
                            </m:d>
                          </m:oMath>
                        </m:oMathPara>
                      </a14:m>
                      <a:endParaRPr lang="it-IT" dirty="0"/>
                    </a:p>
                  </p:txBody>
                </p:sp>
              </mc:Choice>
              <mc:Fallback xmlns="">
                <p:sp>
                  <p:nvSpPr>
                    <p:cNvPr id="22" name="Rettangolo 21">
                      <a:extLst>
                        <a:ext uri="{FF2B5EF4-FFF2-40B4-BE49-F238E27FC236}">
                          <a16:creationId xmlns:a16="http://schemas.microsoft.com/office/drawing/2014/main" id="{6DCFFCFD-21DB-EF4C-8911-D6715B56B35D}"/>
                        </a:ext>
                      </a:extLst>
                    </p:cNvPr>
                    <p:cNvSpPr>
                      <a:spLocks noRot="1" noChangeAspect="1" noMove="1" noResize="1" noEditPoints="1" noAdjustHandles="1" noChangeArrowheads="1" noChangeShapeType="1" noTextEdit="1"/>
                    </p:cNvSpPr>
                    <p:nvPr/>
                  </p:nvSpPr>
                  <p:spPr>
                    <a:xfrm>
                      <a:off x="7184753" y="4900415"/>
                      <a:ext cx="823174" cy="461665"/>
                    </a:xfrm>
                    <a:prstGeom prst="rect">
                      <a:avLst/>
                    </a:prstGeom>
                    <a:blipFill>
                      <a:blip r:embed="rId4"/>
                      <a:stretch>
                        <a:fillRect b="-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Rettangolo 27">
                      <a:extLst>
                        <a:ext uri="{FF2B5EF4-FFF2-40B4-BE49-F238E27FC236}">
                          <a16:creationId xmlns:a16="http://schemas.microsoft.com/office/drawing/2014/main" id="{C5388797-1EAB-3944-9EC7-03DA8F4564B5}"/>
                        </a:ext>
                      </a:extLst>
                    </p:cNvPr>
                    <p:cNvSpPr/>
                    <p:nvPr/>
                  </p:nvSpPr>
                  <p:spPr>
                    <a:xfrm>
                      <a:off x="5470472" y="4755432"/>
                      <a:ext cx="723340" cy="461665"/>
                    </a:xfrm>
                    <a:prstGeom prst="rect">
                      <a:avLst/>
                    </a:prstGeom>
                  </p:spPr>
                  <p:txBody>
                    <a:bodyPr wrap="none">
                      <a:spAutoFit/>
                    </a:bodyPr>
                    <a:lstStyle/>
                    <a:p>
                      <a:r>
                        <a:rPr lang="it-IT" b="0" i="1" dirty="0"/>
                        <a:t>x</a:t>
                      </a:r>
                      <a14:m>
                        <m:oMath xmlns:m="http://schemas.openxmlformats.org/officeDocument/2006/math">
                          <m:d>
                            <m:dPr>
                              <m:ctrlPr>
                                <a:rPr lang="it-IT" i="1">
                                  <a:latin typeface="Cambria Math" panose="02040503050406030204" pitchFamily="18" charset="0"/>
                                </a:rPr>
                              </m:ctrlPr>
                            </m:dPr>
                            <m:e>
                              <m:r>
                                <a:rPr lang="it-IT" i="1">
                                  <a:latin typeface="Cambria Math"/>
                                </a:rPr>
                                <m:t>𝑡</m:t>
                              </m:r>
                            </m:e>
                          </m:d>
                        </m:oMath>
                      </a14:m>
                      <a:endParaRPr lang="it-IT" i="1" dirty="0"/>
                    </a:p>
                  </p:txBody>
                </p:sp>
              </mc:Choice>
              <mc:Fallback xmlns="">
                <p:sp>
                  <p:nvSpPr>
                    <p:cNvPr id="28" name="Rettangolo 27">
                      <a:extLst>
                        <a:ext uri="{FF2B5EF4-FFF2-40B4-BE49-F238E27FC236}">
                          <a16:creationId xmlns:a16="http://schemas.microsoft.com/office/drawing/2014/main" id="{C5388797-1EAB-3944-9EC7-03DA8F4564B5}"/>
                        </a:ext>
                      </a:extLst>
                    </p:cNvPr>
                    <p:cNvSpPr>
                      <a:spLocks noRot="1" noChangeAspect="1" noMove="1" noResize="1" noEditPoints="1" noAdjustHandles="1" noChangeArrowheads="1" noChangeShapeType="1" noTextEdit="1"/>
                    </p:cNvSpPr>
                    <p:nvPr/>
                  </p:nvSpPr>
                  <p:spPr>
                    <a:xfrm>
                      <a:off x="5470472" y="4755432"/>
                      <a:ext cx="723340" cy="461665"/>
                    </a:xfrm>
                    <a:prstGeom prst="rect">
                      <a:avLst/>
                    </a:prstGeom>
                    <a:blipFill>
                      <a:blip r:embed="rId5"/>
                      <a:stretch>
                        <a:fillRect l="-12069" t="-7895" b="-2631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 name="Rettangolo 28">
                      <a:extLst>
                        <a:ext uri="{FF2B5EF4-FFF2-40B4-BE49-F238E27FC236}">
                          <a16:creationId xmlns:a16="http://schemas.microsoft.com/office/drawing/2014/main" id="{42313E5D-39F8-A344-B30F-C8C55BD1B6B4}"/>
                        </a:ext>
                      </a:extLst>
                    </p:cNvPr>
                    <p:cNvSpPr/>
                    <p:nvPr/>
                  </p:nvSpPr>
                  <p:spPr>
                    <a:xfrm>
                      <a:off x="3419872" y="4837720"/>
                      <a:ext cx="723340" cy="461665"/>
                    </a:xfrm>
                    <a:prstGeom prst="rect">
                      <a:avLst/>
                    </a:prstGeom>
                  </p:spPr>
                  <p:txBody>
                    <a:bodyPr wrap="none">
                      <a:spAutoFit/>
                    </a:bodyPr>
                    <a:lstStyle/>
                    <a:p>
                      <a:r>
                        <a:rPr lang="it-IT" b="0" i="1" dirty="0"/>
                        <a:t>u</a:t>
                      </a:r>
                      <a14:m>
                        <m:oMath xmlns:m="http://schemas.openxmlformats.org/officeDocument/2006/math">
                          <m:d>
                            <m:dPr>
                              <m:ctrlPr>
                                <a:rPr lang="it-IT" i="1">
                                  <a:latin typeface="Cambria Math" panose="02040503050406030204" pitchFamily="18" charset="0"/>
                                </a:rPr>
                              </m:ctrlPr>
                            </m:dPr>
                            <m:e>
                              <m:r>
                                <a:rPr lang="it-IT" i="1">
                                  <a:latin typeface="Cambria Math"/>
                                </a:rPr>
                                <m:t>𝑡</m:t>
                              </m:r>
                            </m:e>
                          </m:d>
                        </m:oMath>
                      </a14:m>
                      <a:endParaRPr lang="it-IT" i="1" dirty="0"/>
                    </a:p>
                  </p:txBody>
                </p:sp>
              </mc:Choice>
              <mc:Fallback xmlns="">
                <p:sp>
                  <p:nvSpPr>
                    <p:cNvPr id="29" name="Rettangolo 28">
                      <a:extLst>
                        <a:ext uri="{FF2B5EF4-FFF2-40B4-BE49-F238E27FC236}">
                          <a16:creationId xmlns:a16="http://schemas.microsoft.com/office/drawing/2014/main" id="{42313E5D-39F8-A344-B30F-C8C55BD1B6B4}"/>
                        </a:ext>
                      </a:extLst>
                    </p:cNvPr>
                    <p:cNvSpPr>
                      <a:spLocks noRot="1" noChangeAspect="1" noMove="1" noResize="1" noEditPoints="1" noAdjustHandles="1" noChangeArrowheads="1" noChangeShapeType="1" noTextEdit="1"/>
                    </p:cNvSpPr>
                    <p:nvPr/>
                  </p:nvSpPr>
                  <p:spPr>
                    <a:xfrm>
                      <a:off x="3419872" y="4837720"/>
                      <a:ext cx="723340" cy="461665"/>
                    </a:xfrm>
                    <a:prstGeom prst="rect">
                      <a:avLst/>
                    </a:prstGeom>
                    <a:blipFill>
                      <a:blip r:embed="rId6"/>
                      <a:stretch>
                        <a:fillRect l="-13793" t="-8108" b="-2702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 name="Rettangolo 29">
                      <a:extLst>
                        <a:ext uri="{FF2B5EF4-FFF2-40B4-BE49-F238E27FC236}">
                          <a16:creationId xmlns:a16="http://schemas.microsoft.com/office/drawing/2014/main" id="{050B66F0-EFCA-B248-BA98-C1E12386569D}"/>
                        </a:ext>
                      </a:extLst>
                    </p:cNvPr>
                    <p:cNvSpPr/>
                    <p:nvPr/>
                  </p:nvSpPr>
                  <p:spPr bwMode="auto">
                    <a:xfrm>
                      <a:off x="3106412" y="6280037"/>
                      <a:ext cx="3661836" cy="64355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14:m>
                        <m:oMathPara xmlns:m="http://schemas.openxmlformats.org/officeDocument/2006/math">
                          <m:oMathParaPr>
                            <m:jc m:val="centerGroup"/>
                          </m:oMathParaPr>
                          <m:oMath xmlns:m="http://schemas.openxmlformats.org/officeDocument/2006/math">
                            <m:acc>
                              <m:accPr>
                                <m:chr m:val="̇"/>
                                <m:ctrlPr>
                                  <a:rPr lang="it-IT" sz="1600" i="1" smtClean="0">
                                    <a:latin typeface="Cambria Math" panose="02040503050406030204" pitchFamily="18" charset="0"/>
                                  </a:rPr>
                                </m:ctrlPr>
                              </m:accPr>
                              <m:e>
                                <m:acc>
                                  <m:accPr>
                                    <m:chr m:val="̃"/>
                                    <m:ctrlPr>
                                      <a:rPr lang="it-IT" sz="1600" i="1">
                                        <a:latin typeface="Cambria Math" panose="02040503050406030204" pitchFamily="18" charset="0"/>
                                      </a:rPr>
                                    </m:ctrlPr>
                                  </m:accPr>
                                  <m:e>
                                    <m:r>
                                      <a:rPr lang="it-IT" sz="1600" i="1">
                                        <a:latin typeface="Cambria Math"/>
                                      </a:rPr>
                                      <m:t>𝑥</m:t>
                                    </m:r>
                                  </m:e>
                                </m:acc>
                              </m:e>
                            </m:acc>
                            <m:d>
                              <m:dPr>
                                <m:ctrlPr>
                                  <a:rPr lang="it-IT" sz="1600" i="1">
                                    <a:latin typeface="Cambria Math" panose="02040503050406030204" pitchFamily="18" charset="0"/>
                                  </a:rPr>
                                </m:ctrlPr>
                              </m:dPr>
                              <m:e>
                                <m:r>
                                  <a:rPr lang="it-IT" sz="1600" i="1">
                                    <a:latin typeface="Cambria Math"/>
                                  </a:rPr>
                                  <m:t>𝑡</m:t>
                                </m:r>
                              </m:e>
                            </m:d>
                            <m:r>
                              <a:rPr lang="it-IT" sz="1600" i="1">
                                <a:latin typeface="Cambria Math"/>
                              </a:rPr>
                              <m:t>=</m:t>
                            </m:r>
                            <m:r>
                              <a:rPr lang="it-IT" sz="1600" i="1">
                                <a:latin typeface="Cambria Math" panose="02040503050406030204" pitchFamily="18" charset="0"/>
                              </a:rPr>
                              <m:t>(</m:t>
                            </m:r>
                            <m:r>
                              <a:rPr lang="it-IT" sz="1600" i="1">
                                <a:latin typeface="Cambria Math"/>
                              </a:rPr>
                              <m:t>𝐴</m:t>
                            </m:r>
                            <m:r>
                              <a:rPr lang="it-IT" sz="1600" i="1">
                                <a:latin typeface="Cambria Math" panose="02040503050406030204" pitchFamily="18" charset="0"/>
                              </a:rPr>
                              <m:t>+</m:t>
                            </m:r>
                            <m:r>
                              <a:rPr lang="it-IT" sz="1600" i="1">
                                <a:latin typeface="Cambria Math" panose="02040503050406030204" pitchFamily="18" charset="0"/>
                              </a:rPr>
                              <m:t>𝐵𝐾</m:t>
                            </m:r>
                            <m:r>
                              <a:rPr lang="it-IT" sz="1600" b="0" i="1">
                                <a:latin typeface="Cambria Math" panose="02040503050406030204" pitchFamily="18" charset="0"/>
                              </a:rPr>
                              <m:t>−</m:t>
                            </m:r>
                            <m:r>
                              <a:rPr lang="it-IT" sz="1600" b="0" i="1">
                                <a:latin typeface="Cambria Math" panose="02040503050406030204" pitchFamily="18" charset="0"/>
                              </a:rPr>
                              <m:t>𝐺𝐶</m:t>
                            </m:r>
                            <m:r>
                              <a:rPr lang="it-IT" sz="1600" b="0" i="1">
                                <a:latin typeface="Cambria Math" panose="02040503050406030204" pitchFamily="18" charset="0"/>
                              </a:rPr>
                              <m:t>)</m:t>
                            </m:r>
                            <m:acc>
                              <m:accPr>
                                <m:chr m:val="̃"/>
                                <m:ctrlPr>
                                  <a:rPr lang="it-IT" sz="1600" b="0" i="1">
                                    <a:latin typeface="Cambria Math" panose="02040503050406030204" pitchFamily="18" charset="0"/>
                                  </a:rPr>
                                </m:ctrlPr>
                              </m:accPr>
                              <m:e>
                                <m:r>
                                  <a:rPr lang="it-IT" sz="1600" b="0" i="1">
                                    <a:latin typeface="Cambria Math"/>
                                  </a:rPr>
                                  <m:t>𝑥</m:t>
                                </m:r>
                              </m:e>
                            </m:acc>
                            <m:d>
                              <m:dPr>
                                <m:ctrlPr>
                                  <a:rPr lang="it-IT" sz="1600" b="0" i="1">
                                    <a:latin typeface="Cambria Math" panose="02040503050406030204" pitchFamily="18" charset="0"/>
                                  </a:rPr>
                                </m:ctrlPr>
                              </m:dPr>
                              <m:e>
                                <m:r>
                                  <a:rPr lang="it-IT" sz="1600" b="0" i="1">
                                    <a:latin typeface="Cambria Math"/>
                                  </a:rPr>
                                  <m:t>𝑡</m:t>
                                </m:r>
                              </m:e>
                            </m:d>
                            <m:r>
                              <m:rPr>
                                <m:nor/>
                              </m:rPr>
                              <a:rPr lang="it-IT" sz="1600" b="0" i="1">
                                <a:latin typeface="Cambria Math" panose="02040503050406030204" pitchFamily="18" charset="0"/>
                              </a:rPr>
                              <m:t>+</m:t>
                            </m:r>
                            <m:r>
                              <m:rPr>
                                <m:nor/>
                              </m:rPr>
                              <a:rPr lang="it-IT" sz="1600" b="0" i="1">
                                <a:latin typeface="Cambria Math" panose="02040503050406030204" pitchFamily="18" charset="0"/>
                              </a:rPr>
                              <m:t>Gy</m:t>
                            </m:r>
                            <m:r>
                              <m:rPr>
                                <m:nor/>
                              </m:rPr>
                              <a:rPr lang="it-IT" sz="1600" b="0" i="1">
                                <a:latin typeface="Cambria Math" panose="02040503050406030204" pitchFamily="18" charset="0"/>
                              </a:rPr>
                              <m:t>(</m:t>
                            </m:r>
                            <m:r>
                              <m:rPr>
                                <m:nor/>
                              </m:rPr>
                              <a:rPr lang="it-IT" sz="1600" b="0" i="1">
                                <a:latin typeface="Cambria Math" panose="02040503050406030204" pitchFamily="18" charset="0"/>
                              </a:rPr>
                              <m:t>t</m:t>
                            </m:r>
                            <m:r>
                              <m:rPr>
                                <m:nor/>
                              </m:rPr>
                              <a:rPr lang="it-IT" sz="1600" b="0" i="1">
                                <a:latin typeface="Cambria Math" panose="02040503050406030204" pitchFamily="18" charset="0"/>
                              </a:rPr>
                              <m:t>)</m:t>
                            </m:r>
                          </m:oMath>
                        </m:oMathPara>
                      </a14:m>
                      <a:endParaRPr lang="it-IT" sz="1600" b="0" dirty="0"/>
                    </a:p>
                    <a:p>
                      <a:pPr algn="ctr"/>
                      <a14:m>
                        <m:oMath xmlns:m="http://schemas.openxmlformats.org/officeDocument/2006/math">
                          <m:r>
                            <a:rPr lang="it-IT" sz="1600" b="0" i="1" smtClean="0">
                              <a:latin typeface="Cambria Math" panose="02040503050406030204" pitchFamily="18" charset="0"/>
                            </a:rPr>
                            <m:t>𝑢</m:t>
                          </m:r>
                          <m:d>
                            <m:dPr>
                              <m:ctrlPr>
                                <a:rPr lang="it-IT" sz="1600" b="0" i="1">
                                  <a:latin typeface="Cambria Math" panose="02040503050406030204" pitchFamily="18" charset="0"/>
                                </a:rPr>
                              </m:ctrlPr>
                            </m:dPr>
                            <m:e>
                              <m:r>
                                <a:rPr lang="it-IT" sz="1600" b="0" i="1">
                                  <a:latin typeface="Cambria Math"/>
                                </a:rPr>
                                <m:t>𝑡</m:t>
                              </m:r>
                            </m:e>
                          </m:d>
                          <m:r>
                            <a:rPr lang="it-IT" sz="1600" b="0" i="1">
                              <a:latin typeface="Cambria Math"/>
                            </a:rPr>
                            <m:t>=</m:t>
                          </m:r>
                          <m:r>
                            <a:rPr lang="it-IT" sz="1600" b="0" i="1" smtClean="0">
                              <a:latin typeface="Cambria Math" panose="02040503050406030204" pitchFamily="18" charset="0"/>
                            </a:rPr>
                            <m:t>𝐾</m:t>
                          </m:r>
                          <m:acc>
                            <m:accPr>
                              <m:chr m:val="̃"/>
                              <m:ctrlPr>
                                <a:rPr lang="it-IT" sz="1600" b="0" i="1" smtClean="0">
                                  <a:latin typeface="Cambria Math" panose="02040503050406030204" pitchFamily="18" charset="0"/>
                                </a:rPr>
                              </m:ctrlPr>
                            </m:accPr>
                            <m:e>
                              <m:r>
                                <a:rPr lang="it-IT" sz="1600" b="0" i="1">
                                  <a:latin typeface="Cambria Math"/>
                                </a:rPr>
                                <m:t>𝑥</m:t>
                              </m:r>
                            </m:e>
                          </m:acc>
                          <m:d>
                            <m:dPr>
                              <m:ctrlPr>
                                <a:rPr lang="it-IT" sz="1600" b="0" i="1">
                                  <a:latin typeface="Cambria Math" panose="02040503050406030204" pitchFamily="18" charset="0"/>
                                </a:rPr>
                              </m:ctrlPr>
                            </m:dPr>
                            <m:e>
                              <m:r>
                                <a:rPr lang="it-IT" sz="1600" b="0" i="1">
                                  <a:latin typeface="Cambria Math"/>
                                </a:rPr>
                                <m:t>𝑡</m:t>
                              </m:r>
                            </m:e>
                          </m:d>
                          <m:r>
                            <a:rPr lang="it-IT" sz="1600" b="0" i="1" smtClean="0">
                              <a:latin typeface="Cambria Math" panose="02040503050406030204" pitchFamily="18" charset="0"/>
                            </a:rPr>
                            <m:t>                                         </m:t>
                          </m:r>
                        </m:oMath>
                      </a14:m>
                      <a:r>
                        <a:rPr lang="it-IT" sz="1600" b="0" dirty="0"/>
                        <a:t> </a:t>
                      </a:r>
                    </a:p>
                    <a:p>
                      <a:pPr algn="ctr"/>
                      <a:endParaRPr kumimoji="0" lang="it-IT" sz="1600" b="0" i="0" u="none" strike="noStrike" cap="none" normalizeH="0" baseline="0" dirty="0">
                        <a:ln>
                          <a:noFill/>
                        </a:ln>
                        <a:solidFill>
                          <a:schemeClr val="tx1"/>
                        </a:solidFill>
                        <a:effectLst/>
                      </a:endParaRPr>
                    </a:p>
                  </p:txBody>
                </p:sp>
              </mc:Choice>
              <mc:Fallback xmlns="">
                <p:sp>
                  <p:nvSpPr>
                    <p:cNvPr id="30" name="Rettangolo 29">
                      <a:extLst>
                        <a:ext uri="{FF2B5EF4-FFF2-40B4-BE49-F238E27FC236}">
                          <a16:creationId xmlns:a16="http://schemas.microsoft.com/office/drawing/2014/main" id="{050B66F0-EFCA-B248-BA98-C1E12386569D}"/>
                        </a:ext>
                      </a:extLst>
                    </p:cNvPr>
                    <p:cNvSpPr>
                      <a:spLocks noRot="1" noChangeAspect="1" noMove="1" noResize="1" noEditPoints="1" noAdjustHandles="1" noChangeArrowheads="1" noChangeShapeType="1" noTextEdit="1"/>
                    </p:cNvSpPr>
                    <p:nvPr/>
                  </p:nvSpPr>
                  <p:spPr bwMode="auto">
                    <a:xfrm>
                      <a:off x="3106412" y="6280037"/>
                      <a:ext cx="3661836" cy="643557"/>
                    </a:xfrm>
                    <a:prstGeom prst="rect">
                      <a:avLst/>
                    </a:prstGeom>
                    <a:blipFill>
                      <a:blip r:embed="rId7"/>
                      <a:stretch>
                        <a:fillRect/>
                      </a:stretch>
                    </a:blipFill>
                    <a:ln w="9525" cap="flat" cmpd="sng" algn="ctr">
                      <a:solidFill>
                        <a:schemeClr val="tx1"/>
                      </a:solidFill>
                      <a:prstDash val="solid"/>
                      <a:round/>
                      <a:headEnd type="none" w="med" len="med"/>
                      <a:tailEnd type="none" w="med" len="med"/>
                    </a:ln>
                    <a:effectLst/>
                  </p:spPr>
                  <p:txBody>
                    <a:bodyPr/>
                    <a:lstStyle/>
                    <a:p>
                      <a:r>
                        <a:rPr lang="it-IT">
                          <a:noFill/>
                        </a:rPr>
                        <a:t> </a:t>
                      </a:r>
                    </a:p>
                  </p:txBody>
                </p:sp>
              </mc:Fallback>
            </mc:AlternateContent>
          </p:grpSp>
          <p:cxnSp>
            <p:nvCxnSpPr>
              <p:cNvPr id="16" name="Connettore 2 15">
                <a:extLst>
                  <a:ext uri="{FF2B5EF4-FFF2-40B4-BE49-F238E27FC236}">
                    <a16:creationId xmlns:a16="http://schemas.microsoft.com/office/drawing/2014/main" id="{250E43D5-8054-8745-8018-06C0474ADD02}"/>
                  </a:ext>
                </a:extLst>
              </p:cNvPr>
              <p:cNvCxnSpPr>
                <a:cxnSpLocks/>
                <a:endCxn id="25" idx="1"/>
              </p:cNvCxnSpPr>
              <p:nvPr/>
            </p:nvCxnSpPr>
            <p:spPr bwMode="auto">
              <a:xfrm>
                <a:off x="1676824" y="2711947"/>
                <a:ext cx="318653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 name="Connettore 2 17">
                <a:extLst>
                  <a:ext uri="{FF2B5EF4-FFF2-40B4-BE49-F238E27FC236}">
                    <a16:creationId xmlns:a16="http://schemas.microsoft.com/office/drawing/2014/main" id="{063B5A8F-CBAD-1B4D-98F8-84FBFBE2BFD1}"/>
                  </a:ext>
                </a:extLst>
              </p:cNvPr>
              <p:cNvCxnSpPr>
                <a:cxnSpLocks/>
              </p:cNvCxnSpPr>
              <p:nvPr/>
            </p:nvCxnSpPr>
            <p:spPr bwMode="auto">
              <a:xfrm>
                <a:off x="3106412" y="3717032"/>
                <a:ext cx="28803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Connettore 1 18">
                <a:extLst>
                  <a:ext uri="{FF2B5EF4-FFF2-40B4-BE49-F238E27FC236}">
                    <a16:creationId xmlns:a16="http://schemas.microsoft.com/office/drawing/2014/main" id="{E1DACD4A-AE24-D942-8C4A-52951A5A5841}"/>
                  </a:ext>
                </a:extLst>
              </p:cNvPr>
              <p:cNvCxnSpPr/>
              <p:nvPr/>
            </p:nvCxnSpPr>
            <p:spPr bwMode="auto">
              <a:xfrm flipV="1">
                <a:off x="3106412" y="3284984"/>
                <a:ext cx="0" cy="43204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Connettore 1 19">
                <a:extLst>
                  <a:ext uri="{FF2B5EF4-FFF2-40B4-BE49-F238E27FC236}">
                    <a16:creationId xmlns:a16="http://schemas.microsoft.com/office/drawing/2014/main" id="{82818A41-F6A8-AB4B-96CB-0A6774CCCBE7}"/>
                  </a:ext>
                </a:extLst>
              </p:cNvPr>
              <p:cNvCxnSpPr>
                <a:cxnSpLocks/>
              </p:cNvCxnSpPr>
              <p:nvPr/>
            </p:nvCxnSpPr>
            <p:spPr bwMode="auto">
              <a:xfrm flipH="1" flipV="1">
                <a:off x="3106412" y="3284984"/>
                <a:ext cx="4366375" cy="659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Connettore 1 20">
                <a:extLst>
                  <a:ext uri="{FF2B5EF4-FFF2-40B4-BE49-F238E27FC236}">
                    <a16:creationId xmlns:a16="http://schemas.microsoft.com/office/drawing/2014/main" id="{E45E31A5-E333-2241-9AFB-65634571F0CE}"/>
                  </a:ext>
                </a:extLst>
              </p:cNvPr>
              <p:cNvCxnSpPr>
                <a:cxnSpLocks/>
              </p:cNvCxnSpPr>
              <p:nvPr/>
            </p:nvCxnSpPr>
            <p:spPr bwMode="auto">
              <a:xfrm flipV="1">
                <a:off x="7472787" y="2687660"/>
                <a:ext cx="0" cy="60391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Connettore 2 22">
                <a:extLst>
                  <a:ext uri="{FF2B5EF4-FFF2-40B4-BE49-F238E27FC236}">
                    <a16:creationId xmlns:a16="http://schemas.microsoft.com/office/drawing/2014/main" id="{4A0A06A7-BD44-B64F-9E8C-BA3835EBA38E}"/>
                  </a:ext>
                </a:extLst>
              </p:cNvPr>
              <p:cNvCxnSpPr>
                <a:cxnSpLocks/>
              </p:cNvCxnSpPr>
              <p:nvPr/>
            </p:nvCxnSpPr>
            <p:spPr bwMode="auto">
              <a:xfrm>
                <a:off x="7056282" y="3852685"/>
                <a:ext cx="151216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4" name="Rettangolo 23">
                    <a:extLst>
                      <a:ext uri="{FF2B5EF4-FFF2-40B4-BE49-F238E27FC236}">
                        <a16:creationId xmlns:a16="http://schemas.microsoft.com/office/drawing/2014/main" id="{02DC3BBE-3124-F74C-BD09-E6EA46DFC721}"/>
                      </a:ext>
                    </a:extLst>
                  </p:cNvPr>
                  <p:cNvSpPr/>
                  <p:nvPr/>
                </p:nvSpPr>
                <p:spPr>
                  <a:xfrm>
                    <a:off x="7522704" y="3341609"/>
                    <a:ext cx="84516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𝑢</m:t>
                          </m:r>
                          <m:d>
                            <m:dPr>
                              <m:ctrlPr>
                                <a:rPr lang="it-IT" i="1">
                                  <a:latin typeface="Cambria Math" panose="02040503050406030204" pitchFamily="18" charset="0"/>
                                </a:rPr>
                              </m:ctrlPr>
                            </m:dPr>
                            <m:e>
                              <m:r>
                                <a:rPr lang="it-IT" i="1">
                                  <a:latin typeface="Cambria Math"/>
                                </a:rPr>
                                <m:t>𝑡</m:t>
                              </m:r>
                            </m:e>
                          </m:d>
                        </m:oMath>
                      </m:oMathPara>
                    </a14:m>
                    <a:endParaRPr lang="it-IT" i="1" dirty="0"/>
                  </a:p>
                </p:txBody>
              </p:sp>
            </mc:Choice>
            <mc:Fallback xmlns="">
              <p:sp>
                <p:nvSpPr>
                  <p:cNvPr id="24" name="Rettangolo 23">
                    <a:extLst>
                      <a:ext uri="{FF2B5EF4-FFF2-40B4-BE49-F238E27FC236}">
                        <a16:creationId xmlns:a16="http://schemas.microsoft.com/office/drawing/2014/main" id="{02DC3BBE-3124-F74C-BD09-E6EA46DFC721}"/>
                      </a:ext>
                    </a:extLst>
                  </p:cNvPr>
                  <p:cNvSpPr>
                    <a:spLocks noRot="1" noChangeAspect="1" noMove="1" noResize="1" noEditPoints="1" noAdjustHandles="1" noChangeArrowheads="1" noChangeShapeType="1" noTextEdit="1"/>
                  </p:cNvSpPr>
                  <p:nvPr/>
                </p:nvSpPr>
                <p:spPr>
                  <a:xfrm>
                    <a:off x="7522704" y="3341609"/>
                    <a:ext cx="845168" cy="461665"/>
                  </a:xfrm>
                  <a:prstGeom prst="rect">
                    <a:avLst/>
                  </a:prstGeom>
                  <a:blipFill>
                    <a:blip r:embed="rId8"/>
                    <a:stretch>
                      <a:fillRect/>
                    </a:stretch>
                  </a:blipFill>
                </p:spPr>
                <p:txBody>
                  <a:bodyPr/>
                  <a:lstStyle/>
                  <a:p>
                    <a:r>
                      <a:rPr lang="it-IT">
                        <a:noFill/>
                      </a:rPr>
                      <a:t> </a:t>
                    </a:r>
                  </a:p>
                </p:txBody>
              </p:sp>
            </mc:Fallback>
          </mc:AlternateContent>
        </p:grpSp>
        <p:grpSp>
          <p:nvGrpSpPr>
            <p:cNvPr id="9" name="Gruppo 8">
              <a:extLst>
                <a:ext uri="{FF2B5EF4-FFF2-40B4-BE49-F238E27FC236}">
                  <a16:creationId xmlns:a16="http://schemas.microsoft.com/office/drawing/2014/main" id="{E49A2BBE-E466-794A-B5CC-4A5509DD6995}"/>
                </a:ext>
              </a:extLst>
            </p:cNvPr>
            <p:cNvGrpSpPr/>
            <p:nvPr/>
          </p:nvGrpSpPr>
          <p:grpSpPr>
            <a:xfrm>
              <a:off x="539552" y="4483627"/>
              <a:ext cx="5795961" cy="1825694"/>
              <a:chOff x="539552" y="4483627"/>
              <a:chExt cx="5795961" cy="1825694"/>
            </a:xfrm>
          </p:grpSpPr>
          <p:cxnSp>
            <p:nvCxnSpPr>
              <p:cNvPr id="11" name="Connettore 1 10">
                <a:extLst>
                  <a:ext uri="{FF2B5EF4-FFF2-40B4-BE49-F238E27FC236}">
                    <a16:creationId xmlns:a16="http://schemas.microsoft.com/office/drawing/2014/main" id="{64A08E78-9C0F-BF44-A092-5D4D31E9E61D}"/>
                  </a:ext>
                </a:extLst>
              </p:cNvPr>
              <p:cNvCxnSpPr>
                <a:cxnSpLocks/>
              </p:cNvCxnSpPr>
              <p:nvPr/>
            </p:nvCxnSpPr>
            <p:spPr bwMode="auto">
              <a:xfrm>
                <a:off x="6335513" y="5648653"/>
                <a:ext cx="0" cy="66066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Connettore 1 11">
                <a:extLst>
                  <a:ext uri="{FF2B5EF4-FFF2-40B4-BE49-F238E27FC236}">
                    <a16:creationId xmlns:a16="http://schemas.microsoft.com/office/drawing/2014/main" id="{8EC3DE71-BC20-D146-9A5E-0DA783239787}"/>
                  </a:ext>
                </a:extLst>
              </p:cNvPr>
              <p:cNvCxnSpPr>
                <a:cxnSpLocks/>
              </p:cNvCxnSpPr>
              <p:nvPr/>
            </p:nvCxnSpPr>
            <p:spPr bwMode="auto">
              <a:xfrm flipH="1">
                <a:off x="539552" y="6309320"/>
                <a:ext cx="579596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Connettore 1 12">
                <a:extLst>
                  <a:ext uri="{FF2B5EF4-FFF2-40B4-BE49-F238E27FC236}">
                    <a16:creationId xmlns:a16="http://schemas.microsoft.com/office/drawing/2014/main" id="{EC213829-C7AC-214F-A76E-3459F1214272}"/>
                  </a:ext>
                </a:extLst>
              </p:cNvPr>
              <p:cNvCxnSpPr>
                <a:cxnSpLocks/>
              </p:cNvCxnSpPr>
              <p:nvPr/>
            </p:nvCxnSpPr>
            <p:spPr bwMode="auto">
              <a:xfrm flipV="1">
                <a:off x="539552" y="4483627"/>
                <a:ext cx="0" cy="1825694"/>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spTree>
    <p:extLst>
      <p:ext uri="{BB962C8B-B14F-4D97-AF65-F5344CB8AC3E}">
        <p14:creationId xmlns:p14="http://schemas.microsoft.com/office/powerpoint/2010/main" val="2234432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Principio di separazione</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pPr algn="just"/>
                <a:r>
                  <a:rPr lang="it-IT" dirty="0"/>
                  <a:t>Le dinamiche del sistema a ciclo chiuso risultano:</a:t>
                </a:r>
              </a:p>
              <a:p>
                <a:pPr marL="0" indent="0" algn="just">
                  <a:buNone/>
                </a:pPr>
                <a14:m>
                  <m:oMathPara xmlns:m="http://schemas.openxmlformats.org/officeDocument/2006/math">
                    <m:oMathParaPr>
                      <m:jc m:val="centerGroup"/>
                    </m:oMathParaPr>
                    <m:oMath xmlns:m="http://schemas.openxmlformats.org/officeDocument/2006/math">
                      <m:d>
                        <m:dPr>
                          <m:begChr m:val="{"/>
                          <m:endChr m:val=""/>
                          <m:ctrlPr>
                            <a:rPr lang="it-IT" i="1" smtClean="0">
                              <a:latin typeface="Cambria Math" panose="02040503050406030204" pitchFamily="18" charset="0"/>
                            </a:rPr>
                          </m:ctrlPr>
                        </m:dPr>
                        <m:e>
                          <m:m>
                            <m:mPr>
                              <m:mcs>
                                <m:mc>
                                  <m:mcPr>
                                    <m:count m:val="1"/>
                                    <m:mcJc m:val="center"/>
                                  </m:mcPr>
                                </m:mc>
                              </m:mcs>
                              <m:ctrlPr>
                                <a:rPr lang="it-IT" i="1" smtClean="0">
                                  <a:latin typeface="Cambria Math" panose="02040503050406030204" pitchFamily="18" charset="0"/>
                                </a:rPr>
                              </m:ctrlPr>
                            </m:mPr>
                            <m:mr>
                              <m:e>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a:rPr lang="it-IT" i="1">
                                    <a:latin typeface="Cambria Math"/>
                                  </a:rPr>
                                  <m:t>= </m:t>
                                </m:r>
                                <m:r>
                                  <a:rPr lang="it-IT" i="1">
                                    <a:latin typeface="Cambria Math"/>
                                  </a:rPr>
                                  <m:t>𝐴𝑥</m:t>
                                </m:r>
                                <m:d>
                                  <m:dPr>
                                    <m:ctrlPr>
                                      <a:rPr lang="it-IT" i="1">
                                        <a:latin typeface="Cambria Math" panose="02040503050406030204" pitchFamily="18" charset="0"/>
                                      </a:rPr>
                                    </m:ctrlPr>
                                  </m:dPr>
                                  <m:e>
                                    <m:r>
                                      <a:rPr lang="it-IT" i="1">
                                        <a:latin typeface="Cambria Math"/>
                                      </a:rPr>
                                      <m:t>𝑡</m:t>
                                    </m:r>
                                  </m:e>
                                </m:d>
                                <m:r>
                                  <a:rPr lang="it-IT" i="1">
                                    <a:latin typeface="Cambria Math"/>
                                  </a:rPr>
                                  <m:t>+</m:t>
                                </m:r>
                                <m:r>
                                  <a:rPr lang="it-IT" i="1">
                                    <a:latin typeface="Cambria Math"/>
                                  </a:rPr>
                                  <m:t>𝐵𝐾</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m:rPr>
                                    <m:nor/>
                                  </m:rPr>
                                  <a:rPr lang="it-IT" dirty="0"/>
                                  <m:t> </m:t>
                                </m:r>
                                <m:r>
                                  <m:rPr>
                                    <m:nor/>
                                  </m:rPr>
                                  <a:rPr lang="it-IT" b="0" i="0" dirty="0" smtClean="0"/>
                                  <m:t>                      </m:t>
                                </m:r>
                                <m:r>
                                  <m:rPr>
                                    <m:nor/>
                                  </m:rPr>
                                  <a:rPr lang="it-IT" dirty="0"/>
                                  <m:t> </m:t>
                                </m:r>
                              </m:e>
                            </m:mr>
                            <m:mr>
                              <m:e>
                                <m:acc>
                                  <m:accPr>
                                    <m:chr m:val="̇"/>
                                    <m:ctrlPr>
                                      <a:rPr lang="it-IT" i="1">
                                        <a:latin typeface="Cambria Math" panose="02040503050406030204" pitchFamily="18" charset="0"/>
                                      </a:rPr>
                                    </m:ctrlPr>
                                  </m:accPr>
                                  <m:e>
                                    <m:acc>
                                      <m:accPr>
                                        <m:chr m:val="̃"/>
                                        <m:ctrlPr>
                                          <a:rPr lang="it-IT" i="1">
                                            <a:latin typeface="Cambria Math" panose="02040503050406030204" pitchFamily="18" charset="0"/>
                                          </a:rPr>
                                        </m:ctrlPr>
                                      </m:accPr>
                                      <m:e>
                                        <m:r>
                                          <a:rPr lang="it-IT" i="1">
                                            <a:latin typeface="Cambria Math"/>
                                          </a:rPr>
                                          <m:t>𝑥</m:t>
                                        </m:r>
                                      </m:e>
                                    </m:acc>
                                  </m:e>
                                </m:acc>
                                <m:d>
                                  <m:dPr>
                                    <m:ctrlPr>
                                      <a:rPr lang="it-IT" i="1">
                                        <a:latin typeface="Cambria Math" panose="02040503050406030204" pitchFamily="18" charset="0"/>
                                      </a:rPr>
                                    </m:ctrlPr>
                                  </m:dPr>
                                  <m:e>
                                    <m:r>
                                      <a:rPr lang="it-IT" i="1">
                                        <a:latin typeface="Cambria Math"/>
                                      </a:rPr>
                                      <m:t>𝑡</m:t>
                                    </m:r>
                                  </m:e>
                                </m:d>
                                <m:r>
                                  <a:rPr lang="it-IT" i="1">
                                    <a:latin typeface="Cambria Math" panose="02040503050406030204" pitchFamily="18" charset="0"/>
                                  </a:rPr>
                                  <m:t>=(</m:t>
                                </m:r>
                                <m:r>
                                  <a:rPr lang="it-IT" i="1">
                                    <a:latin typeface="Cambria Math"/>
                                  </a:rPr>
                                  <m:t>𝐴</m:t>
                                </m:r>
                                <m:r>
                                  <a:rPr lang="it-IT" i="1">
                                    <a:latin typeface="Cambria Math" panose="02040503050406030204" pitchFamily="18" charset="0"/>
                                  </a:rPr>
                                  <m:t>+</m:t>
                                </m:r>
                                <m:r>
                                  <a:rPr lang="it-IT" i="1">
                                    <a:latin typeface="Cambria Math" panose="02040503050406030204" pitchFamily="18" charset="0"/>
                                  </a:rPr>
                                  <m:t>𝐵𝐾</m:t>
                                </m:r>
                                <m:r>
                                  <a:rPr lang="it-IT" i="1">
                                    <a:latin typeface="Cambria Math" panose="02040503050406030204" pitchFamily="18" charset="0"/>
                                  </a:rPr>
                                  <m:t>−</m:t>
                                </m:r>
                                <m:r>
                                  <a:rPr lang="it-IT" i="1">
                                    <a:latin typeface="Cambria Math" panose="02040503050406030204" pitchFamily="18" charset="0"/>
                                  </a:rPr>
                                  <m:t>𝐺𝐶</m:t>
                                </m:r>
                                <m:r>
                                  <a:rPr lang="it-IT" i="1">
                                    <a:latin typeface="Cambria Math" panose="02040503050406030204" pitchFamily="18" charset="0"/>
                                  </a:rPr>
                                  <m:t>)</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m:rPr>
                                    <m:nor/>
                                  </m:rPr>
                                  <a:rPr lang="it-IT" i="1">
                                    <a:latin typeface="Cambria Math" panose="02040503050406030204" pitchFamily="18" charset="0"/>
                                  </a:rPr>
                                  <m:t>+</m:t>
                                </m:r>
                                <m:r>
                                  <m:rPr>
                                    <m:nor/>
                                  </m:rPr>
                                  <a:rPr lang="it-IT" i="1">
                                    <a:latin typeface="Cambria Math" panose="02040503050406030204" pitchFamily="18" charset="0"/>
                                  </a:rPr>
                                  <m:t>GC</m:t>
                                </m:r>
                                <m:r>
                                  <a:rPr lang="it-IT" i="1">
                                    <a:latin typeface="Cambria Math"/>
                                  </a:rPr>
                                  <m:t>𝑥</m:t>
                                </m:r>
                                <m:r>
                                  <m:rPr>
                                    <m:nor/>
                                  </m:rPr>
                                  <a:rPr lang="it-IT" i="1">
                                    <a:latin typeface="Cambria Math" panose="02040503050406030204" pitchFamily="18" charset="0"/>
                                  </a:rPr>
                                  <m:t>(</m:t>
                                </m:r>
                                <m:r>
                                  <m:rPr>
                                    <m:nor/>
                                  </m:rPr>
                                  <a:rPr lang="it-IT" i="1">
                                    <a:latin typeface="Cambria Math" panose="02040503050406030204" pitchFamily="18" charset="0"/>
                                  </a:rPr>
                                  <m:t>t</m:t>
                                </m:r>
                                <m:r>
                                  <m:rPr>
                                    <m:nor/>
                                  </m:rPr>
                                  <a:rPr lang="it-IT" i="1">
                                    <a:latin typeface="Cambria Math" panose="02040503050406030204" pitchFamily="18" charset="0"/>
                                  </a:rPr>
                                  <m:t>)</m:t>
                                </m:r>
                                <m:r>
                                  <m:rPr>
                                    <m:nor/>
                                  </m:rPr>
                                  <a:rPr lang="it-IT" dirty="0"/>
                                  <m:t> </m:t>
                                </m:r>
                                <m:r>
                                  <m:rPr>
                                    <m:nor/>
                                  </m:rPr>
                                  <a:rPr lang="it-IT" b="0" i="0" dirty="0" smtClean="0"/>
                                  <m:t>   </m:t>
                                </m:r>
                                <m:r>
                                  <m:rPr>
                                    <m:nor/>
                                  </m:rPr>
                                  <a:rPr lang="it-IT" dirty="0"/>
                                  <m:t> </m:t>
                                </m:r>
                              </m:e>
                            </m:mr>
                          </m:m>
                        </m:e>
                      </m:d>
                    </m:oMath>
                  </m:oMathPara>
                </a14:m>
                <a:endParaRPr lang="it-IT" dirty="0"/>
              </a:p>
              <a:p>
                <a:pPr algn="just"/>
                <a:r>
                  <a:rPr lang="it-IT" dirty="0"/>
                  <a:t>La matrice dinamica del sistema a ciclo chiuso è  </a:t>
                </a:r>
              </a:p>
              <a:p>
                <a:pPr marL="0" indent="0" algn="ctr">
                  <a:buNone/>
                </a:pPr>
                <a:r>
                  <a:rPr lang="it-IT" dirty="0"/>
                  <a:t>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𝐴</m:t>
                        </m:r>
                      </m:e>
                      <m:sub>
                        <m:r>
                          <a:rPr lang="it-IT" b="0" i="1" smtClean="0">
                            <a:latin typeface="Cambria Math" panose="02040503050406030204" pitchFamily="18" charset="0"/>
                          </a:rPr>
                          <m:t>𝐶𝐶</m:t>
                        </m:r>
                      </m:sub>
                    </m:sSub>
                    <m:r>
                      <a:rPr lang="it-IT" b="0" i="1" smtClean="0">
                        <a:latin typeface="Cambria Math" panose="02040503050406030204" pitchFamily="18" charset="0"/>
                      </a:rPr>
                      <m:t>=</m:t>
                    </m:r>
                    <m:d>
                      <m:dPr>
                        <m:ctrlPr>
                          <a:rPr lang="it-IT" i="1" smtClean="0">
                            <a:latin typeface="Cambria Math" panose="02040503050406030204" pitchFamily="18" charset="0"/>
                          </a:rPr>
                        </m:ctrlPr>
                      </m:dPr>
                      <m:e>
                        <m:m>
                          <m:mPr>
                            <m:mcs>
                              <m:mc>
                                <m:mcPr>
                                  <m:count m:val="2"/>
                                  <m:mcJc m:val="center"/>
                                </m:mcPr>
                              </m:mc>
                            </m:mcs>
                            <m:ctrlPr>
                              <a:rPr lang="it-IT" i="1" smtClean="0">
                                <a:latin typeface="Cambria Math" panose="02040503050406030204" pitchFamily="18" charset="0"/>
                              </a:rPr>
                            </m:ctrlPr>
                          </m:mPr>
                          <m:mr>
                            <m:e>
                              <m:r>
                                <m:rPr>
                                  <m:brk m:alnAt="7"/>
                                </m:rPr>
                                <a:rPr lang="it-IT" b="0" i="1" smtClean="0">
                                  <a:latin typeface="Cambria Math" panose="02040503050406030204" pitchFamily="18" charset="0"/>
                                </a:rPr>
                                <m:t>𝐴</m:t>
                              </m:r>
                            </m:e>
                            <m:e>
                              <m:r>
                                <a:rPr lang="it-IT" b="0" i="1" smtClean="0">
                                  <a:latin typeface="Cambria Math" panose="02040503050406030204" pitchFamily="18" charset="0"/>
                                </a:rPr>
                                <m:t>𝐵𝐾</m:t>
                              </m:r>
                            </m:e>
                          </m:mr>
                          <m:mr>
                            <m:e>
                              <m:r>
                                <a:rPr lang="it-IT" i="1">
                                  <a:latin typeface="Cambria Math" panose="02040503050406030204" pitchFamily="18" charset="0"/>
                                </a:rPr>
                                <m:t>𝐺𝐶</m:t>
                              </m:r>
                            </m:e>
                            <m:e>
                              <m:r>
                                <a:rPr lang="it-IT" i="1">
                                  <a:latin typeface="Cambria Math"/>
                                </a:rPr>
                                <m:t>𝐴</m:t>
                              </m:r>
                              <m:r>
                                <a:rPr lang="it-IT" i="1">
                                  <a:latin typeface="Cambria Math" panose="02040503050406030204" pitchFamily="18" charset="0"/>
                                </a:rPr>
                                <m:t>+</m:t>
                              </m:r>
                              <m:r>
                                <a:rPr lang="it-IT" i="1">
                                  <a:latin typeface="Cambria Math" panose="02040503050406030204" pitchFamily="18" charset="0"/>
                                </a:rPr>
                                <m:t>𝐵𝐾</m:t>
                              </m:r>
                              <m:r>
                                <a:rPr lang="it-IT" i="1">
                                  <a:latin typeface="Cambria Math" panose="02040503050406030204" pitchFamily="18" charset="0"/>
                                </a:rPr>
                                <m:t>−</m:t>
                              </m:r>
                              <m:r>
                                <a:rPr lang="it-IT" i="1">
                                  <a:latin typeface="Cambria Math" panose="02040503050406030204" pitchFamily="18" charset="0"/>
                                </a:rPr>
                                <m:t>𝐺𝐶</m:t>
                              </m:r>
                            </m:e>
                          </m:mr>
                        </m:m>
                      </m:e>
                    </m:d>
                  </m:oMath>
                </a14:m>
                <a:endParaRPr lang="it-IT" dirty="0"/>
              </a:p>
              <a:p>
                <a:pPr algn="just"/>
                <a:r>
                  <a:rPr lang="it-IT" dirty="0"/>
                  <a:t>Per il calcolo degli </a:t>
                </a:r>
                <a:r>
                  <a:rPr lang="it-IT" dirty="0" err="1"/>
                  <a:t>autovalori</a:t>
                </a:r>
                <a:r>
                  <a:rPr lang="it-IT" dirty="0"/>
                  <a:t> di questa matrice, effettuiamo un cambiamento di base, scegliendo come nuove variabili di stato </a:t>
                </a:r>
              </a:p>
              <a:p>
                <a:pPr algn="just"/>
                <a:endParaRPr lang="it-IT" dirty="0"/>
              </a:p>
              <a:p>
                <a:pPr marL="0" indent="0" algn="just">
                  <a:buNone/>
                </a:pPr>
                <a14:m>
                  <m:oMathPara xmlns:m="http://schemas.openxmlformats.org/officeDocument/2006/math">
                    <m:oMathParaPr>
                      <m:jc m:val="center"/>
                    </m:oMathParaPr>
                    <m:oMath xmlns:m="http://schemas.openxmlformats.org/officeDocument/2006/math">
                      <m:d>
                        <m:dPr>
                          <m:begChr m:val="["/>
                          <m:endChr m:val="]"/>
                          <m:ctrlPr>
                            <a:rPr lang="it-IT" i="1" smtClean="0">
                              <a:latin typeface="Cambria Math" panose="02040503050406030204" pitchFamily="18" charset="0"/>
                            </a:rPr>
                          </m:ctrlPr>
                        </m:dPr>
                        <m:e>
                          <m:m>
                            <m:mPr>
                              <m:mcs>
                                <m:mc>
                                  <m:mcPr>
                                    <m:count m:val="1"/>
                                    <m:mcJc m:val="center"/>
                                  </m:mcPr>
                                </m:mc>
                              </m:mcs>
                              <m:ctrlPr>
                                <a:rPr lang="it-IT" i="1" smtClean="0">
                                  <a:latin typeface="Cambria Math" panose="02040503050406030204" pitchFamily="18" charset="0"/>
                                </a:rPr>
                              </m:ctrlPr>
                            </m:mPr>
                            <m:mr>
                              <m:e>
                                <m:r>
                                  <m:rPr>
                                    <m:brk m:alnAt="7"/>
                                  </m:rPr>
                                  <a:rPr lang="it-IT" b="0" i="1" smtClean="0">
                                    <a:latin typeface="Cambria Math" panose="02040503050406030204" pitchFamily="18" charset="0"/>
                                  </a:rPr>
                                  <m:t>𝑥</m:t>
                                </m:r>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e>
                            </m:mr>
                            <m:mr>
                              <m:e>
                                <m:r>
                                  <a:rPr lang="it-IT" b="0" i="1" smtClean="0">
                                    <a:latin typeface="Cambria Math" panose="02040503050406030204" pitchFamily="18" charset="0"/>
                                  </a:rPr>
                                  <m:t>𝑒</m:t>
                                </m:r>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e>
                            </m:mr>
                          </m:m>
                        </m:e>
                      </m:d>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m>
                            <m:mPr>
                              <m:mcs>
                                <m:mc>
                                  <m:mcPr>
                                    <m:count m:val="2"/>
                                    <m:mcJc m:val="center"/>
                                  </m:mcPr>
                                </m:mc>
                              </m:mcs>
                              <m:ctrlPr>
                                <a:rPr lang="it-IT" b="0" i="1" smtClean="0">
                                  <a:latin typeface="Cambria Math" panose="02040503050406030204" pitchFamily="18" charset="0"/>
                                </a:rPr>
                              </m:ctrlPr>
                            </m:mPr>
                            <m:mr>
                              <m:e>
                                <m:r>
                                  <m:rPr>
                                    <m:sty m:val="p"/>
                                    <m:brk m:alnAt="7"/>
                                  </m:rPr>
                                  <a:rPr lang="it-IT" b="0" i="0" smtClean="0">
                                    <a:latin typeface="Cambria Math" panose="02040503050406030204" pitchFamily="18" charset="0"/>
                                  </a:rPr>
                                  <m:t>I</m:t>
                                </m:r>
                              </m:e>
                              <m:e>
                                <m:r>
                                  <a:rPr lang="it-IT" b="0" i="0" smtClean="0">
                                    <a:latin typeface="Cambria Math" panose="02040503050406030204" pitchFamily="18" charset="0"/>
                                  </a:rPr>
                                  <m:t>0</m:t>
                                </m:r>
                              </m:e>
                            </m:mr>
                            <m:mr>
                              <m:e>
                                <m:r>
                                  <m:rPr>
                                    <m:sty m:val="p"/>
                                  </m:rPr>
                                  <a:rPr lang="it-IT" b="0" i="0" smtClean="0">
                                    <a:latin typeface="Cambria Math" panose="02040503050406030204" pitchFamily="18" charset="0"/>
                                  </a:rPr>
                                  <m:t>I</m:t>
                                </m:r>
                              </m:e>
                              <m:e>
                                <m:r>
                                  <a:rPr lang="it-IT" b="0" i="0" smtClean="0">
                                    <a:latin typeface="Cambria Math" panose="02040503050406030204" pitchFamily="18" charset="0"/>
                                  </a:rPr>
                                  <m:t>−</m:t>
                                </m:r>
                                <m:r>
                                  <m:rPr>
                                    <m:sty m:val="p"/>
                                  </m:rPr>
                                  <a:rPr lang="it-IT" b="0" i="0" smtClean="0">
                                    <a:latin typeface="Cambria Math" panose="02040503050406030204" pitchFamily="18" charset="0"/>
                                  </a:rPr>
                                  <m:t>I</m:t>
                                </m:r>
                              </m:e>
                            </m:mr>
                          </m:m>
                        </m:e>
                      </m:d>
                      <m:d>
                        <m:dPr>
                          <m:begChr m:val="["/>
                          <m:endChr m:val="]"/>
                          <m:ctrlPr>
                            <a:rPr lang="it-IT" i="1">
                              <a:latin typeface="Cambria Math" panose="02040503050406030204" pitchFamily="18" charset="0"/>
                            </a:rPr>
                          </m:ctrlPr>
                        </m:dPr>
                        <m:e>
                          <m:m>
                            <m:mPr>
                              <m:mcs>
                                <m:mc>
                                  <m:mcPr>
                                    <m:count m:val="1"/>
                                    <m:mcJc m:val="center"/>
                                  </m:mcPr>
                                </m:mc>
                              </m:mcs>
                              <m:ctrlPr>
                                <a:rPr lang="it-IT" i="1">
                                  <a:latin typeface="Cambria Math" panose="02040503050406030204" pitchFamily="18" charset="0"/>
                                </a:rPr>
                              </m:ctrlPr>
                            </m:mPr>
                            <m:mr>
                              <m:e>
                                <m:r>
                                  <m:rPr>
                                    <m:brk m:alnAt="7"/>
                                  </m:rPr>
                                  <a:rPr lang="it-IT" b="0" i="1" smtClean="0">
                                    <a:latin typeface="Cambria Math" panose="02040503050406030204" pitchFamily="18" charset="0"/>
                                  </a:rPr>
                                  <m:t>𝑥</m:t>
                                </m:r>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e>
                            </m:mr>
                            <m:mr>
                              <m:e>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𝑥</m:t>
                                    </m:r>
                                  </m:e>
                                </m:acc>
                                <m:r>
                                  <a:rPr lang="it-IT" b="0" i="1" dirty="0" smtClean="0">
                                    <a:latin typeface="Cambria Math" panose="02040503050406030204" pitchFamily="18" charset="0"/>
                                  </a:rPr>
                                  <m:t>(</m:t>
                                </m:r>
                                <m:r>
                                  <a:rPr lang="it-IT" b="0" i="1" dirty="0" smtClean="0">
                                    <a:latin typeface="Cambria Math" panose="02040503050406030204" pitchFamily="18" charset="0"/>
                                  </a:rPr>
                                  <m:t>𝑡</m:t>
                                </m:r>
                                <m:r>
                                  <a:rPr lang="it-IT" b="0" i="1" dirty="0" smtClean="0">
                                    <a:latin typeface="Cambria Math" panose="02040503050406030204" pitchFamily="18" charset="0"/>
                                  </a:rPr>
                                  <m:t>)</m:t>
                                </m:r>
                              </m:e>
                            </m:mr>
                          </m:m>
                        </m:e>
                      </m:d>
                    </m:oMath>
                  </m:oMathPara>
                </a14:m>
                <a:endParaRPr lang="it-IT" dirty="0"/>
              </a:p>
              <a:p>
                <a:pPr marL="0" indent="0" algn="just">
                  <a:buNone/>
                </a:pPr>
                <a:endParaRPr lang="it-IT" dirty="0"/>
              </a:p>
              <a:p>
                <a:pPr algn="just"/>
                <a:endParaRPr lang="it-IT" dirty="0"/>
              </a:p>
              <a:p>
                <a:pPr algn="just"/>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3"/>
                <a:stretch>
                  <a:fillRect l="-433" t="-24208" r="-577"/>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14</a:t>
            </a:fld>
            <a:endParaRPr lang="en-US"/>
          </a:p>
        </p:txBody>
      </p:sp>
    </p:spTree>
    <p:extLst>
      <p:ext uri="{BB962C8B-B14F-4D97-AF65-F5344CB8AC3E}">
        <p14:creationId xmlns:p14="http://schemas.microsoft.com/office/powerpoint/2010/main" val="3586584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Principio di separazione</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pPr algn="just"/>
                <a:r>
                  <a:rPr lang="it-IT" dirty="0"/>
                  <a:t>Il calcolo delle nuove matrice del sistema viene svolto in modo costruttivo:</a:t>
                </a:r>
              </a:p>
              <a:p>
                <a:pPr marL="0" indent="0" algn="just">
                  <a:spcBef>
                    <a:spcPts val="600"/>
                  </a:spcBef>
                  <a:buNone/>
                </a:pPr>
                <a14:m>
                  <m:oMath xmlns:m="http://schemas.openxmlformats.org/officeDocument/2006/math">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a:rPr lang="it-IT" i="1">
                        <a:latin typeface="Cambria Math"/>
                      </a:rPr>
                      <m:t>= </m:t>
                    </m:r>
                    <m:r>
                      <a:rPr lang="it-IT" i="1">
                        <a:latin typeface="Cambria Math"/>
                      </a:rPr>
                      <m:t>𝐴𝑥</m:t>
                    </m:r>
                    <m:d>
                      <m:dPr>
                        <m:ctrlPr>
                          <a:rPr lang="it-IT" i="1">
                            <a:latin typeface="Cambria Math" panose="02040503050406030204" pitchFamily="18" charset="0"/>
                          </a:rPr>
                        </m:ctrlPr>
                      </m:dPr>
                      <m:e>
                        <m:r>
                          <a:rPr lang="it-IT" i="1">
                            <a:latin typeface="Cambria Math"/>
                          </a:rPr>
                          <m:t>𝑡</m:t>
                        </m:r>
                      </m:e>
                    </m:d>
                    <m:r>
                      <a:rPr lang="it-IT" i="1">
                        <a:latin typeface="Cambria Math"/>
                      </a:rPr>
                      <m:t>+</m:t>
                    </m:r>
                    <m:r>
                      <a:rPr lang="it-IT" i="1">
                        <a:latin typeface="Cambria Math"/>
                      </a:rPr>
                      <m:t>𝐵𝐾</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a:rPr lang="it-IT" b="0" i="1" smtClean="0">
                        <a:latin typeface="Cambria Math" panose="02040503050406030204" pitchFamily="18" charset="0"/>
                      </a:rPr>
                      <m:t>                </m:t>
                    </m:r>
                  </m:oMath>
                </a14:m>
                <a:r>
                  <a:rPr lang="it-IT" dirty="0"/>
                  <a:t>     </a:t>
                </a:r>
              </a:p>
              <a:p>
                <a:pPr marL="0" indent="0" algn="just">
                  <a:spcBef>
                    <a:spcPts val="600"/>
                  </a:spcBef>
                  <a:buNone/>
                </a:pPr>
                <a:r>
                  <a:rPr lang="it-IT" dirty="0"/>
                  <a:t>        </a:t>
                </a:r>
                <a14:m>
                  <m:oMath xmlns:m="http://schemas.openxmlformats.org/officeDocument/2006/math">
                    <m:r>
                      <a:rPr lang="it-IT" i="1">
                        <a:latin typeface="Cambria Math"/>
                      </a:rPr>
                      <m:t>= </m:t>
                    </m:r>
                    <m:r>
                      <a:rPr lang="it-IT" i="1">
                        <a:latin typeface="Cambria Math"/>
                      </a:rPr>
                      <m:t>𝐴𝑥</m:t>
                    </m:r>
                    <m:d>
                      <m:dPr>
                        <m:ctrlPr>
                          <a:rPr lang="it-IT" i="1">
                            <a:latin typeface="Cambria Math" panose="02040503050406030204" pitchFamily="18" charset="0"/>
                          </a:rPr>
                        </m:ctrlPr>
                      </m:dPr>
                      <m:e>
                        <m:r>
                          <a:rPr lang="it-IT" i="1">
                            <a:latin typeface="Cambria Math"/>
                          </a:rPr>
                          <m:t>𝑡</m:t>
                        </m:r>
                      </m:e>
                    </m:d>
                    <m:r>
                      <a:rPr lang="it-IT" i="1">
                        <a:latin typeface="Cambria Math"/>
                      </a:rPr>
                      <m:t>+</m:t>
                    </m:r>
                    <m:r>
                      <a:rPr lang="it-IT" i="1">
                        <a:latin typeface="Cambria Math"/>
                      </a:rPr>
                      <m:t>𝐵𝐾</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a:rPr lang="it-IT" b="0" i="1" smtClean="0">
                        <a:latin typeface="Cambria Math" panose="02040503050406030204" pitchFamily="18" charset="0"/>
                      </a:rPr>
                      <m:t>+</m:t>
                    </m:r>
                    <m:r>
                      <a:rPr lang="it-IT" b="0" i="1" smtClean="0">
                        <a:latin typeface="Cambria Math" panose="02040503050406030204" pitchFamily="18" charset="0"/>
                      </a:rPr>
                      <m:t>𝐵𝐾𝑥</m:t>
                    </m:r>
                    <m:d>
                      <m:dPr>
                        <m:ctrlPr>
                          <a:rPr lang="it-IT" b="0" i="1" smtClean="0">
                            <a:latin typeface="Cambria Math" panose="02040503050406030204" pitchFamily="18" charset="0"/>
                          </a:rPr>
                        </m:ctrlPr>
                      </m:dPr>
                      <m:e>
                        <m:r>
                          <a:rPr lang="it-IT" b="0" i="1" smtClean="0">
                            <a:latin typeface="Cambria Math" panose="02040503050406030204" pitchFamily="18" charset="0"/>
                          </a:rPr>
                          <m:t>𝑡</m:t>
                        </m:r>
                      </m:e>
                    </m:d>
                    <m:r>
                      <a:rPr lang="it-IT" b="0" i="1" smtClean="0">
                        <a:latin typeface="Cambria Math" panose="02040503050406030204" pitchFamily="18" charset="0"/>
                      </a:rPr>
                      <m:t>−</m:t>
                    </m:r>
                    <m:r>
                      <a:rPr lang="it-IT" i="1">
                        <a:latin typeface="Cambria Math" panose="02040503050406030204" pitchFamily="18" charset="0"/>
                      </a:rPr>
                      <m:t>𝐵𝐾𝑥</m:t>
                    </m:r>
                    <m:d>
                      <m:dPr>
                        <m:ctrlPr>
                          <a:rPr lang="it-IT" i="1">
                            <a:latin typeface="Cambria Math" panose="02040503050406030204" pitchFamily="18" charset="0"/>
                          </a:rPr>
                        </m:ctrlPr>
                      </m:dPr>
                      <m:e>
                        <m:r>
                          <a:rPr lang="it-IT" i="1">
                            <a:latin typeface="Cambria Math" panose="02040503050406030204" pitchFamily="18" charset="0"/>
                          </a:rPr>
                          <m:t>𝑡</m:t>
                        </m:r>
                      </m:e>
                    </m:d>
                    <m:r>
                      <a:rPr lang="it-IT" b="0" i="1" smtClean="0">
                        <a:latin typeface="Cambria Math" panose="02040503050406030204" pitchFamily="18" charset="0"/>
                      </a:rPr>
                      <m:t>               </m:t>
                    </m:r>
                  </m:oMath>
                </a14:m>
                <a:r>
                  <a:rPr lang="it-IT" dirty="0"/>
                  <a:t> </a:t>
                </a:r>
              </a:p>
              <a:p>
                <a:pPr marL="0" indent="0" algn="just">
                  <a:spcBef>
                    <a:spcPts val="600"/>
                  </a:spcBef>
                  <a:buNone/>
                </a:pPr>
                <a14:m>
                  <m:oMath xmlns:m="http://schemas.openxmlformats.org/officeDocument/2006/math">
                    <m:r>
                      <a:rPr lang="it-IT" b="0" i="1" smtClean="0">
                        <a:latin typeface="Cambria Math" panose="02040503050406030204" pitchFamily="18" charset="0"/>
                      </a:rPr>
                      <m:t>         </m:t>
                    </m:r>
                    <m:r>
                      <a:rPr lang="it-IT" i="1">
                        <a:latin typeface="Cambria Math"/>
                      </a:rPr>
                      <m:t>=</m:t>
                    </m:r>
                    <m:d>
                      <m:dPr>
                        <m:ctrlPr>
                          <a:rPr lang="it-IT" b="0" i="1" smtClean="0">
                            <a:latin typeface="Cambria Math" panose="02040503050406030204" pitchFamily="18" charset="0"/>
                          </a:rPr>
                        </m:ctrlPr>
                      </m:dPr>
                      <m:e>
                        <m:r>
                          <a:rPr lang="it-IT" i="1">
                            <a:latin typeface="Cambria Math"/>
                          </a:rPr>
                          <m:t>𝐴</m:t>
                        </m:r>
                        <m:r>
                          <a:rPr lang="it-IT" b="0" i="1" smtClean="0">
                            <a:latin typeface="Cambria Math" panose="02040503050406030204" pitchFamily="18" charset="0"/>
                          </a:rPr>
                          <m:t>+</m:t>
                        </m:r>
                        <m:r>
                          <a:rPr lang="it-IT" b="0" i="1" smtClean="0">
                            <a:latin typeface="Cambria Math" panose="02040503050406030204" pitchFamily="18" charset="0"/>
                          </a:rPr>
                          <m:t>𝐵𝐾</m:t>
                        </m:r>
                      </m:e>
                    </m:d>
                    <m:r>
                      <a:rPr lang="it-IT" i="1">
                        <a:latin typeface="Cambria Math"/>
                      </a:rPr>
                      <m:t>𝑥</m:t>
                    </m:r>
                    <m:d>
                      <m:dPr>
                        <m:ctrlPr>
                          <a:rPr lang="it-IT" i="1">
                            <a:latin typeface="Cambria Math" panose="02040503050406030204" pitchFamily="18" charset="0"/>
                          </a:rPr>
                        </m:ctrlPr>
                      </m:dPr>
                      <m:e>
                        <m:r>
                          <a:rPr lang="it-IT" i="1">
                            <a:latin typeface="Cambria Math"/>
                          </a:rPr>
                          <m:t>𝑡</m:t>
                        </m:r>
                      </m:e>
                    </m:d>
                    <m:r>
                      <a:rPr lang="it-IT" b="0" i="1" smtClean="0">
                        <a:latin typeface="Cambria Math" panose="02040503050406030204" pitchFamily="18" charset="0"/>
                      </a:rPr>
                      <m:t>−</m:t>
                    </m:r>
                    <m:r>
                      <a:rPr lang="it-IT" i="1">
                        <a:latin typeface="Cambria Math"/>
                      </a:rPr>
                      <m:t>𝐵𝐾</m:t>
                    </m:r>
                    <m:r>
                      <a:rPr lang="it-IT" b="0" i="1" smtClean="0">
                        <a:latin typeface="Cambria Math" panose="02040503050406030204" pitchFamily="18" charset="0"/>
                      </a:rPr>
                      <m:t>𝑒</m:t>
                    </m:r>
                    <m:d>
                      <m:dPr>
                        <m:ctrlPr>
                          <a:rPr lang="it-IT" i="1">
                            <a:latin typeface="Cambria Math" panose="02040503050406030204" pitchFamily="18" charset="0"/>
                          </a:rPr>
                        </m:ctrlPr>
                      </m:dPr>
                      <m:e>
                        <m:r>
                          <a:rPr lang="it-IT" i="1">
                            <a:latin typeface="Cambria Math"/>
                          </a:rPr>
                          <m:t>𝑡</m:t>
                        </m:r>
                      </m:e>
                    </m:d>
                    <m:r>
                      <a:rPr lang="it-IT" b="0" i="1" smtClean="0">
                        <a:latin typeface="Cambria Math" panose="02040503050406030204" pitchFamily="18" charset="0"/>
                      </a:rPr>
                      <m:t>               </m:t>
                    </m:r>
                  </m:oMath>
                </a14:m>
                <a:r>
                  <a:rPr lang="it-IT" dirty="0"/>
                  <a:t> </a:t>
                </a:r>
              </a:p>
              <a:p>
                <a:pPr marL="0" indent="0" algn="just">
                  <a:spcBef>
                    <a:spcPts val="600"/>
                  </a:spcBef>
                  <a:buNone/>
                </a:pPr>
                <a:endParaRPr lang="it-IT" sz="1000" dirty="0"/>
              </a:p>
              <a:p>
                <a:pPr marL="0" indent="0" algn="just">
                  <a:spcBef>
                    <a:spcPts val="600"/>
                  </a:spcBef>
                  <a:buNone/>
                </a:pPr>
                <a14:m>
                  <m:oMath xmlns:m="http://schemas.openxmlformats.org/officeDocument/2006/math">
                    <m:acc>
                      <m:accPr>
                        <m:chr m:val="̇"/>
                        <m:ctrlPr>
                          <a:rPr lang="it-IT" b="0" i="1" smtClean="0">
                            <a:latin typeface="Cambria Math" panose="02040503050406030204" pitchFamily="18" charset="0"/>
                          </a:rPr>
                        </m:ctrlPr>
                      </m:accPr>
                      <m:e>
                        <m:r>
                          <a:rPr lang="it-IT" b="0" i="1" smtClean="0">
                            <a:latin typeface="Cambria Math" panose="02040503050406030204" pitchFamily="18" charset="0"/>
                          </a:rPr>
                          <m:t>𝑒</m:t>
                        </m:r>
                      </m:e>
                    </m:acc>
                    <m:d>
                      <m:dPr>
                        <m:ctrlPr>
                          <a:rPr lang="it-IT" b="0" i="1" dirty="0" smtClean="0">
                            <a:latin typeface="Cambria Math" panose="02040503050406030204" pitchFamily="18" charset="0"/>
                          </a:rPr>
                        </m:ctrlPr>
                      </m:dPr>
                      <m:e>
                        <m:r>
                          <a:rPr lang="it-IT" b="0" i="1" dirty="0" smtClean="0">
                            <a:latin typeface="Cambria Math" panose="02040503050406030204" pitchFamily="18" charset="0"/>
                          </a:rPr>
                          <m:t>𝑡</m:t>
                        </m:r>
                      </m:e>
                    </m:d>
                    <m:r>
                      <a:rPr lang="it-IT" b="0" i="1" dirty="0" smtClean="0">
                        <a:latin typeface="Cambria Math" panose="02040503050406030204" pitchFamily="18" charset="0"/>
                      </a:rPr>
                      <m:t>=</m:t>
                    </m:r>
                    <m:acc>
                      <m:accPr>
                        <m:chr m:val="̇"/>
                        <m:ctrlPr>
                          <a:rPr lang="it-IT" b="0" i="1" dirty="0" smtClean="0">
                            <a:latin typeface="Cambria Math" panose="02040503050406030204" pitchFamily="18" charset="0"/>
                          </a:rPr>
                        </m:ctrlPr>
                      </m:accPr>
                      <m:e>
                        <m:r>
                          <a:rPr lang="it-IT" b="0" i="1" dirty="0" smtClean="0">
                            <a:latin typeface="Cambria Math" panose="02040503050406030204" pitchFamily="18" charset="0"/>
                          </a:rPr>
                          <m:t>𝑥</m:t>
                        </m:r>
                      </m:e>
                    </m:acc>
                    <m:d>
                      <m:dPr>
                        <m:ctrlPr>
                          <a:rPr lang="it-IT" b="0" i="1" dirty="0" smtClean="0">
                            <a:latin typeface="Cambria Math" panose="02040503050406030204" pitchFamily="18" charset="0"/>
                          </a:rPr>
                        </m:ctrlPr>
                      </m:dPr>
                      <m:e>
                        <m:r>
                          <a:rPr lang="it-IT" b="0" i="1" dirty="0" smtClean="0">
                            <a:latin typeface="Cambria Math" panose="02040503050406030204" pitchFamily="18" charset="0"/>
                          </a:rPr>
                          <m:t>𝑡</m:t>
                        </m:r>
                      </m:e>
                    </m:d>
                    <m:r>
                      <a:rPr lang="it-IT" b="0" i="1" dirty="0" smtClean="0">
                        <a:latin typeface="Cambria Math" panose="02040503050406030204" pitchFamily="18" charset="0"/>
                      </a:rPr>
                      <m:t>−</m:t>
                    </m:r>
                    <m:acc>
                      <m:accPr>
                        <m:chr m:val="̇"/>
                        <m:ctrlPr>
                          <a:rPr lang="it-IT" b="0" i="1" dirty="0" smtClean="0">
                            <a:latin typeface="Cambria Math" panose="02040503050406030204" pitchFamily="18" charset="0"/>
                          </a:rPr>
                        </m:ctrlPr>
                      </m:accPr>
                      <m:e>
                        <m:acc>
                          <m:accPr>
                            <m:chr m:val="̃"/>
                            <m:ctrlPr>
                              <a:rPr lang="it-IT" b="0" i="1" dirty="0" smtClean="0">
                                <a:latin typeface="Cambria Math" panose="02040503050406030204" pitchFamily="18" charset="0"/>
                              </a:rPr>
                            </m:ctrlPr>
                          </m:accPr>
                          <m:e>
                            <m:r>
                              <a:rPr lang="it-IT" b="0" i="1" dirty="0" smtClean="0">
                                <a:latin typeface="Cambria Math" panose="02040503050406030204" pitchFamily="18" charset="0"/>
                              </a:rPr>
                              <m:t>𝑥</m:t>
                            </m:r>
                          </m:e>
                        </m:acc>
                      </m:e>
                    </m:acc>
                    <m:d>
                      <m:dPr>
                        <m:ctrlPr>
                          <a:rPr lang="it-IT" b="0" i="1" dirty="0" smtClean="0">
                            <a:latin typeface="Cambria Math" panose="02040503050406030204" pitchFamily="18" charset="0"/>
                          </a:rPr>
                        </m:ctrlPr>
                      </m:dPr>
                      <m:e>
                        <m:r>
                          <a:rPr lang="it-IT" b="0" i="1" dirty="0" smtClean="0">
                            <a:latin typeface="Cambria Math" panose="02040503050406030204" pitchFamily="18" charset="0"/>
                          </a:rPr>
                          <m:t>𝑡</m:t>
                        </m:r>
                      </m:e>
                    </m:d>
                    <m:r>
                      <a:rPr lang="it-IT" b="0" i="1" dirty="0" smtClean="0">
                        <a:latin typeface="Cambria Math" panose="02040503050406030204" pitchFamily="18" charset="0"/>
                      </a:rPr>
                      <m:t>                         </m:t>
                    </m:r>
                  </m:oMath>
                </a14:m>
                <a:r>
                  <a:rPr lang="it-IT" b="0" i="1" dirty="0">
                    <a:latin typeface="Cambria Math" panose="02040503050406030204" pitchFamily="18" charset="0"/>
                  </a:rPr>
                  <a:t> </a:t>
                </a:r>
              </a:p>
              <a:p>
                <a:pPr marL="0" indent="0" algn="just">
                  <a:spcBef>
                    <a:spcPts val="600"/>
                  </a:spcBef>
                  <a:buNone/>
                </a:pPr>
                <a14:m>
                  <m:oMath xmlns:m="http://schemas.openxmlformats.org/officeDocument/2006/math">
                    <m:r>
                      <a:rPr lang="it-IT" b="0" i="1" dirty="0" smtClean="0">
                        <a:latin typeface="Cambria Math" panose="02040503050406030204" pitchFamily="18" charset="0"/>
                      </a:rPr>
                      <m:t>         =</m:t>
                    </m:r>
                    <m:r>
                      <a:rPr lang="it-IT" i="1">
                        <a:latin typeface="Cambria Math"/>
                      </a:rPr>
                      <m:t>𝐴𝑥</m:t>
                    </m:r>
                    <m:d>
                      <m:dPr>
                        <m:ctrlPr>
                          <a:rPr lang="it-IT" i="1">
                            <a:latin typeface="Cambria Math" panose="02040503050406030204" pitchFamily="18" charset="0"/>
                          </a:rPr>
                        </m:ctrlPr>
                      </m:dPr>
                      <m:e>
                        <m:r>
                          <a:rPr lang="it-IT" i="1">
                            <a:latin typeface="Cambria Math"/>
                          </a:rPr>
                          <m:t>𝑡</m:t>
                        </m:r>
                      </m:e>
                    </m:d>
                    <m:r>
                      <a:rPr lang="it-IT" i="1">
                        <a:latin typeface="Cambria Math"/>
                      </a:rPr>
                      <m:t>+</m:t>
                    </m:r>
                    <m:r>
                      <a:rPr lang="it-IT" i="1">
                        <a:latin typeface="Cambria Math"/>
                      </a:rPr>
                      <m:t>𝐵𝐾</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a:rPr lang="it-IT" b="0" i="1" smtClean="0">
                        <a:latin typeface="Cambria Math" panose="02040503050406030204" pitchFamily="18" charset="0"/>
                      </a:rPr>
                      <m:t>−</m:t>
                    </m:r>
                    <m:r>
                      <a:rPr lang="it-IT" i="1">
                        <a:latin typeface="Cambria Math" panose="02040503050406030204" pitchFamily="18" charset="0"/>
                      </a:rPr>
                      <m:t>(</m:t>
                    </m:r>
                    <m:r>
                      <a:rPr lang="it-IT" i="1">
                        <a:latin typeface="Cambria Math"/>
                      </a:rPr>
                      <m:t>𝐴</m:t>
                    </m:r>
                    <m:r>
                      <a:rPr lang="it-IT" i="1">
                        <a:latin typeface="Cambria Math" panose="02040503050406030204" pitchFamily="18" charset="0"/>
                      </a:rPr>
                      <m:t>+</m:t>
                    </m:r>
                    <m:r>
                      <a:rPr lang="it-IT" i="1">
                        <a:latin typeface="Cambria Math" panose="02040503050406030204" pitchFamily="18" charset="0"/>
                      </a:rPr>
                      <m:t>𝐵𝐾</m:t>
                    </m:r>
                    <m:r>
                      <a:rPr lang="it-IT" i="1">
                        <a:latin typeface="Cambria Math" panose="02040503050406030204" pitchFamily="18" charset="0"/>
                      </a:rPr>
                      <m:t>−</m:t>
                    </m:r>
                    <m:r>
                      <a:rPr lang="it-IT" i="1">
                        <a:latin typeface="Cambria Math" panose="02040503050406030204" pitchFamily="18" charset="0"/>
                      </a:rPr>
                      <m:t>𝐺𝐶</m:t>
                    </m:r>
                    <m:r>
                      <a:rPr lang="it-IT" i="1">
                        <a:latin typeface="Cambria Math" panose="02040503050406030204" pitchFamily="18" charset="0"/>
                      </a:rPr>
                      <m:t>)</m:t>
                    </m:r>
                    <m:acc>
                      <m:accPr>
                        <m:chr m:val="̃"/>
                        <m:ctrlPr>
                          <a:rPr lang="it-IT" i="1">
                            <a:latin typeface="Cambria Math" panose="02040503050406030204" pitchFamily="18" charset="0"/>
                          </a:rPr>
                        </m:ctrlPr>
                      </m:accPr>
                      <m:e>
                        <m:r>
                          <a:rPr lang="it-IT" i="1">
                            <a:latin typeface="Cambria Math"/>
                          </a:rPr>
                          <m:t>𝑥</m:t>
                        </m:r>
                      </m:e>
                    </m:acc>
                    <m:d>
                      <m:dPr>
                        <m:ctrlPr>
                          <a:rPr lang="it-IT" i="1">
                            <a:latin typeface="Cambria Math" panose="02040503050406030204" pitchFamily="18" charset="0"/>
                          </a:rPr>
                        </m:ctrlPr>
                      </m:dPr>
                      <m:e>
                        <m:r>
                          <a:rPr lang="it-IT" i="1">
                            <a:latin typeface="Cambria Math"/>
                          </a:rPr>
                          <m:t>𝑡</m:t>
                        </m:r>
                      </m:e>
                    </m:d>
                    <m:r>
                      <m:rPr>
                        <m:nor/>
                      </m:rPr>
                      <a:rPr lang="it-IT" b="0" i="1" smtClean="0">
                        <a:latin typeface="Cambria Math" panose="02040503050406030204" pitchFamily="18" charset="0"/>
                      </a:rPr>
                      <m:t>−</m:t>
                    </m:r>
                    <m:r>
                      <m:rPr>
                        <m:nor/>
                      </m:rPr>
                      <a:rPr lang="it-IT" i="1">
                        <a:latin typeface="Cambria Math" panose="02040503050406030204" pitchFamily="18" charset="0"/>
                      </a:rPr>
                      <m:t>GC</m:t>
                    </m:r>
                    <m:r>
                      <a:rPr lang="it-IT" i="1">
                        <a:latin typeface="Cambria Math"/>
                      </a:rPr>
                      <m:t>𝑥</m:t>
                    </m:r>
                    <m:r>
                      <m:rPr>
                        <m:nor/>
                      </m:rPr>
                      <a:rPr lang="it-IT" i="1">
                        <a:latin typeface="Cambria Math" panose="02040503050406030204" pitchFamily="18" charset="0"/>
                      </a:rPr>
                      <m:t>(</m:t>
                    </m:r>
                    <m:r>
                      <m:rPr>
                        <m:nor/>
                      </m:rPr>
                      <a:rPr lang="it-IT" i="1" smtClean="0">
                        <a:latin typeface="Cambria Math" panose="02040503050406030204" pitchFamily="18" charset="0"/>
                      </a:rPr>
                      <m:t>t</m:t>
                    </m:r>
                    <m:r>
                      <m:rPr>
                        <m:nor/>
                      </m:rPr>
                      <a:rPr lang="it-IT" i="1" smtClean="0">
                        <a:latin typeface="Cambria Math" panose="02040503050406030204" pitchFamily="18" charset="0"/>
                      </a:rPr>
                      <m:t>)</m:t>
                    </m:r>
                  </m:oMath>
                </a14:m>
                <a:r>
                  <a:rPr lang="it-IT" dirty="0"/>
                  <a:t> </a:t>
                </a:r>
              </a:p>
              <a:p>
                <a:pPr marL="0" indent="0" algn="just">
                  <a:spcBef>
                    <a:spcPts val="600"/>
                  </a:spcBef>
                  <a:buNone/>
                </a:pPr>
                <a:r>
                  <a:rPr lang="it-IT" dirty="0"/>
                  <a:t>        </a:t>
                </a:r>
                <a14:m>
                  <m:oMath xmlns:m="http://schemas.openxmlformats.org/officeDocument/2006/math">
                    <m:r>
                      <a:rPr lang="it-IT" i="1" dirty="0">
                        <a:latin typeface="Cambria Math" panose="02040503050406030204" pitchFamily="18" charset="0"/>
                      </a:rPr>
                      <m:t>=</m:t>
                    </m:r>
                    <m:d>
                      <m:dPr>
                        <m:ctrlPr>
                          <a:rPr lang="it-IT" b="0" i="1" dirty="0" smtClean="0">
                            <a:latin typeface="Cambria Math" panose="02040503050406030204" pitchFamily="18" charset="0"/>
                          </a:rPr>
                        </m:ctrlPr>
                      </m:dPr>
                      <m:e>
                        <m:r>
                          <a:rPr lang="it-IT" i="1">
                            <a:latin typeface="Cambria Math"/>
                          </a:rPr>
                          <m:t>𝐴</m:t>
                        </m:r>
                        <m:r>
                          <a:rPr lang="it-IT" b="0" i="1" smtClean="0">
                            <a:latin typeface="Cambria Math" panose="02040503050406030204" pitchFamily="18" charset="0"/>
                          </a:rPr>
                          <m:t>−</m:t>
                        </m:r>
                        <m:r>
                          <a:rPr lang="it-IT" b="0" i="1" smtClean="0">
                            <a:latin typeface="Cambria Math" panose="02040503050406030204" pitchFamily="18" charset="0"/>
                          </a:rPr>
                          <m:t>𝐺𝐶</m:t>
                        </m:r>
                      </m:e>
                    </m:d>
                    <m:r>
                      <a:rPr lang="it-IT" b="0" i="1" smtClean="0">
                        <a:latin typeface="Cambria Math" panose="02040503050406030204" pitchFamily="18" charset="0"/>
                      </a:rPr>
                      <m:t>𝑒</m:t>
                    </m:r>
                    <m:d>
                      <m:dPr>
                        <m:ctrlPr>
                          <a:rPr lang="it-IT" b="0" i="1" smtClean="0">
                            <a:latin typeface="Cambria Math" panose="02040503050406030204" pitchFamily="18" charset="0"/>
                          </a:rPr>
                        </m:ctrlPr>
                      </m:dPr>
                      <m:e>
                        <m:r>
                          <a:rPr lang="it-IT" b="0" i="1" smtClean="0">
                            <a:latin typeface="Cambria Math" panose="02040503050406030204" pitchFamily="18" charset="0"/>
                          </a:rPr>
                          <m:t>𝑡</m:t>
                        </m:r>
                      </m:e>
                    </m:d>
                    <m:r>
                      <a:rPr lang="it-IT" b="0" i="1" smtClean="0">
                        <a:latin typeface="Cambria Math" panose="02040503050406030204" pitchFamily="18" charset="0"/>
                      </a:rPr>
                      <m:t>             </m:t>
                    </m:r>
                  </m:oMath>
                </a14:m>
                <a:endParaRPr lang="it-IT" dirty="0"/>
              </a:p>
              <a:p>
                <a:pPr algn="just">
                  <a:spcBef>
                    <a:spcPts val="600"/>
                  </a:spcBef>
                </a:pPr>
                <a:r>
                  <a:rPr lang="it-IT" dirty="0"/>
                  <a:t>La matrice dinamica del sistema a ciclo chiuso risulta</a:t>
                </a:r>
              </a:p>
              <a:p>
                <a:pPr algn="just">
                  <a:spcBef>
                    <a:spcPts val="600"/>
                  </a:spcBef>
                </a:pPr>
                <a:endParaRPr lang="it-IT" dirty="0"/>
              </a:p>
              <a:p>
                <a:pPr marL="0" indent="0" algn="just">
                  <a:spcBef>
                    <a:spcPts val="600"/>
                  </a:spcBef>
                  <a:buNone/>
                </a:pPr>
                <a14:m>
                  <m:oMathPara xmlns:m="http://schemas.openxmlformats.org/officeDocument/2006/math">
                    <m:oMathParaPr>
                      <m:jc m:val="center"/>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𝐴</m:t>
                          </m:r>
                        </m:e>
                        <m:sub>
                          <m:r>
                            <a:rPr lang="it-IT" b="0" i="1" smtClean="0">
                              <a:latin typeface="Cambria Math" panose="02040503050406030204" pitchFamily="18" charset="0"/>
                            </a:rPr>
                            <m:t>𝐶𝐶</m:t>
                          </m:r>
                        </m:sub>
                      </m:sSub>
                      <m:r>
                        <a:rPr lang="it-IT" b="0" i="1" smtClean="0">
                          <a:latin typeface="Cambria Math" panose="02040503050406030204" pitchFamily="18" charset="0"/>
                        </a:rPr>
                        <m:t>=</m:t>
                      </m:r>
                      <m:d>
                        <m:dPr>
                          <m:ctrlPr>
                            <a:rPr lang="it-IT" b="0" i="1" smtClean="0">
                              <a:latin typeface="Cambria Math" panose="02040503050406030204" pitchFamily="18" charset="0"/>
                            </a:rPr>
                          </m:ctrlPr>
                        </m:dPr>
                        <m:e>
                          <m:m>
                            <m:mPr>
                              <m:mcs>
                                <m:mc>
                                  <m:mcPr>
                                    <m:count m:val="2"/>
                                    <m:mcJc m:val="center"/>
                                  </m:mcPr>
                                </m:mc>
                              </m:mcs>
                              <m:ctrlPr>
                                <a:rPr lang="it-IT" b="0" i="1" smtClean="0">
                                  <a:latin typeface="Cambria Math" panose="02040503050406030204" pitchFamily="18" charset="0"/>
                                </a:rPr>
                              </m:ctrlPr>
                            </m:mPr>
                            <m:mr>
                              <m:e>
                                <m:r>
                                  <a:rPr lang="it-IT" i="1">
                                    <a:latin typeface="Cambria Math"/>
                                  </a:rPr>
                                  <m:t>𝐴</m:t>
                                </m:r>
                                <m:r>
                                  <a:rPr lang="it-IT" i="1">
                                    <a:latin typeface="Cambria Math" panose="02040503050406030204" pitchFamily="18" charset="0"/>
                                  </a:rPr>
                                  <m:t>+</m:t>
                                </m:r>
                                <m:r>
                                  <a:rPr lang="it-IT" i="1">
                                    <a:latin typeface="Cambria Math" panose="02040503050406030204" pitchFamily="18" charset="0"/>
                                  </a:rPr>
                                  <m:t>𝐵𝐾</m:t>
                                </m:r>
                              </m:e>
                              <m:e>
                                <m:r>
                                  <a:rPr lang="it-IT" i="1">
                                    <a:latin typeface="Cambria Math" panose="02040503050406030204" pitchFamily="18" charset="0"/>
                                  </a:rPr>
                                  <m:t>−</m:t>
                                </m:r>
                                <m:r>
                                  <a:rPr lang="it-IT" i="1">
                                    <a:latin typeface="Cambria Math"/>
                                  </a:rPr>
                                  <m:t>𝐵𝐾</m:t>
                                </m:r>
                              </m:e>
                            </m:mr>
                            <m:mr>
                              <m:e>
                                <m:r>
                                  <a:rPr lang="it-IT" b="0" i="1" smtClean="0">
                                    <a:latin typeface="Cambria Math" panose="02040503050406030204" pitchFamily="18" charset="0"/>
                                  </a:rPr>
                                  <m:t>0</m:t>
                                </m:r>
                              </m:e>
                              <m:e>
                                <m:r>
                                  <a:rPr lang="it-IT" i="1">
                                    <a:latin typeface="Cambria Math"/>
                                  </a:rPr>
                                  <m:t>𝐴</m:t>
                                </m:r>
                                <m:r>
                                  <a:rPr lang="it-IT" i="1">
                                    <a:latin typeface="Cambria Math" panose="02040503050406030204" pitchFamily="18" charset="0"/>
                                  </a:rPr>
                                  <m:t>−</m:t>
                                </m:r>
                                <m:r>
                                  <a:rPr lang="it-IT" i="1">
                                    <a:latin typeface="Cambria Math" panose="02040503050406030204" pitchFamily="18" charset="0"/>
                                  </a:rPr>
                                  <m:t>𝐺𝐶</m:t>
                                </m:r>
                              </m:e>
                            </m:mr>
                          </m:m>
                        </m:e>
                      </m:d>
                    </m:oMath>
                  </m:oMathPara>
                </a14:m>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3"/>
                <a:stretch>
                  <a:fillRect l="-433" t="-452"/>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15</a:t>
            </a:fld>
            <a:endParaRPr lang="en-US"/>
          </a:p>
        </p:txBody>
      </p:sp>
    </p:spTree>
    <p:extLst>
      <p:ext uri="{BB962C8B-B14F-4D97-AF65-F5344CB8AC3E}">
        <p14:creationId xmlns:p14="http://schemas.microsoft.com/office/powerpoint/2010/main" val="586126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a:xfrm>
            <a:off x="0" y="6671071"/>
            <a:ext cx="9144000" cy="214313"/>
          </a:xfrm>
        </p:spPr>
        <p:txBody>
          <a:bodyPr/>
          <a:lstStyle/>
          <a:p>
            <a:pPr>
              <a:defRPr/>
            </a:pPr>
            <a:r>
              <a:rPr lang="en-US" dirty="0"/>
              <a:t>Prof. Roberto </a:t>
            </a:r>
            <a:r>
              <a:rPr lang="en-US" dirty="0" err="1"/>
              <a:t>Ambrosino</a:t>
            </a:r>
            <a:r>
              <a:rPr lang="en-US" dirty="0"/>
              <a:t>	Automatic  Control  2019/20</a:t>
            </a:r>
          </a:p>
        </p:txBody>
      </p:sp>
      <p:sp>
        <p:nvSpPr>
          <p:cNvPr id="2" name="Titolo 1"/>
          <p:cNvSpPr>
            <a:spLocks noGrp="1"/>
          </p:cNvSpPr>
          <p:nvPr>
            <p:ph type="title"/>
          </p:nvPr>
        </p:nvSpPr>
        <p:spPr/>
        <p:txBody>
          <a:bodyPr/>
          <a:lstStyle/>
          <a:p>
            <a:r>
              <a:rPr lang="it-IT" dirty="0"/>
              <a:t>Principio di separazione</a:t>
            </a:r>
            <a:endParaRPr lang="en-US" dirty="0"/>
          </a:p>
        </p:txBody>
      </p:sp>
      <mc:AlternateContent xmlns:mc="http://schemas.openxmlformats.org/markup-compatibility/2006" xmlns:a14="http://schemas.microsoft.com/office/drawing/2010/main">
        <mc:Choice Requires="a14">
          <p:sp>
            <p:nvSpPr>
              <p:cNvPr id="3" name="Segnaposto contenuto 2"/>
              <p:cNvSpPr>
                <a:spLocks noGrp="1"/>
              </p:cNvSpPr>
              <p:nvPr>
                <p:ph idx="1"/>
              </p:nvPr>
            </p:nvSpPr>
            <p:spPr>
              <a:xfrm>
                <a:off x="179512" y="981522"/>
                <a:ext cx="8784976" cy="5590728"/>
              </a:xfrm>
            </p:spPr>
            <p:txBody>
              <a:bodyPr/>
              <a:lstStyle/>
              <a:p>
                <a:pPr algn="just">
                  <a:spcBef>
                    <a:spcPts val="600"/>
                  </a:spcBef>
                </a:pPr>
                <a:r>
                  <a:rPr lang="it-IT" dirty="0"/>
                  <a:t>Poiché la matrice dinamica del sistema a ciclo chiuso è triangolare a blocchi, gli </a:t>
                </a:r>
                <a:r>
                  <a:rPr lang="it-IT" dirty="0" err="1"/>
                  <a:t>autovalori</a:t>
                </a:r>
                <a:r>
                  <a:rPr lang="it-IT" dirty="0"/>
                  <a:t> coincideranno con quelli dei due blocchi sulla diagonale principale:</a:t>
                </a:r>
              </a:p>
              <a:p>
                <a:pPr marL="0" indent="0" algn="just">
                  <a:spcBef>
                    <a:spcPts val="600"/>
                  </a:spcBef>
                  <a:buNone/>
                </a:pPr>
                <a14:m>
                  <m:oMath xmlns:m="http://schemas.openxmlformats.org/officeDocument/2006/math">
                    <m:r>
                      <a:rPr lang="it-IT" b="0" i="1" smtClean="0">
                        <a:latin typeface="Cambria Math" panose="02040503050406030204" pitchFamily="18" charset="0"/>
                      </a:rPr>
                      <m:t>𝑒𝑖𝑔</m:t>
                    </m:r>
                    <m:d>
                      <m:dPr>
                        <m:ctrlPr>
                          <a:rPr lang="it-IT" b="0" i="1" smtClean="0">
                            <a:latin typeface="Cambria Math" panose="02040503050406030204" pitchFamily="18" charset="0"/>
                          </a:rPr>
                        </m:ctrlPr>
                      </m:dPr>
                      <m:e>
                        <m:r>
                          <a:rPr lang="it-IT" b="0" i="1" smtClean="0">
                            <a:latin typeface="Cambria Math" panose="02040503050406030204" pitchFamily="18" charset="0"/>
                          </a:rPr>
                          <m:t>𝐴</m:t>
                        </m:r>
                        <m:r>
                          <a:rPr lang="it-IT" b="0" i="1" smtClean="0">
                            <a:latin typeface="Cambria Math" panose="02040503050406030204" pitchFamily="18" charset="0"/>
                          </a:rPr>
                          <m:t>+</m:t>
                        </m:r>
                        <m:r>
                          <a:rPr lang="it-IT" b="0" i="1" smtClean="0">
                            <a:latin typeface="Cambria Math" panose="02040503050406030204" pitchFamily="18" charset="0"/>
                          </a:rPr>
                          <m:t>𝐵𝐾</m:t>
                        </m:r>
                      </m:e>
                    </m:d>
                    <m:r>
                      <a:rPr lang="it-IT" b="0" i="1" smtClean="0">
                        <a:latin typeface="Cambria Math" panose="02040503050406030204" pitchFamily="18" charset="0"/>
                      </a:rPr>
                      <m:t>: </m:t>
                    </m:r>
                  </m:oMath>
                </a14:m>
                <a:r>
                  <a:rPr lang="it-IT" dirty="0"/>
                  <a:t> </a:t>
                </a:r>
                <a:r>
                  <a:rPr lang="it-IT" dirty="0" err="1"/>
                  <a:t>autovalori</a:t>
                </a:r>
                <a:r>
                  <a:rPr lang="it-IT" dirty="0"/>
                  <a:t> desiderati del sistema con retroazione di stato</a:t>
                </a:r>
              </a:p>
              <a:p>
                <a:pPr marL="0" indent="0" algn="just">
                  <a:spcBef>
                    <a:spcPts val="600"/>
                  </a:spcBef>
                  <a:buNone/>
                </a:pPr>
                <a:r>
                  <a:rPr lang="it-IT" dirty="0"/>
                  <a:t> </a:t>
                </a:r>
                <a14:m>
                  <m:oMath xmlns:m="http://schemas.openxmlformats.org/officeDocument/2006/math">
                    <m:r>
                      <a:rPr lang="it-IT" i="1">
                        <a:latin typeface="Cambria Math" panose="02040503050406030204" pitchFamily="18" charset="0"/>
                      </a:rPr>
                      <m:t>𝑒𝑖𝑔</m:t>
                    </m:r>
                    <m:d>
                      <m:dPr>
                        <m:ctrlPr>
                          <a:rPr lang="it-IT" i="1">
                            <a:latin typeface="Cambria Math" panose="02040503050406030204" pitchFamily="18" charset="0"/>
                          </a:rPr>
                        </m:ctrlPr>
                      </m:dPr>
                      <m:e>
                        <m:r>
                          <a:rPr lang="it-IT" i="1">
                            <a:latin typeface="Cambria Math" panose="02040503050406030204" pitchFamily="18" charset="0"/>
                          </a:rPr>
                          <m:t>𝐴</m:t>
                        </m:r>
                        <m:r>
                          <a:rPr lang="it-IT" b="0" i="1" smtClean="0">
                            <a:latin typeface="Cambria Math" panose="02040503050406030204" pitchFamily="18" charset="0"/>
                          </a:rPr>
                          <m:t>−</m:t>
                        </m:r>
                        <m:r>
                          <a:rPr lang="it-IT" b="0" i="1" smtClean="0">
                            <a:latin typeface="Cambria Math" panose="02040503050406030204" pitchFamily="18" charset="0"/>
                          </a:rPr>
                          <m:t>𝐺𝐶</m:t>
                        </m:r>
                      </m:e>
                    </m:d>
                    <m:r>
                      <a:rPr lang="it-IT" i="1">
                        <a:latin typeface="Cambria Math" panose="02040503050406030204" pitchFamily="18" charset="0"/>
                      </a:rPr>
                      <m:t>: </m:t>
                    </m:r>
                  </m:oMath>
                </a14:m>
                <a:r>
                  <a:rPr lang="it-IT" dirty="0"/>
                  <a:t> </a:t>
                </a:r>
                <a:r>
                  <a:rPr lang="it-IT" dirty="0" err="1"/>
                  <a:t>autovalori</a:t>
                </a:r>
                <a:r>
                  <a:rPr lang="it-IT" dirty="0"/>
                  <a:t> dell’osservatore</a:t>
                </a:r>
              </a:p>
              <a:p>
                <a:pPr marL="0" indent="0" algn="just">
                  <a:spcBef>
                    <a:spcPts val="600"/>
                  </a:spcBef>
                  <a:buNone/>
                </a:pPr>
                <a:endParaRPr lang="it-IT" dirty="0"/>
              </a:p>
              <a:p>
                <a:pPr algn="just">
                  <a:spcBef>
                    <a:spcPts val="600"/>
                  </a:spcBef>
                </a:pPr>
                <a:r>
                  <a:rPr lang="it-IT" dirty="0"/>
                  <a:t>Tale risultato prende il nome di </a:t>
                </a:r>
                <a:r>
                  <a:rPr lang="it-IT" b="1" dirty="0">
                    <a:solidFill>
                      <a:schemeClr val="accent2"/>
                    </a:solidFill>
                  </a:rPr>
                  <a:t>Principio di separazione  </a:t>
                </a:r>
                <a:r>
                  <a:rPr lang="it-IT" dirty="0"/>
                  <a:t>e ci assicura che, effettuando una retroazione di stato utilizzando la ricostruzione dello stato fornita dell’osservatore, gli </a:t>
                </a:r>
                <a:r>
                  <a:rPr lang="it-IT" dirty="0" err="1"/>
                  <a:t>autovalori</a:t>
                </a:r>
                <a:r>
                  <a:rPr lang="it-IT" dirty="0"/>
                  <a:t> del sistema a ciclo chiuso coincideranno con quelli dovuti ad una retroazione di stato ideale e quelli associati alle dinamiche dell’osservatore </a:t>
                </a:r>
              </a:p>
              <a:p>
                <a:pPr algn="just">
                  <a:spcBef>
                    <a:spcPts val="600"/>
                  </a:spcBef>
                </a:pPr>
                <a:r>
                  <a:rPr lang="it-IT" dirty="0"/>
                  <a:t>Per questo motivo, le dinamiche dell’osservatore vanno scelte circa un ordine di grandezza più veloci di quelle desiderate per il sistema in retroazione. </a:t>
                </a:r>
              </a:p>
              <a:p>
                <a:pPr marL="0" indent="0" algn="just">
                  <a:spcBef>
                    <a:spcPts val="600"/>
                  </a:spcBef>
                  <a:buNone/>
                </a:pPr>
                <a:endParaRPr lang="it-IT" dirty="0"/>
              </a:p>
            </p:txBody>
          </p:sp>
        </mc:Choice>
        <mc:Fallback xmlns="">
          <p:sp>
            <p:nvSpPr>
              <p:cNvPr id="3" name="Segnaposto contenuto 2"/>
              <p:cNvSpPr>
                <a:spLocks noGrp="1" noRot="1" noChangeAspect="1" noMove="1" noResize="1" noEditPoints="1" noAdjustHandles="1" noChangeArrowheads="1" noChangeShapeType="1" noTextEdit="1"/>
              </p:cNvSpPr>
              <p:nvPr>
                <p:ph idx="1"/>
              </p:nvPr>
            </p:nvSpPr>
            <p:spPr>
              <a:xfrm>
                <a:off x="179512" y="981522"/>
                <a:ext cx="8784976" cy="5590728"/>
              </a:xfrm>
              <a:blipFill>
                <a:blip r:embed="rId3"/>
                <a:stretch>
                  <a:fillRect l="-433" t="-452" r="-577"/>
                </a:stretch>
              </a:blipFill>
            </p:spPr>
            <p:txBody>
              <a:bodyPr/>
              <a:lstStyle/>
              <a:p>
                <a:r>
                  <a:rPr lang="it-IT">
                    <a:noFill/>
                  </a:rPr>
                  <a:t> </a:t>
                </a:r>
              </a:p>
            </p:txBody>
          </p:sp>
        </mc:Fallback>
      </mc:AlternateContent>
      <p:sp>
        <p:nvSpPr>
          <p:cNvPr id="5" name="Segnaposto numero diapositiva 4"/>
          <p:cNvSpPr>
            <a:spLocks noGrp="1"/>
          </p:cNvSpPr>
          <p:nvPr>
            <p:ph type="sldNum" sz="quarter" idx="11"/>
          </p:nvPr>
        </p:nvSpPr>
        <p:spPr/>
        <p:txBody>
          <a:bodyPr/>
          <a:lstStyle/>
          <a:p>
            <a:pPr>
              <a:defRPr/>
            </a:pPr>
            <a:fld id="{93315233-6E47-4760-BC98-AB196018917E}" type="slidenum">
              <a:rPr lang="en-US" smtClean="0"/>
              <a:pPr>
                <a:defRPr/>
              </a:pPr>
              <a:t>16</a:t>
            </a:fld>
            <a:endParaRPr lang="en-US"/>
          </a:p>
        </p:txBody>
      </p:sp>
    </p:spTree>
    <p:extLst>
      <p:ext uri="{BB962C8B-B14F-4D97-AF65-F5344CB8AC3E}">
        <p14:creationId xmlns:p14="http://schemas.microsoft.com/office/powerpoint/2010/main" val="20736781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CARLO@ZSQZHD0P69FCEKCE" val="2976"/>
  <p:tag name="DEFAULTDISPLAYSOURCE" val="\documentclass{slides}\pagestyle{empty}&#10;\usepackage{amsmath}&#10;\usepackage{amsfonts}&#10;\begin{document}&#10;\begin{align*}&#10;&#10;\end{align*}&#10;\end{document}&#10;"/>
  <p:tag name="EMBEDFONTS" val="1"/>
</p:tagLst>
</file>

<file path=ppt/theme/theme1.xml><?xml version="1.0" encoding="utf-8"?>
<a:theme xmlns:a="http://schemas.openxmlformats.org/drawingml/2006/main" name="Struttura predefinita">
  <a:themeElements>
    <a:clrScheme name="Struttura predefinit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ruttura predefinita">
      <a:majorFont>
        <a:latin typeface="Verdana"/>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truttura predefinit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ruttura predefinit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ruttura predefinit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ruttura predefinit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ruttura predefinit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ruttura predefinit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ruttura predefinit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DF14A0A7E7A51419A46051E6F391250" ma:contentTypeVersion="0" ma:contentTypeDescription="Creare un nuovo documento." ma:contentTypeScope="" ma:versionID="60bf65bfbfb5cdc364fc884ed05b0e96">
  <xsd:schema xmlns:xsd="http://www.w3.org/2001/XMLSchema" xmlns:xs="http://www.w3.org/2001/XMLSchema" xmlns:p="http://schemas.microsoft.com/office/2006/metadata/properties" targetNamespace="http://schemas.microsoft.com/office/2006/metadata/properties" ma:root="true" ma:fieldsID="f5194ef39032683069acb23aaa508486">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E32AC7F-C092-4E8D-9F1D-C0D33A633124}"/>
</file>

<file path=customXml/itemProps2.xml><?xml version="1.0" encoding="utf-8"?>
<ds:datastoreItem xmlns:ds="http://schemas.openxmlformats.org/officeDocument/2006/customXml" ds:itemID="{5FE50416-01DE-43A9-9649-A2E11D408D59}"/>
</file>

<file path=customXml/itemProps3.xml><?xml version="1.0" encoding="utf-8"?>
<ds:datastoreItem xmlns:ds="http://schemas.openxmlformats.org/officeDocument/2006/customXml" ds:itemID="{FDFE07F5-3B8C-4370-897C-0E39417E3E04}"/>
</file>

<file path=docProps/app.xml><?xml version="1.0" encoding="utf-8"?>
<Properties xmlns="http://schemas.openxmlformats.org/officeDocument/2006/extended-properties" xmlns:vt="http://schemas.openxmlformats.org/officeDocument/2006/docPropsVTypes">
  <Template/>
  <TotalTime>38795</TotalTime>
  <Words>1714</Words>
  <Application>Microsoft Macintosh PowerPoint</Application>
  <PresentationFormat>Presentazione su schermo (4:3)</PresentationFormat>
  <Paragraphs>202</Paragraphs>
  <Slides>16</Slides>
  <Notes>3</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16</vt:i4>
      </vt:variant>
    </vt:vector>
  </HeadingPairs>
  <TitlesOfParts>
    <vt:vector size="23" baseType="lpstr">
      <vt:lpstr>Garamond</vt:lpstr>
      <vt:lpstr>Wingdings 2</vt:lpstr>
      <vt:lpstr>Verdana</vt:lpstr>
      <vt:lpstr>Times New Roman</vt:lpstr>
      <vt:lpstr>Palatino</vt:lpstr>
      <vt:lpstr>Cambria Math</vt:lpstr>
      <vt:lpstr>Struttura predefinita</vt:lpstr>
      <vt:lpstr>Presentazione standard di PowerPoint</vt:lpstr>
      <vt:lpstr>Introduzione agli osservatori</vt:lpstr>
      <vt:lpstr>Introduzione agli osservatori</vt:lpstr>
      <vt:lpstr>Assegnamento degli autovalori</vt:lpstr>
      <vt:lpstr>Osservatore banale</vt:lpstr>
      <vt:lpstr>Osservatore di Luemberger</vt:lpstr>
      <vt:lpstr>Osservatore di Luemberger</vt:lpstr>
      <vt:lpstr>Osservatore di Luemberger</vt:lpstr>
      <vt:lpstr>Osservatore di Luemberger: determinazione matrice di guadagno </vt:lpstr>
      <vt:lpstr>Osservatore di Luemberger: determinazione matrice di guadagno </vt:lpstr>
      <vt:lpstr>Stabilizzabilità e rilevabilità </vt:lpstr>
      <vt:lpstr>Principio di separazione</vt:lpstr>
      <vt:lpstr>Principio di separazione</vt:lpstr>
      <vt:lpstr>Principio di separazione</vt:lpstr>
      <vt:lpstr>Principio di separazione</vt:lpstr>
      <vt:lpstr>Principio di separazione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Carlo</dc:creator>
  <cp:lastModifiedBy>ROBERTO AMBROSINO</cp:lastModifiedBy>
  <cp:revision>984</cp:revision>
  <dcterms:created xsi:type="dcterms:W3CDTF">1601-01-01T00:00:00Z</dcterms:created>
  <dcterms:modified xsi:type="dcterms:W3CDTF">2020-12-21T11:23:32Z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0x0101004DF14A0A7E7A51419A46051E6F391250</vt:lpwstr>
  </property>
</Properties>
</file>