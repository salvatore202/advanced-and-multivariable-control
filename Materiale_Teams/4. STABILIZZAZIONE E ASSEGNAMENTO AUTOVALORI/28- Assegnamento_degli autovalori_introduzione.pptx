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424" r:id="rId2"/>
    <p:sldId id="494" r:id="rId3"/>
    <p:sldId id="495" r:id="rId4"/>
    <p:sldId id="496" r:id="rId5"/>
    <p:sldId id="498" r:id="rId6"/>
    <p:sldId id="500" r:id="rId7"/>
    <p:sldId id="501" r:id="rId8"/>
    <p:sldId id="502" r:id="rId9"/>
    <p:sldId id="512" r:id="rId10"/>
    <p:sldId id="513" r:id="rId11"/>
    <p:sldId id="503" r:id="rId12"/>
    <p:sldId id="504" r:id="rId13"/>
    <p:sldId id="505" r:id="rId14"/>
    <p:sldId id="499" r:id="rId15"/>
    <p:sldId id="506" r:id="rId16"/>
    <p:sldId id="507" r:id="rId17"/>
    <p:sldId id="508" r:id="rId18"/>
    <p:sldId id="509" r:id="rId19"/>
    <p:sldId id="510" r:id="rId20"/>
    <p:sldId id="511" r:id="rId21"/>
  </p:sldIdLst>
  <p:sldSz cx="9144000" cy="6858000" type="screen4x3"/>
  <p:notesSz cx="6794500" cy="9918700"/>
  <p:embeddedFontLst>
    <p:embeddedFont>
      <p:font typeface="Cambria Math" panose="02040503050406030204" pitchFamily="18" charset="0"/>
      <p:regular r:id="rId24"/>
    </p:embeddedFont>
    <p:embeddedFont>
      <p:font typeface="Garamond" panose="02020404030301010803" pitchFamily="18" charset="0"/>
      <p:regular r:id="rId24"/>
      <p:bold r:id="rId24"/>
      <p:italic r:id="rId24"/>
      <p:boldItalic r:id="rId25"/>
    </p:embeddedFont>
    <p:embeddedFont>
      <p:font typeface="Verdana" panose="020B0604030504040204" pitchFamily="34" charset="0"/>
      <p:regular r:id="rId24"/>
      <p:bold r:id="rId24"/>
      <p:italic r:id="rId24"/>
      <p:boldItalic r:id="rId24"/>
    </p:embeddedFont>
    <p:embeddedFont>
      <p:font typeface="Wingdings 2" pitchFamily="2" charset="2"/>
      <p:regular r:id="rId24"/>
    </p:embeddedFont>
  </p:embeddedFontLst>
  <p:custDataLst>
    <p:tags r:id="rId2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4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808000"/>
    <a:srgbClr val="3D3D5B"/>
    <a:srgbClr val="666699"/>
    <a:srgbClr val="006600"/>
    <a:srgbClr val="BBBBD1"/>
    <a:srgbClr val="FFFF00"/>
    <a:srgbClr val="A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6" autoAdjust="0"/>
    <p:restoredTop sz="94607" autoAdjust="0"/>
  </p:normalViewPr>
  <p:slideViewPr>
    <p:cSldViewPr>
      <p:cViewPr varScale="1">
        <p:scale>
          <a:sx n="148" d="100"/>
          <a:sy n="148" d="100"/>
        </p:scale>
        <p:origin x="153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946" y="-108"/>
      </p:cViewPr>
      <p:guideLst>
        <p:guide orient="horz" pos="3124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NUL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8100" y="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1813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6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8100" y="9421813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cs typeface="+mn-cs"/>
              </a:defRPr>
            </a:lvl1pPr>
          </a:lstStyle>
          <a:p>
            <a:pPr>
              <a:defRPr/>
            </a:pPr>
            <a:fld id="{54A5827C-85B4-43FE-BF17-E3823D5DD215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12260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48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59350" cy="3719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1700"/>
            <a:ext cx="4981575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Fare clic per modificare gli stili del testo dello schema</a:t>
            </a:r>
          </a:p>
          <a:p>
            <a:pPr lvl="1"/>
            <a:r>
              <a:rPr lang="en-US" noProof="0"/>
              <a:t>Secondo livello</a:t>
            </a:r>
          </a:p>
          <a:p>
            <a:pPr lvl="2"/>
            <a:r>
              <a:rPr lang="en-US" noProof="0"/>
              <a:t>Terzo livello</a:t>
            </a:r>
          </a:p>
          <a:p>
            <a:pPr lvl="3"/>
            <a:r>
              <a:rPr lang="en-US" noProof="0"/>
              <a:t>Quarto livello</a:t>
            </a:r>
          </a:p>
          <a:p>
            <a:pPr lvl="4"/>
            <a:r>
              <a:rPr lang="en-US" noProof="0"/>
              <a:t>Quinto livello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340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3400"/>
            <a:ext cx="29448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cs typeface="+mn-cs"/>
              </a:defRPr>
            </a:lvl1pPr>
          </a:lstStyle>
          <a:p>
            <a:pPr>
              <a:defRPr/>
            </a:pPr>
            <a:fld id="{F20BCF7C-BC30-4725-9DFC-152D64AED2A7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4382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286250" y="6643688"/>
            <a:ext cx="457200" cy="214312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E25C708E-5992-4577-8A10-8AE712C908A3}" type="slidenum">
              <a:rPr lang="en-US"/>
              <a:pPr>
                <a:defRPr/>
              </a:pPr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282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72008"/>
            <a:ext cx="7128792" cy="692696"/>
          </a:xfrm>
          <a:solidFill>
            <a:schemeClr val="accent2"/>
          </a:solidFill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t-IT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0"/>
          </p:nvPr>
        </p:nvSpPr>
        <p:spPr>
          <a:xfrm>
            <a:off x="0" y="6670675"/>
            <a:ext cx="9144000" cy="214313"/>
          </a:xfrm>
          <a:solidFill>
            <a:schemeClr val="accent2"/>
          </a:solidFill>
        </p:spPr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Control 2014-15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349472-3F9B-4117-B0DA-7708E932AFAD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0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835253"/>
            <a:ext cx="7772400" cy="1362075"/>
          </a:xfrm>
        </p:spPr>
        <p:txBody>
          <a:bodyPr anchorCtr="1"/>
          <a:lstStyle>
            <a:lvl1pPr algn="ctr">
              <a:defRPr sz="3600" b="0" cap="all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357298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9EC56-B7BD-49DA-9529-E90BF77B935F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39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288" y="1125538"/>
            <a:ext cx="3954462" cy="52562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t-I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150" y="1125538"/>
            <a:ext cx="3956050" cy="52562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t-IT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24521-F7E7-4300-B487-560F81275FE0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15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9F80A-EDCA-497D-ACE3-547E4AB1AE1C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13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Prof. Carlo </a:t>
            </a:r>
            <a:r>
              <a:rPr lang="en-US" err="1"/>
              <a:t>Cosentino</a:t>
            </a:r>
            <a:r>
              <a:rPr lang="en-US"/>
              <a:t>	</a:t>
            </a:r>
            <a:r>
              <a:rPr lang="en-US" err="1"/>
              <a:t>Fondamenti</a:t>
            </a:r>
            <a:r>
              <a:rPr lang="en-US"/>
              <a:t> </a:t>
            </a:r>
            <a:r>
              <a:rPr lang="en-US" err="1"/>
              <a:t>di</a:t>
            </a:r>
            <a:r>
              <a:rPr lang="en-US"/>
              <a:t> </a:t>
            </a:r>
            <a:r>
              <a:rPr lang="en-US" err="1"/>
              <a:t>Automatica</a:t>
            </a:r>
            <a:r>
              <a:rPr lang="en-US"/>
              <a:t>, A.A. 2009/10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B93A7-8395-4E0C-A927-44BEA3456973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552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Prof. Carlo </a:t>
            </a:r>
            <a:r>
              <a:rPr lang="en-US" err="1"/>
              <a:t>Cosentino</a:t>
            </a:r>
            <a:r>
              <a:rPr lang="en-US"/>
              <a:t>	</a:t>
            </a:r>
            <a:r>
              <a:rPr lang="en-US" err="1"/>
              <a:t>Fondamenti</a:t>
            </a:r>
            <a:r>
              <a:rPr lang="en-US"/>
              <a:t> di </a:t>
            </a:r>
            <a:r>
              <a:rPr lang="en-US" err="1"/>
              <a:t>Automatica</a:t>
            </a:r>
            <a:r>
              <a:rPr lang="en-US"/>
              <a:t>, A.A. 2009/10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1EE81-C562-4971-8C77-8A535A8A0049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25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99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3347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9552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1A3B1D-697B-4E08-B062-C44BAE6197E7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31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7499F6-254E-4BFC-AFD9-C8C2F16262D6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02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9"/>
          <p:cNvSpPr>
            <a:spLocks noChangeArrowheads="1"/>
          </p:cNvSpPr>
          <p:nvPr/>
        </p:nvSpPr>
        <p:spPr bwMode="auto">
          <a:xfrm>
            <a:off x="21094" y="-27384"/>
            <a:ext cx="9122906" cy="8366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it-IT" altLang="en-US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90047" y="66453"/>
            <a:ext cx="6948487" cy="6262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Fare </a:t>
            </a:r>
            <a:r>
              <a:rPr lang="en-US" altLang="en-US" dirty="0" err="1"/>
              <a:t>clic</a:t>
            </a:r>
            <a:r>
              <a:rPr lang="en-US" altLang="en-US" dirty="0"/>
              <a:t> per </a:t>
            </a:r>
            <a:r>
              <a:rPr lang="en-US" altLang="en-US" dirty="0" err="1"/>
              <a:t>modificare</a:t>
            </a:r>
            <a:r>
              <a:rPr lang="en-US" altLang="en-US" dirty="0"/>
              <a:t> lo stile del </a:t>
            </a:r>
            <a:r>
              <a:rPr lang="en-US" altLang="en-US" dirty="0" err="1"/>
              <a:t>titolo</a:t>
            </a:r>
            <a:r>
              <a:rPr lang="en-US" altLang="en-US" dirty="0"/>
              <a:t> </a:t>
            </a:r>
            <a:r>
              <a:rPr lang="en-US" altLang="en-US" dirty="0" err="1"/>
              <a:t>dello</a:t>
            </a:r>
            <a:r>
              <a:rPr lang="en-US" altLang="en-US" dirty="0"/>
              <a:t> schema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125538"/>
            <a:ext cx="8062912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Fare </a:t>
            </a:r>
            <a:r>
              <a:rPr lang="en-US" altLang="en-US" dirty="0" err="1"/>
              <a:t>clic</a:t>
            </a:r>
            <a:r>
              <a:rPr lang="en-US" altLang="en-US" dirty="0"/>
              <a:t> per </a:t>
            </a:r>
            <a:r>
              <a:rPr lang="en-US" altLang="en-US" dirty="0" err="1"/>
              <a:t>modificare</a:t>
            </a:r>
            <a:r>
              <a:rPr lang="en-US" altLang="en-US" dirty="0"/>
              <a:t> </a:t>
            </a:r>
            <a:r>
              <a:rPr lang="en-US" altLang="en-US" dirty="0" err="1"/>
              <a:t>gli</a:t>
            </a:r>
            <a:r>
              <a:rPr lang="en-US" altLang="en-US" dirty="0"/>
              <a:t> </a:t>
            </a:r>
            <a:r>
              <a:rPr lang="en-US" altLang="en-US" dirty="0" err="1"/>
              <a:t>stili</a:t>
            </a:r>
            <a:r>
              <a:rPr lang="en-US" altLang="en-US" dirty="0"/>
              <a:t> del </a:t>
            </a:r>
            <a:r>
              <a:rPr lang="en-US" altLang="en-US" dirty="0" err="1"/>
              <a:t>testo</a:t>
            </a:r>
            <a:r>
              <a:rPr lang="en-US" altLang="en-US" dirty="0"/>
              <a:t> </a:t>
            </a:r>
            <a:r>
              <a:rPr lang="en-US" altLang="en-US" dirty="0" err="1"/>
              <a:t>dello</a:t>
            </a:r>
            <a:r>
              <a:rPr lang="en-US" altLang="en-US" dirty="0"/>
              <a:t> schema</a:t>
            </a:r>
          </a:p>
          <a:p>
            <a:pPr lvl="1"/>
            <a:r>
              <a:rPr lang="en-US" altLang="en-US" dirty="0"/>
              <a:t>Secondo </a:t>
            </a:r>
            <a:r>
              <a:rPr lang="en-US" altLang="en-US" dirty="0" err="1"/>
              <a:t>livello</a:t>
            </a:r>
            <a:endParaRPr lang="en-US" altLang="en-US" dirty="0"/>
          </a:p>
          <a:p>
            <a:pPr lvl="2"/>
            <a:r>
              <a:rPr lang="en-US" altLang="en-US" dirty="0" err="1"/>
              <a:t>Terzo</a:t>
            </a:r>
            <a:r>
              <a:rPr lang="en-US" altLang="en-US" dirty="0"/>
              <a:t> </a:t>
            </a:r>
            <a:r>
              <a:rPr lang="en-US" altLang="en-US" dirty="0" err="1"/>
              <a:t>livello</a:t>
            </a:r>
            <a:endParaRPr lang="en-US" altLang="en-US" dirty="0"/>
          </a:p>
          <a:p>
            <a:pPr lvl="3"/>
            <a:r>
              <a:rPr lang="en-US" altLang="en-US" dirty="0"/>
              <a:t>Quarto </a:t>
            </a:r>
            <a:r>
              <a:rPr lang="en-US" altLang="en-US" dirty="0" err="1"/>
              <a:t>livello</a:t>
            </a:r>
            <a:endParaRPr lang="en-US" altLang="en-US" dirty="0"/>
          </a:p>
          <a:p>
            <a:pPr lvl="4"/>
            <a:r>
              <a:rPr lang="en-US" altLang="en-US" dirty="0" err="1"/>
              <a:t>Quinto</a:t>
            </a:r>
            <a:r>
              <a:rPr lang="en-US" altLang="en-US" dirty="0"/>
              <a:t> </a:t>
            </a:r>
            <a:r>
              <a:rPr lang="en-US" altLang="en-US" dirty="0" err="1"/>
              <a:t>livello</a:t>
            </a:r>
            <a:endParaRPr lang="en-US" altLang="en-US" dirty="0"/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4214813" y="3001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it-IT" altLang="en-US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643688"/>
            <a:ext cx="9144000" cy="21431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tabLst>
                <a:tab pos="8882063" algn="r"/>
              </a:tabLst>
              <a:defRPr sz="1100" b="0">
                <a:solidFill>
                  <a:schemeClr val="hlink"/>
                </a:solidFill>
                <a:latin typeface="Palatino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Ambrsoino</a:t>
            </a:r>
            <a:r>
              <a:rPr lang="en-US" dirty="0"/>
              <a:t>	Automatic Control,  2014/15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286250" y="6572250"/>
            <a:ext cx="4572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cs typeface="+mn-cs"/>
              </a:defRPr>
            </a:lvl1pPr>
          </a:lstStyle>
          <a:p>
            <a:pPr>
              <a:defRPr/>
            </a:pPr>
            <a:fld id="{AA37A7FD-7FED-4DDD-9071-BB818C239E6E}" type="slidenum">
              <a:rPr lang="en-US"/>
              <a:pPr>
                <a:defRPr/>
              </a:pPr>
              <a:t>‹N›</a:t>
            </a:fld>
            <a:endParaRPr lang="en-US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24D2A221-42D3-0047-BEDC-5AC63F9306F7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" y="-27384"/>
            <a:ext cx="840347" cy="8366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2" r:id="rId6"/>
    <p:sldLayoutId id="2147483898" r:id="rId7"/>
    <p:sldLayoutId id="2147483899" r:id="rId8"/>
    <p:sldLayoutId id="2147483900" r:id="rId9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BBBBD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BBBBD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BBBBD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BBBBD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BBBBD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rgbClr val="BBBBD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rgbClr val="BBBBD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rgbClr val="BBBBD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rgbClr val="BBBBD1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30000"/>
        </a:spcAft>
        <a:buFont typeface="Wingdings 2" pitchFamily="18" charset="2"/>
        <a:buChar char="ñ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30000"/>
        </a:spcAft>
        <a:buFont typeface="Wingdings 2" pitchFamily="18" charset="2"/>
        <a:buChar char="ò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30000"/>
        </a:spcAft>
        <a:buFont typeface="Wingdings 2" pitchFamily="18" charset="2"/>
        <a:buChar char="ó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30000"/>
        </a:spcAft>
        <a:buFont typeface="Wingdings 2" pitchFamily="18" charset="2"/>
        <a:buChar char="ô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30000"/>
        </a:spcAft>
        <a:buFont typeface="Wingdings 2" pitchFamily="18" charset="2"/>
        <a:buChar char="õ"/>
        <a:defRPr sz="14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30000"/>
        </a:spcAft>
        <a:buFont typeface="Wingdings 2" pitchFamily="18" charset="2"/>
        <a:buChar char="õ"/>
        <a:defRPr sz="1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30000"/>
        </a:spcAft>
        <a:buFont typeface="Wingdings 2" pitchFamily="18" charset="2"/>
        <a:buChar char="õ"/>
        <a:defRPr sz="1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30000"/>
        </a:spcAft>
        <a:buFont typeface="Wingdings 2" pitchFamily="18" charset="2"/>
        <a:buChar char="õ"/>
        <a:defRPr sz="1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30000"/>
        </a:spcAft>
        <a:buFont typeface="Wingdings 2" pitchFamily="18" charset="2"/>
        <a:buChar char="õ"/>
        <a:defRPr sz="14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645402"/>
            <a:ext cx="9144000" cy="214312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Palatino"/>
              </a:rPr>
              <a:t>Prof. Carlo Cosentino	Fondamenti di Automatica, A.A. 2013/14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685800" y="1744663"/>
            <a:ext cx="7772400" cy="1470025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ctr">
              <a:defRPr/>
            </a:pPr>
            <a:r>
              <a:rPr lang="it-IT" sz="2000" b="0" kern="0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Course of “</a:t>
            </a:r>
            <a:r>
              <a:rPr lang="it-IT" sz="2000" b="0" kern="0" dirty="0" err="1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Automatic</a:t>
            </a:r>
            <a:r>
              <a:rPr lang="it-IT" sz="2000" b="0" kern="0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Control”</a:t>
            </a:r>
            <a:br>
              <a:rPr lang="it-IT" sz="2000" b="0" kern="0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it-IT" sz="1800" b="0" kern="0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2019/20</a:t>
            </a:r>
          </a:p>
          <a:p>
            <a:pPr algn="ctr">
              <a:defRPr/>
            </a:pPr>
            <a:endParaRPr lang="it-IT" sz="1800" b="0" kern="0" dirty="0">
              <a:solidFill>
                <a:schemeClr val="accent2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  <a:p>
            <a:pPr algn="ctr">
              <a:defRPr/>
            </a:pPr>
            <a:r>
              <a:rPr lang="it-IT" sz="3200" b="0" kern="0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Assegnamento degli </a:t>
            </a:r>
            <a:r>
              <a:rPr lang="it-IT" sz="3200" b="0" kern="0" dirty="0" err="1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autovalori</a:t>
            </a:r>
            <a:r>
              <a:rPr lang="it-IT" sz="3200" b="0" kern="0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 algn="ctr">
              <a:defRPr/>
            </a:pPr>
            <a:r>
              <a:rPr lang="it-IT" sz="3200" b="0" kern="0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Introduzione</a:t>
            </a:r>
            <a:endParaRPr lang="en-US" sz="4400" b="0" kern="0" dirty="0">
              <a:solidFill>
                <a:schemeClr val="accent2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/>
          <a:p>
            <a:pPr marL="342900" lvl="0" indent="-342900" algn="ctr">
              <a:lnSpc>
                <a:spcPct val="150000"/>
              </a:lnSpc>
              <a:defRPr/>
            </a:pPr>
            <a:r>
              <a:rPr lang="en-US" sz="1800" i="1" kern="0" dirty="0">
                <a:solidFill>
                  <a:srgbClr val="000000"/>
                </a:solidFill>
                <a:latin typeface="Garamond"/>
              </a:rPr>
              <a:t>Prof. Roberto </a:t>
            </a:r>
            <a:r>
              <a:rPr lang="en-US" sz="1800" i="1" kern="0" dirty="0" err="1">
                <a:solidFill>
                  <a:srgbClr val="000000"/>
                </a:solidFill>
                <a:latin typeface="Garamond"/>
              </a:rPr>
              <a:t>Ambrosino</a:t>
            </a:r>
            <a:endParaRPr lang="en-US" sz="1800" i="1" kern="0" dirty="0">
              <a:solidFill>
                <a:srgbClr val="000000"/>
              </a:solidFill>
              <a:latin typeface="Garamond"/>
            </a:endParaRPr>
          </a:p>
          <a:p>
            <a:pPr marL="342900" lvl="0" indent="-342900" algn="ctr">
              <a:lnSpc>
                <a:spcPct val="80000"/>
              </a:lnSpc>
              <a:defRPr/>
            </a:pPr>
            <a:r>
              <a:rPr lang="en-US" sz="1600" b="0" kern="0" dirty="0">
                <a:solidFill>
                  <a:srgbClr val="000000"/>
                </a:solidFill>
                <a:latin typeface="Garamond"/>
              </a:rPr>
              <a:t>DIETI</a:t>
            </a:r>
          </a:p>
          <a:p>
            <a:pPr marL="342900" lvl="0" indent="-342900" algn="ctr">
              <a:lnSpc>
                <a:spcPct val="80000"/>
              </a:lnSpc>
              <a:defRPr/>
            </a:pPr>
            <a:r>
              <a:rPr lang="en-US" sz="1600" b="0" kern="0" dirty="0" err="1">
                <a:solidFill>
                  <a:srgbClr val="000000"/>
                </a:solidFill>
                <a:latin typeface="Garamond"/>
              </a:rPr>
              <a:t>Università</a:t>
            </a:r>
            <a:r>
              <a:rPr lang="en-US" sz="1600" b="0" kern="0" dirty="0">
                <a:solidFill>
                  <a:srgbClr val="000000"/>
                </a:solidFill>
                <a:latin typeface="Garamond"/>
              </a:rPr>
              <a:t> </a:t>
            </a:r>
            <a:r>
              <a:rPr lang="en-US" sz="1600" b="0" kern="0" dirty="0" err="1">
                <a:solidFill>
                  <a:srgbClr val="000000"/>
                </a:solidFill>
                <a:latin typeface="Garamond"/>
              </a:rPr>
              <a:t>degli</a:t>
            </a:r>
            <a:r>
              <a:rPr lang="en-US" sz="1600" b="0" kern="0" dirty="0">
                <a:solidFill>
                  <a:srgbClr val="000000"/>
                </a:solidFill>
                <a:latin typeface="Garamond"/>
              </a:rPr>
              <a:t> </a:t>
            </a:r>
            <a:r>
              <a:rPr lang="en-US" sz="1600" b="0" kern="0" dirty="0" err="1">
                <a:solidFill>
                  <a:srgbClr val="000000"/>
                </a:solidFill>
                <a:latin typeface="Garamond"/>
              </a:rPr>
              <a:t>studi</a:t>
            </a:r>
            <a:r>
              <a:rPr lang="en-US" sz="1600" b="0" kern="0" dirty="0">
                <a:solidFill>
                  <a:srgbClr val="000000"/>
                </a:solidFill>
                <a:latin typeface="Garamond"/>
              </a:rPr>
              <a:t> di Napoli Federico II</a:t>
            </a:r>
          </a:p>
          <a:p>
            <a:pPr marL="342900" lvl="0" indent="-342900" algn="ctr">
              <a:lnSpc>
                <a:spcPct val="80000"/>
              </a:lnSpc>
              <a:defRPr/>
            </a:pPr>
            <a:r>
              <a:rPr lang="en-US" sz="1600" b="0" kern="0" dirty="0">
                <a:solidFill>
                  <a:srgbClr val="000000"/>
                </a:solidFill>
                <a:latin typeface="Garamond"/>
              </a:rPr>
              <a:t>Tel 081-5476782</a:t>
            </a:r>
          </a:p>
          <a:p>
            <a:pPr marL="342900" lvl="0" indent="-342900" algn="ctr">
              <a:lnSpc>
                <a:spcPct val="80000"/>
              </a:lnSpc>
              <a:defRPr/>
            </a:pPr>
            <a:r>
              <a:rPr lang="en-US" sz="1600" b="0" kern="0" dirty="0" err="1">
                <a:solidFill>
                  <a:srgbClr val="3333CC"/>
                </a:solidFill>
                <a:latin typeface="Garamond"/>
              </a:rPr>
              <a:t>roberto.ambrosino@unina.it</a:t>
            </a:r>
            <a:r>
              <a:rPr lang="en-US" sz="1600" b="0" kern="0" dirty="0">
                <a:solidFill>
                  <a:srgbClr val="3333CC"/>
                </a:solidFill>
                <a:latin typeface="Garamond"/>
              </a:rPr>
              <a:t> </a:t>
            </a:r>
          </a:p>
        </p:txBody>
      </p:sp>
      <p:sp>
        <p:nvSpPr>
          <p:cNvPr id="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</p:spTree>
    <p:extLst>
      <p:ext uri="{BB962C8B-B14F-4D97-AF65-F5344CB8AC3E}">
        <p14:creationId xmlns:p14="http://schemas.microsoft.com/office/powerpoint/2010/main" val="1054025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Assegnamento degli </a:t>
            </a:r>
            <a:r>
              <a:rPr lang="it-IT" dirty="0" err="1"/>
              <a:t>autovalori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981522"/>
                <a:ext cx="8784976" cy="5111774"/>
              </a:xfrm>
            </p:spPr>
            <p:txBody>
              <a:bodyPr/>
              <a:lstStyle/>
              <a:p>
                <a:r>
                  <a:rPr lang="it-IT" dirty="0"/>
                  <a:t>Consideriamo un sistema </a:t>
                </a:r>
                <a:r>
                  <a:rPr lang="it-IT" b="1" i="1" dirty="0">
                    <a:solidFill>
                      <a:schemeClr val="accent2"/>
                    </a:solidFill>
                  </a:rPr>
                  <a:t>Lineare Tempo Invariante – Tempo Continuo </a:t>
                </a:r>
                <a:r>
                  <a:rPr lang="it-IT" dirty="0"/>
                  <a:t>(</a:t>
                </a:r>
                <a:r>
                  <a:rPr lang="it-IT" b="1" i="1" dirty="0">
                    <a:solidFill>
                      <a:schemeClr val="accent2"/>
                    </a:solidFill>
                  </a:rPr>
                  <a:t>LTI-TC</a:t>
                </a:r>
                <a:r>
                  <a:rPr lang="it-IT" dirty="0"/>
                  <a:t>) in rappresentazione i-</a:t>
                </a:r>
                <a:r>
                  <a:rPr lang="it-IT" dirty="0" err="1"/>
                  <a:t>s</a:t>
                </a:r>
                <a:r>
                  <a:rPr lang="it-IT" dirty="0"/>
                  <a:t>-u:</a:t>
                </a:r>
              </a:p>
              <a:p>
                <a:pPr marL="0" indent="0" algn="r">
                  <a:buNone/>
                </a:pP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acc>
                            <m:accPr>
                              <m:chr m:val="̇"/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  <m:d>
                            <m:d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it-IT" i="1" smtClean="0">
                              <a:latin typeface="Cambria Math"/>
                            </a:rPr>
                            <m:t>= </m:t>
                          </m:r>
                          <m:r>
                            <a:rPr lang="it-IT" i="1" smtClean="0">
                              <a:latin typeface="Cambria Math"/>
                            </a:rPr>
                            <m:t>𝐴𝑥</m:t>
                          </m:r>
                          <m:d>
                            <m:d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it-IT" i="1" smtClean="0">
                              <a:latin typeface="Cambria Math"/>
                            </a:rPr>
                            <m:t>+</m:t>
                          </m:r>
                          <m:r>
                            <a:rPr lang="it-IT" i="1" smtClean="0">
                              <a:latin typeface="Cambria Math"/>
                            </a:rPr>
                            <m:t>𝐵𝑢</m:t>
                          </m:r>
                          <m:d>
                            <m:d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it-IT" smtClean="0">
                              <a:latin typeface="Cambria Math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it-IT" smtClean="0"/>
                            <m:t>   </m:t>
                          </m:r>
                          <m:r>
                            <a:rPr lang="it-IT" i="1" smtClean="0">
                              <a:latin typeface="Cambria Math"/>
                            </a:rPr>
                            <m:t>𝑥</m:t>
                          </m:r>
                          <m:d>
                            <m:d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 smtClean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it-IT" i="1" smtClean="0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it-IT" i="1" smtClean="0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i="1" smtClean="0">
                                  <a:latin typeface="Cambria Math"/>
                                </a:rPr>
                                <m:t>0  </m:t>
                              </m:r>
                            </m:sub>
                          </m:sSub>
                        </m:e>
                      </m:mr>
                      <m:mr>
                        <m:e>
                          <m:r>
                            <a:rPr lang="it-IT" i="1">
                              <a:latin typeface="Cambria Math"/>
                            </a:rPr>
                            <m:t>𝑦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it-IT" i="1" smtClean="0">
                              <a:latin typeface="Cambria Math"/>
                            </a:rPr>
                            <m:t>=</m:t>
                          </m:r>
                          <m:r>
                            <a:rPr lang="it-IT" i="1" smtClean="0">
                              <a:latin typeface="Cambria Math"/>
                            </a:rPr>
                            <m:t>𝐶𝑥</m:t>
                          </m:r>
                          <m:d>
                            <m:d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it-IT" i="1" smtClean="0">
                              <a:latin typeface="Cambria Math"/>
                            </a:rPr>
                            <m:t>+</m:t>
                          </m:r>
                          <m:r>
                            <a:rPr lang="it-IT" i="1" smtClean="0">
                              <a:latin typeface="Cambria Math"/>
                            </a:rPr>
                            <m:t>𝐷𝑢</m:t>
                          </m:r>
                          <m:d>
                            <m:d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it-IT" b="0" i="1" smtClean="0">
                              <a:latin typeface="Cambria Math"/>
                            </a:rPr>
                            <m:t>                            </m:t>
                          </m:r>
                        </m:e>
                      </m:mr>
                    </m:m>
                  </m:oMath>
                </a14:m>
                <a:r>
                  <a:rPr lang="it-IT" i="1" dirty="0">
                    <a:latin typeface="Cambria Math"/>
                  </a:rPr>
                  <a:t>		 </a:t>
                </a:r>
                <a:r>
                  <a:rPr lang="it-IT" dirty="0"/>
                  <a:t>(1)</a:t>
                </a:r>
              </a:p>
              <a:p>
                <a:pPr marL="400050" lvl="1" indent="0" algn="just">
                  <a:buNone/>
                </a:pPr>
                <a:r>
                  <a:rPr lang="it-IT" sz="2000" dirty="0">
                    <a:ea typeface="+mn-ea"/>
                    <a:cs typeface="+mn-cs"/>
                  </a:rPr>
                  <a:t>Per la trattazione delle tecniche di controllo, considereremo, senza perdita di generalità, sistemi strettamente propri (</a:t>
                </a:r>
                <a14:m>
                  <m:oMath xmlns:m="http://schemas.openxmlformats.org/officeDocument/2006/math">
                    <m:r>
                      <a:rPr lang="it-IT" sz="2000" i="1">
                        <a:latin typeface="Cambria Math"/>
                      </a:rPr>
                      <m:t>𝐷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it-IT" sz="2000" dirty="0">
                    <a:latin typeface="Cambria Math" panose="02040503050406030204" pitchFamily="18" charset="0"/>
                    <a:ea typeface="+mn-ea"/>
                    <a:cs typeface="+mn-cs"/>
                  </a:rPr>
                  <a:t>).</a:t>
                </a:r>
                <a:endParaRPr lang="it-IT" sz="2000" i="1" dirty="0"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algn="just"/>
                <a:r>
                  <a:rPr lang="it-IT" dirty="0"/>
                  <a:t>Nell’ipotesi che lo stato del sistema sia accessibile, supponiamo un’azione di </a:t>
                </a:r>
                <a:r>
                  <a:rPr lang="it-IT" b="1" dirty="0"/>
                  <a:t>controllo in retroazione di stato</a:t>
                </a:r>
                <a:r>
                  <a:rPr lang="it-IT" dirty="0"/>
                  <a:t> nella forma: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𝐾𝑥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981522"/>
                <a:ext cx="8784976" cy="5111774"/>
              </a:xfrm>
              <a:blipFill>
                <a:blip r:embed="rId2"/>
                <a:stretch>
                  <a:fillRect l="-433" t="-495" r="-57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79CA5E38-9144-EB4C-B7C0-49C363DB2A5A}"/>
              </a:ext>
            </a:extLst>
          </p:cNvPr>
          <p:cNvGrpSpPr/>
          <p:nvPr/>
        </p:nvGrpSpPr>
        <p:grpSpPr>
          <a:xfrm>
            <a:off x="1547662" y="5022944"/>
            <a:ext cx="6552730" cy="1430392"/>
            <a:chOff x="1547662" y="4895216"/>
            <a:chExt cx="6552730" cy="1430392"/>
          </a:xfrm>
        </p:grpSpPr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19DF9AF8-0EA2-374D-9B5E-1B4BEDD7DE0F}"/>
                </a:ext>
              </a:extLst>
            </p:cNvPr>
            <p:cNvSpPr/>
            <p:nvPr/>
          </p:nvSpPr>
          <p:spPr bwMode="auto">
            <a:xfrm>
              <a:off x="2555776" y="5229200"/>
              <a:ext cx="1512168" cy="50405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K</a:t>
              </a:r>
            </a:p>
          </p:txBody>
        </p:sp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46C8614C-13A3-754A-8C6D-C4E92712D7E1}"/>
                </a:ext>
              </a:extLst>
            </p:cNvPr>
            <p:cNvSpPr/>
            <p:nvPr/>
          </p:nvSpPr>
          <p:spPr bwMode="auto">
            <a:xfrm>
              <a:off x="5076058" y="5214870"/>
              <a:ext cx="1512168" cy="50405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Sistema</a:t>
              </a:r>
            </a:p>
          </p:txBody>
        </p:sp>
        <p:cxnSp>
          <p:nvCxnSpPr>
            <p:cNvPr id="9" name="Connettore 2 8">
              <a:extLst>
                <a:ext uri="{FF2B5EF4-FFF2-40B4-BE49-F238E27FC236}">
                  <a16:creationId xmlns:a16="http://schemas.microsoft.com/office/drawing/2014/main" id="{D6FC4946-4BDD-C446-A81B-A9F940CA9540}"/>
                </a:ext>
              </a:extLst>
            </p:cNvPr>
            <p:cNvCxnSpPr>
              <a:stCxn id="4" idx="3"/>
              <a:endCxn id="8" idx="1"/>
            </p:cNvCxnSpPr>
            <p:nvPr/>
          </p:nvCxnSpPr>
          <p:spPr bwMode="auto">
            <a:xfrm flipV="1">
              <a:off x="4067944" y="5466898"/>
              <a:ext cx="1008114" cy="1433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" name="Connettore 2 9">
              <a:extLst>
                <a:ext uri="{FF2B5EF4-FFF2-40B4-BE49-F238E27FC236}">
                  <a16:creationId xmlns:a16="http://schemas.microsoft.com/office/drawing/2014/main" id="{39166B52-2B07-1548-8AC9-F44CB3166C1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88226" y="5466898"/>
              <a:ext cx="1512166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" name="Connettore 2 11">
              <a:extLst>
                <a:ext uri="{FF2B5EF4-FFF2-40B4-BE49-F238E27FC236}">
                  <a16:creationId xmlns:a16="http://schemas.microsoft.com/office/drawing/2014/main" id="{A553034B-635D-C743-81BA-5873E8253091}"/>
                </a:ext>
              </a:extLst>
            </p:cNvPr>
            <p:cNvCxnSpPr/>
            <p:nvPr/>
          </p:nvCxnSpPr>
          <p:spPr bwMode="auto">
            <a:xfrm flipV="1">
              <a:off x="1547662" y="5452568"/>
              <a:ext cx="1008114" cy="1433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" name="Connettore 1 13">
              <a:extLst>
                <a:ext uri="{FF2B5EF4-FFF2-40B4-BE49-F238E27FC236}">
                  <a16:creationId xmlns:a16="http://schemas.microsoft.com/office/drawing/2014/main" id="{367ACA51-9BA0-A145-8169-16398EE4C2A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32142" y="5713540"/>
              <a:ext cx="0" cy="61206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Connettore 1 14">
              <a:extLst>
                <a:ext uri="{FF2B5EF4-FFF2-40B4-BE49-F238E27FC236}">
                  <a16:creationId xmlns:a16="http://schemas.microsoft.com/office/drawing/2014/main" id="{5E1D8B5A-0FE3-5444-87AF-343EF0BC993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547662" y="6310114"/>
              <a:ext cx="4284480" cy="154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Connettore 1 19">
              <a:extLst>
                <a:ext uri="{FF2B5EF4-FFF2-40B4-BE49-F238E27FC236}">
                  <a16:creationId xmlns:a16="http://schemas.microsoft.com/office/drawing/2014/main" id="{25FCAFFE-DCF3-1540-B796-5D4C8A5A181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547662" y="5459733"/>
              <a:ext cx="0" cy="86587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ttangolo 21">
                  <a:extLst>
                    <a:ext uri="{FF2B5EF4-FFF2-40B4-BE49-F238E27FC236}">
                      <a16:creationId xmlns:a16="http://schemas.microsoft.com/office/drawing/2014/main" id="{6DCFFCFD-21DB-EF4C-8911-D6715B56B35D}"/>
                    </a:ext>
                  </a:extLst>
                </p:cNvPr>
                <p:cNvSpPr/>
                <p:nvPr/>
              </p:nvSpPr>
              <p:spPr>
                <a:xfrm>
                  <a:off x="7184753" y="4900415"/>
                  <a:ext cx="82317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i="1">
                            <a:latin typeface="Cambria Math"/>
                          </a:rPr>
                          <m:t>𝑦</m:t>
                        </m:r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22" name="Rettangolo 21">
                  <a:extLst>
                    <a:ext uri="{FF2B5EF4-FFF2-40B4-BE49-F238E27FC236}">
                      <a16:creationId xmlns:a16="http://schemas.microsoft.com/office/drawing/2014/main" id="{6DCFFCFD-21DB-EF4C-8911-D6715B56B3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4753" y="4900415"/>
                  <a:ext cx="823174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ttangolo 22">
                  <a:extLst>
                    <a:ext uri="{FF2B5EF4-FFF2-40B4-BE49-F238E27FC236}">
                      <a16:creationId xmlns:a16="http://schemas.microsoft.com/office/drawing/2014/main" id="{7FAC19A1-6E3D-0D42-9F4F-5AC8291CE8D0}"/>
                    </a:ext>
                  </a:extLst>
                </p:cNvPr>
                <p:cNvSpPr/>
                <p:nvPr/>
              </p:nvSpPr>
              <p:spPr>
                <a:xfrm>
                  <a:off x="5832142" y="5743355"/>
                  <a:ext cx="72334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it-IT" b="0" i="1" dirty="0"/>
                    <a:t>x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/>
                            </a:rPr>
                            <m:t>𝑡</m:t>
                          </m:r>
                        </m:e>
                      </m:d>
                    </m:oMath>
                  </a14:m>
                  <a:endParaRPr lang="it-IT" i="1" dirty="0"/>
                </a:p>
              </p:txBody>
            </p:sp>
          </mc:Choice>
          <mc:Fallback xmlns="">
            <p:sp>
              <p:nvSpPr>
                <p:cNvPr id="23" name="Rettangolo 22">
                  <a:extLst>
                    <a:ext uri="{FF2B5EF4-FFF2-40B4-BE49-F238E27FC236}">
                      <a16:creationId xmlns:a16="http://schemas.microsoft.com/office/drawing/2014/main" id="{7FAC19A1-6E3D-0D42-9F4F-5AC8291CE8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2142" y="5743355"/>
                  <a:ext cx="723340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2069" t="-7895" b="-26316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ttangolo 23">
                  <a:extLst>
                    <a:ext uri="{FF2B5EF4-FFF2-40B4-BE49-F238E27FC236}">
                      <a16:creationId xmlns:a16="http://schemas.microsoft.com/office/drawing/2014/main" id="{74F2ED2E-AF5A-EF48-BB0E-A58DCB044334}"/>
                    </a:ext>
                  </a:extLst>
                </p:cNvPr>
                <p:cNvSpPr/>
                <p:nvPr/>
              </p:nvSpPr>
              <p:spPr>
                <a:xfrm>
                  <a:off x="4226703" y="4895216"/>
                  <a:ext cx="72334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it-IT" b="0" i="1" dirty="0"/>
                    <a:t>u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/>
                            </a:rPr>
                            <m:t>𝑡</m:t>
                          </m:r>
                        </m:e>
                      </m:d>
                    </m:oMath>
                  </a14:m>
                  <a:endParaRPr lang="it-IT" i="1" dirty="0"/>
                </a:p>
              </p:txBody>
            </p:sp>
          </mc:Choice>
          <mc:Fallback xmlns="">
            <p:sp>
              <p:nvSpPr>
                <p:cNvPr id="24" name="Rettangolo 23">
                  <a:extLst>
                    <a:ext uri="{FF2B5EF4-FFF2-40B4-BE49-F238E27FC236}">
                      <a16:creationId xmlns:a16="http://schemas.microsoft.com/office/drawing/2014/main" id="{74F2ED2E-AF5A-EF48-BB0E-A58DCB0443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6703" y="4895216"/>
                  <a:ext cx="72334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2069" t="-13889" b="-30556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97968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Assegnamento degli </a:t>
            </a:r>
            <a:r>
              <a:rPr lang="it-IT" dirty="0" err="1"/>
              <a:t>autovalori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908720"/>
                <a:ext cx="8784976" cy="5111774"/>
              </a:xfrm>
            </p:spPr>
            <p:txBody>
              <a:bodyPr/>
              <a:lstStyle/>
              <a:p>
                <a:r>
                  <a:rPr lang="it-IT" dirty="0"/>
                  <a:t>Il sistema ad </a:t>
                </a:r>
                <a:r>
                  <a:rPr lang="it-IT" b="1" dirty="0"/>
                  <a:t>anello chiuso </a:t>
                </a:r>
                <a:r>
                  <a:rPr lang="it-IT" dirty="0"/>
                  <a:t>ottenuto in questo modo è descritto dalla seguente rappresentazione di stato: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i="1">
                              <a:latin typeface="Cambria Math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it-IT" i="1">
                          <a:latin typeface="Cambria Math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i="1">
                          <a:latin typeface="Cambria Math"/>
                        </a:rPr>
                        <m:t>𝐴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𝐵𝐾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it-IT" i="1">
                          <a:latin typeface="Cambria Math"/>
                        </a:rPr>
                        <m:t>𝑥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it-IT" b="1" dirty="0"/>
              </a:p>
              <a:p>
                <a:pPr marL="0" indent="0">
                  <a:buNone/>
                </a:pPr>
                <a:r>
                  <a:rPr lang="it-IT" b="1" i="1" dirty="0"/>
                  <a:t>Assegnamento degli </a:t>
                </a:r>
                <a:r>
                  <a:rPr lang="it-IT" b="1" i="1" dirty="0" err="1"/>
                  <a:t>autovalori</a:t>
                </a:r>
                <a:endParaRPr lang="it-IT" b="1" i="1" dirty="0"/>
              </a:p>
              <a:p>
                <a:pPr marL="0" indent="0" algn="just">
                  <a:buNone/>
                </a:pPr>
                <a:r>
                  <a:rPr lang="it-IT" dirty="0"/>
                  <a:t>Obiettivo della tecnica di assegnamento degli </a:t>
                </a:r>
                <a:r>
                  <a:rPr lang="it-IT" dirty="0" err="1"/>
                  <a:t>autovalori</a:t>
                </a:r>
                <a:r>
                  <a:rPr lang="it-IT" dirty="0"/>
                  <a:t> è quello di fissare le dinamiche a ciclo chiuso del sistema con retroazione di stato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i="1">
                              <a:latin typeface="Cambria Math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it-IT" i="1">
                          <a:latin typeface="Cambria Math"/>
                        </a:rPr>
                        <m:t>=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i="1">
                          <a:latin typeface="Cambria Math"/>
                        </a:rPr>
                        <m:t>𝐴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𝐵𝐾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it-IT" i="1">
                          <a:latin typeface="Cambria Math"/>
                        </a:rPr>
                        <m:t>𝑥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it-IT" b="1" dirty="0"/>
              </a:p>
              <a:p>
                <a:pPr marL="0" indent="0" algn="just">
                  <a:buNone/>
                </a:pPr>
                <a:r>
                  <a:rPr lang="it-IT" dirty="0"/>
                  <a:t>e quindi  gli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autovalori</a:t>
                </a:r>
                <a:r>
                  <a:rPr lang="it-IT" dirty="0"/>
                  <a:t> della matrice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/>
                      </a:rPr>
                      <m:t>𝐴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𝐵𝐾</m:t>
                    </m:r>
                  </m:oMath>
                </a14:m>
                <a:r>
                  <a:rPr lang="it-IT" dirty="0"/>
                  <a:t>.</a:t>
                </a:r>
              </a:p>
              <a:p>
                <a:pPr marL="0" indent="0" algn="just">
                  <a:buNone/>
                </a:pPr>
                <a:endParaRPr lang="it-IT" sz="1000" dirty="0"/>
              </a:p>
              <a:p>
                <a:pPr algn="just"/>
                <a:r>
                  <a:rPr lang="it-IT" dirty="0"/>
                  <a:t> Prima di affrontare il problema della progettazione della matrice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it-IT" dirty="0"/>
                  <a:t>, è necessario analizzare in quali casi l’assegnamento degli </a:t>
                </a:r>
                <a:r>
                  <a:rPr lang="it-IT" dirty="0" err="1"/>
                  <a:t>autovalori</a:t>
                </a:r>
                <a:r>
                  <a:rPr lang="it-IT" dirty="0"/>
                  <a:t> risulta possibile.</a:t>
                </a:r>
              </a:p>
              <a:p>
                <a:pPr algn="just"/>
                <a:r>
                  <a:rPr lang="it-IT" dirty="0"/>
                  <a:t>E’ evidente che la possibilità di assegnare tutti i modi del sistema a ciclo chiuso dipende dalle proprietà della coppia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>
                        <a:latin typeface="Cambria Math"/>
                      </a:rPr>
                      <m:t>𝐴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del sistema, o meglio dalle sue </a:t>
                </a:r>
                <a:r>
                  <a:rPr lang="it-IT" b="1" dirty="0">
                    <a:solidFill>
                      <a:schemeClr val="accent2"/>
                    </a:solidFill>
                  </a:rPr>
                  <a:t>proprietà di Raggiungibilità </a:t>
                </a:r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908720"/>
                <a:ext cx="8784976" cy="5111774"/>
              </a:xfrm>
              <a:blipFill>
                <a:blip r:embed="rId2"/>
                <a:stretch>
                  <a:fillRect l="-577" t="-746" r="-1299" b="-1417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E09F880-C315-9F46-BFDB-22C3E9725F16}"/>
              </a:ext>
            </a:extLst>
          </p:cNvPr>
          <p:cNvSpPr/>
          <p:nvPr/>
        </p:nvSpPr>
        <p:spPr bwMode="auto">
          <a:xfrm>
            <a:off x="179512" y="2132856"/>
            <a:ext cx="8784976" cy="244827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0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03648" y="72008"/>
            <a:ext cx="7560840" cy="692696"/>
          </a:xfrm>
        </p:spPr>
        <p:txBody>
          <a:bodyPr/>
          <a:lstStyle/>
          <a:p>
            <a:r>
              <a:rPr lang="it-IT" dirty="0"/>
              <a:t>Assegnamento degli </a:t>
            </a:r>
            <a:r>
              <a:rPr lang="it-IT" dirty="0" err="1"/>
              <a:t>autovalori</a:t>
            </a:r>
            <a:r>
              <a:rPr lang="it-IT" dirty="0"/>
              <a:t> - raggiungibilità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981522"/>
                <a:ext cx="8784976" cy="5111774"/>
              </a:xfrm>
            </p:spPr>
            <p:txBody>
              <a:bodyPr/>
              <a:lstStyle/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b="1" i="1" dirty="0"/>
                  <a:t>Teorema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dirty="0"/>
                  <a:t>Il problema dell’assegnazione degli </a:t>
                </a:r>
                <a:r>
                  <a:rPr lang="it-IT" dirty="0" err="1"/>
                  <a:t>autovalori</a:t>
                </a:r>
                <a:r>
                  <a:rPr lang="it-IT" dirty="0"/>
                  <a:t> mediante reazione dallo stato ammette soluzione </a:t>
                </a:r>
                <a:r>
                  <a:rPr lang="it-IT" b="1" dirty="0"/>
                  <a:t>se e solo </a:t>
                </a:r>
                <a:r>
                  <a:rPr lang="it-IT" dirty="0"/>
                  <a:t>se la coppia di matrici (</a:t>
                </a:r>
                <a:r>
                  <a:rPr lang="it-IT" i="1" dirty="0"/>
                  <a:t>A</a:t>
                </a:r>
                <a:r>
                  <a:rPr lang="it-IT" dirty="0"/>
                  <a:t>,</a:t>
                </a:r>
                <a:r>
                  <a:rPr lang="it-IT" i="1" dirty="0"/>
                  <a:t>B</a:t>
                </a:r>
                <a:r>
                  <a:rPr lang="it-IT" dirty="0"/>
                  <a:t>) soddisfa la condizione di raggiungibilità 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sz="1000" dirty="0"/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sz="1000" dirty="0"/>
              </a:p>
              <a:p>
                <a:pPr marL="0" indent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b="1" i="1" dirty="0" err="1">
                    <a:solidFill>
                      <a:srgbClr val="000000"/>
                    </a:solidFill>
                  </a:rPr>
                  <a:t>Dim</a:t>
                </a:r>
                <a:r>
                  <a:rPr lang="it-IT" b="1" i="1" dirty="0">
                    <a:solidFill>
                      <a:srgbClr val="000000"/>
                    </a:solidFill>
                  </a:rPr>
                  <a:t>. (condizione necessaria)</a:t>
                </a:r>
                <a:endParaRPr lang="it-IT" sz="1000" dirty="0"/>
              </a:p>
              <a:p>
                <a:pPr marL="0" indent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dirty="0"/>
                  <a:t>Supponiamo che il sistema non sia completamente raggiungibile. In tal caso, è possibile effettuare un cambiamento di base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it-IT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𝑇𝑥</m:t>
                    </m:r>
                  </m:oMath>
                </a14:m>
                <a:r>
                  <a:rPr lang="it-IT" dirty="0"/>
                  <a:t> per portarlo </a:t>
                </a:r>
                <a:r>
                  <a:rPr lang="it-IT" dirty="0">
                    <a:solidFill>
                      <a:schemeClr val="accent2"/>
                    </a:solidFill>
                  </a:rPr>
                  <a:t>in forma canonica di raggiungibilità di </a:t>
                </a:r>
                <a:r>
                  <a:rPr lang="it-IT" dirty="0" err="1">
                    <a:solidFill>
                      <a:schemeClr val="accent2"/>
                    </a:solidFill>
                  </a:rPr>
                  <a:t>Kalman</a:t>
                </a:r>
                <a:r>
                  <a:rPr lang="it-IT" dirty="0">
                    <a:solidFill>
                      <a:schemeClr val="accent2"/>
                    </a:solidFill>
                  </a:rPr>
                  <a:t> 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̃"/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it-IT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it-IT" i="1" dirty="0"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it-IT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it-IT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it-IT" i="1" dirty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acc>
                        <m:accPr>
                          <m:chr m:val="̃"/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i="1" dirty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it-IT" i="1" dirty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it-IT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it-IT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it-IT" i="1" dirty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it-IT" dirty="0"/>
              </a:p>
              <a:p>
                <a:pPr marL="0" indent="0" algn="just">
                  <a:buNone/>
                </a:pPr>
                <a:r>
                  <a:rPr lang="it-IT" dirty="0"/>
                  <a:t>Supponendo una retroazione di stato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acc>
                      <m:accPr>
                        <m:chr m:val="̃"/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𝑇𝑥</m:t>
                    </m:r>
                    <m:d>
                      <m:d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𝐾𝑥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con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𝐾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it-IT" dirty="0"/>
                  <a:t>, il sistema a ciclo chiuso può essere riscritto nella forma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̃"/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it-IT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it-IT" i="1" dirty="0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it-IT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it-IT" i="1" dirty="0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  <m:t>𝑎𝑏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it-IT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it-IT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it-IT" i="1" dirty="0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it-IT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it-IT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it-IT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it-IT" b="1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it-IT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it-IT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it-IT" b="1" i="1" dirty="0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it-IT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it-IT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it-IT" i="1" dirty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it-IT" b="1" i="1" dirty="0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  <m:acc>
                        <m:accPr>
                          <m:chr m:val="̃"/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981522"/>
                <a:ext cx="8784976" cy="5111774"/>
              </a:xfrm>
              <a:blipFill>
                <a:blip r:embed="rId2"/>
                <a:stretch>
                  <a:fillRect l="-577" t="-495" r="-1299" b="-297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E09F880-C315-9F46-BFDB-22C3E9725F16}"/>
              </a:ext>
            </a:extLst>
          </p:cNvPr>
          <p:cNvSpPr/>
          <p:nvPr/>
        </p:nvSpPr>
        <p:spPr bwMode="auto">
          <a:xfrm>
            <a:off x="179512" y="1019766"/>
            <a:ext cx="8784976" cy="132911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88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03648" y="72008"/>
            <a:ext cx="7560840" cy="692696"/>
          </a:xfrm>
        </p:spPr>
        <p:txBody>
          <a:bodyPr/>
          <a:lstStyle/>
          <a:p>
            <a:r>
              <a:rPr lang="it-IT" dirty="0"/>
              <a:t>Assegnamento degli </a:t>
            </a:r>
            <a:r>
              <a:rPr lang="it-IT" dirty="0" err="1"/>
              <a:t>autovalori</a:t>
            </a:r>
            <a:r>
              <a:rPr lang="it-IT" dirty="0"/>
              <a:t> - raggiungibilità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981522"/>
                <a:ext cx="8784976" cy="5111774"/>
              </a:xfrm>
            </p:spPr>
            <p:txBody>
              <a:bodyPr/>
              <a:lstStyle/>
              <a:p>
                <a:pPr marL="0" indent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b="1" i="1" dirty="0">
                    <a:solidFill>
                      <a:srgbClr val="000000"/>
                    </a:solidFill>
                  </a:rPr>
                  <a:t>Dim. (condizione necessaria) </a:t>
                </a:r>
                <a:r>
                  <a:rPr lang="it-IT" b="1" i="1" dirty="0" err="1">
                    <a:solidFill>
                      <a:srgbClr val="000000"/>
                    </a:solidFill>
                  </a:rPr>
                  <a:t>cont</a:t>
                </a:r>
                <a:r>
                  <a:rPr lang="it-IT" b="1" i="1" dirty="0">
                    <a:solidFill>
                      <a:srgbClr val="000000"/>
                    </a:solidFill>
                  </a:rPr>
                  <a:t>…</a:t>
                </a:r>
                <a:endParaRPr lang="it-IT" sz="1000" dirty="0"/>
              </a:p>
              <a:p>
                <a:pPr marL="0" indent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dirty="0"/>
              </a:p>
              <a:p>
                <a:pPr marL="0" indent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dirty="0"/>
                  <a:t>Il sistema a ciclo chiuso può essere riscritto nella forma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̃"/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it-IT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it-IT" i="1" dirty="0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b>
                                    </m:sSub>
                                    <m:r>
                                      <a:rPr lang="it-IT" b="0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it-IT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it-IT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it-IT" i="1" dirty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it-IT" b="1" i="1" dirty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it-IT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it-IT" i="1" dirty="0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  <m:t>𝑎𝑏</m:t>
                                        </m:r>
                                      </m:sub>
                                    </m:sSub>
                                    <m:r>
                                      <a:rPr lang="it-IT" b="0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it-IT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it-IT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it-IT" i="1" dirty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it-IT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it-IT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it-IT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it-IT" i="1" dirty="0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  <m:acc>
                        <m:accPr>
                          <m:chr m:val="̃"/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it-IT" dirty="0"/>
              </a:p>
              <a:p>
                <a:pPr marL="0" indent="0" algn="just">
                  <a:buNone/>
                </a:pPr>
                <a:r>
                  <a:rPr lang="it-IT" dirty="0"/>
                  <a:t>Considerando che il sistema a blocchi è in forma triangolare superiore, il suo polinomio caratteristico può essere riscritto in forma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acc>
                          <m:accPr>
                            <m:chr m:val="̃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it-IT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̃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acc>
                          <m:accPr>
                            <m:chr m:val="̃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sub>
                    </m:sSub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̃"/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acc>
                                  <m:accPr>
                                    <m:chr m:val="̃"/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</m:func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it-IT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r>
                                  <a:rPr lang="it-IT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it-IT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it-IT" i="1" dirty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it-IT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it-IT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it-IT" i="1" dirty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it-IT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it-IT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it-IT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i="1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it-IT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it-IT" dirty="0"/>
              </a:p>
              <a:p>
                <a:pPr marL="0" indent="0" algn="just">
                  <a:buNone/>
                </a:pPr>
                <a:r>
                  <a:rPr lang="it-IT" dirty="0"/>
                  <a:t>Risulta quindi evidente che gli </a:t>
                </a:r>
                <a:r>
                  <a:rPr lang="it-IT" dirty="0" err="1"/>
                  <a:t>autovalori</a:t>
                </a:r>
                <a:r>
                  <a:rPr lang="it-IT" dirty="0"/>
                  <a:t> della parte non raggiungibile non possono essere modificati mediante controllo in retroazione di stato  </a:t>
                </a:r>
              </a:p>
              <a:p>
                <a:pPr marL="0" indent="0" algn="just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981522"/>
                <a:ext cx="8784976" cy="5111774"/>
              </a:xfrm>
              <a:blipFill>
                <a:blip r:embed="rId2"/>
                <a:stretch>
                  <a:fillRect l="-577" t="-495" r="-57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92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03648" y="72008"/>
            <a:ext cx="7560840" cy="692696"/>
          </a:xfrm>
        </p:spPr>
        <p:txBody>
          <a:bodyPr/>
          <a:lstStyle/>
          <a:p>
            <a:r>
              <a:rPr lang="it-IT" dirty="0"/>
              <a:t>Assegnamento degli </a:t>
            </a:r>
            <a:r>
              <a:rPr lang="it-IT" dirty="0" err="1"/>
              <a:t>autovalori</a:t>
            </a:r>
            <a:r>
              <a:rPr lang="it-IT" dirty="0"/>
              <a:t> - raggiungibilità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981522"/>
                <a:ext cx="8784976" cy="5111774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it-IT" b="1" i="1" dirty="0">
                    <a:solidFill>
                      <a:srgbClr val="000000"/>
                    </a:solidFill>
                  </a:rPr>
                  <a:t>Dim. (condizione sufficiente) </a:t>
                </a:r>
                <a:r>
                  <a:rPr lang="it-IT" b="1" i="1" dirty="0" err="1">
                    <a:solidFill>
                      <a:srgbClr val="000000"/>
                    </a:solidFill>
                  </a:rPr>
                  <a:t>cont</a:t>
                </a:r>
                <a:r>
                  <a:rPr lang="it-IT" b="1" i="1" dirty="0">
                    <a:solidFill>
                      <a:srgbClr val="000000"/>
                    </a:solidFill>
                  </a:rPr>
                  <a:t>…</a:t>
                </a:r>
              </a:p>
              <a:p>
                <a:pPr marL="0" indent="0" algn="just">
                  <a:buNone/>
                </a:pPr>
                <a:r>
                  <a:rPr lang="it-IT" dirty="0"/>
                  <a:t>Supponendo una retroazione di stato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acc>
                      <m:accPr>
                        <m:chr m:val="̃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it-IT" dirty="0"/>
                  <a:t> con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𝐾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it-IT" dirty="0"/>
                  <a:t>, il sistema a ciclo chiuso può essere riscritto in seconda forma canonica di controllo: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it-IT" sz="1800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̃"/>
                              <m:ctrlPr>
                                <a:rPr lang="it-IT" sz="18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1800" b="1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</m:acc>
                      <m:d>
                        <m:dPr>
                          <m:ctrlPr>
                            <a:rPr lang="it-IT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1800" dirty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it-IT" sz="180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18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18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/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/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acc>
                        <m:accPr>
                          <m:chr m:val="̃"/>
                          <m:ctrlPr>
                            <a:rPr lang="it-IT" sz="1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it-IT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800" dirty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18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18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acc>
                        <m:accPr>
                          <m:chr m:val="̃"/>
                          <m:ctrlPr>
                            <a:rPr lang="it-IT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acc>
                        <m:accPr>
                          <m:chr m:val="̃"/>
                          <m:ctrlPr>
                            <a:rPr lang="it-IT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it-IT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it-IT" sz="1800" dirty="0"/>
              </a:p>
              <a:p>
                <a:pPr marL="0" indent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b="0" i="0" dirty="0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it-IT" sz="180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sz="1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it-IT" sz="1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6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it-IT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/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/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it-IT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1800" i="1" dirty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it-IT" sz="1800" i="1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it-IT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1800" i="1" dirty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it-IT" sz="18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/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/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it-IT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1800" i="1" dirty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it-IT" sz="1800" i="1" dirty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it-IT" sz="1800" i="1" dirty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it-IT" sz="1800" dirty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it-IT" sz="1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6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it-IT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18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18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/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it-IT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/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it-IT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it-IT" sz="1800" i="1" dirty="0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it-IT" sz="1800" b="0" i="1" dirty="0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it-IT" sz="1800" b="0" i="1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it-IT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it-IT" sz="1800" i="1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it-IT" sz="1800" i="1" dirty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it-IT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/>
                                  <m:e>
                                    <m:r>
                                      <a:rPr lang="it-IT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/>
                                  <m:e>
                                    <m:sSub>
                                      <m:sSubPr>
                                        <m:ctrlPr>
                                          <a:rPr lang="it-IT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it-IT" sz="18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it-IT" sz="18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it-IT" sz="1800" i="1" dirty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it-IT" sz="1800" i="1" dirty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  <m:acc>
                        <m:accPr>
                          <m:chr m:val="̃"/>
                          <m:ctrlPr>
                            <a:rPr lang="it-IT" sz="18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it-IT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it-IT" sz="1800" dirty="0"/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it-IT" sz="1000" dirty="0"/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it-IT" dirty="0"/>
                  <a:t>con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acc>
                          </m:e>
                          <m:sub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it-IT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  ,  </m:t>
                            </m:r>
                            <m:acc>
                              <m:accPr>
                                <m:chr m:val="̃"/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acc>
                          </m:e>
                          <m:sub>
                            <m:r>
                              <a:rPr lang="it-IT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  , …</m:t>
                        </m:r>
                        <m:sSub>
                          <m:sSubPr>
                            <m:ctrlPr>
                              <a:rPr lang="it-IT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  ,  </m:t>
                            </m:r>
                            <m:acc>
                              <m:accPr>
                                <m:chr m:val="̃"/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acc>
                          </m:e>
                          <m:sub>
                            <m:r>
                              <a:rPr lang="it-IT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it-IT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it-IT" dirty="0"/>
                  <a:t>.</a:t>
                </a:r>
              </a:p>
              <a:p>
                <a:pPr marL="0" indent="0" algn="just">
                  <a:buNone/>
                </a:pPr>
                <a:endParaRPr lang="it-IT" dirty="0">
                  <a:solidFill>
                    <a:schemeClr val="accent2"/>
                  </a:solidFill>
                </a:endParaRPr>
              </a:p>
              <a:p>
                <a:pPr marL="0" indent="0" algn="just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981522"/>
                <a:ext cx="8784976" cy="5111774"/>
              </a:xfrm>
              <a:blipFill>
                <a:blip r:embed="rId2"/>
                <a:stretch>
                  <a:fillRect l="-577" t="-495" r="-577" b="-1014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729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03648" y="72008"/>
            <a:ext cx="7560840" cy="692696"/>
          </a:xfrm>
        </p:spPr>
        <p:txBody>
          <a:bodyPr/>
          <a:lstStyle/>
          <a:p>
            <a:r>
              <a:rPr lang="it-IT" dirty="0"/>
              <a:t>Assegnamento degli </a:t>
            </a:r>
            <a:r>
              <a:rPr lang="it-IT" dirty="0" err="1"/>
              <a:t>autovalori</a:t>
            </a:r>
            <a:r>
              <a:rPr lang="it-IT" dirty="0"/>
              <a:t> - raggiungibilità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981522"/>
                <a:ext cx="8784976" cy="5111774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it-IT" b="1" i="1" dirty="0">
                    <a:solidFill>
                      <a:srgbClr val="000000"/>
                    </a:solidFill>
                  </a:rPr>
                  <a:t>Dim. (condizione sufficiente) </a:t>
                </a:r>
                <a:r>
                  <a:rPr lang="it-IT" b="1" i="1" dirty="0" err="1">
                    <a:solidFill>
                      <a:srgbClr val="000000"/>
                    </a:solidFill>
                  </a:rPr>
                  <a:t>cont</a:t>
                </a:r>
                <a:r>
                  <a:rPr lang="it-IT" b="1" i="1" dirty="0">
                    <a:solidFill>
                      <a:srgbClr val="000000"/>
                    </a:solidFill>
                  </a:rPr>
                  <a:t>…</a:t>
                </a:r>
              </a:p>
              <a:p>
                <a:pPr marL="0" indent="0" algn="just">
                  <a:buNone/>
                </a:pPr>
                <a:r>
                  <a:rPr lang="it-IT" dirty="0"/>
                  <a:t>Indichiamo 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it-IT" dirty="0"/>
                  <a:t>,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…, 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i coefficienti del polinomio caratteristico a ciclo chiuso desiderato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𝐵𝐾</m:t>
                          </m:r>
                        </m:sub>
                      </m:sSub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𝐵𝐾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it-IT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it-IT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𝑑𝑒𝑠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𝑑𝑒𝑠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…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𝑑𝑒𝑠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it-IT" dirty="0"/>
              </a:p>
              <a:p>
                <a:pPr marL="0" indent="0" algn="just">
                  <a:buNone/>
                </a:pPr>
                <a:r>
                  <a:rPr lang="it-IT" dirty="0"/>
                  <a:t>Risulta evidente che per assegnare gli </a:t>
                </a:r>
                <a:r>
                  <a:rPr lang="it-IT" dirty="0" err="1"/>
                  <a:t>autovalori</a:t>
                </a:r>
                <a:r>
                  <a:rPr lang="it-IT" dirty="0"/>
                  <a:t> desiderati è sufficiente scegliere: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it-IT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  <m:sub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  ,  </m:t>
                              </m:r>
                              <m:acc>
                                <m:accPr>
                                  <m:chr m:val="̃"/>
                                  <m:ctrlPr>
                                    <a:rPr lang="it-IT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  <m:sub>
                              <m:r>
                                <a:rPr lang="it-IT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  , …</m:t>
                          </m:r>
                          <m:sSub>
                            <m:sSub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  ,  </m:t>
                              </m:r>
                              <m:acc>
                                <m:accPr>
                                  <m:chr m:val="̃"/>
                                  <m:ctrlPr>
                                    <a:rPr lang="it-IT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  <m:sub>
                              <m:r>
                                <a:rPr lang="it-IT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it-IT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 =[</m:t>
                      </m:r>
                      <m:sSub>
                        <m:sSubPr>
                          <m:ctrlPr>
                            <a:rPr lang="it-IT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it-IT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it-IT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it-IT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…   </m:t>
                      </m:r>
                      <m:sSub>
                        <m:sSubPr>
                          <m:ctrlPr>
                            <a:rPr lang="it-IT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it-IT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it-IT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it-IT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it-IT" dirty="0"/>
              </a:p>
              <a:p>
                <a:pPr marL="0" indent="0" algn="just">
                  <a:buNone/>
                </a:pPr>
                <a:r>
                  <a:rPr lang="it-IT" dirty="0"/>
                  <a:t> Da cui, considerando il cambiamento di base iniziale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𝐾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r>
                      <a:rPr lang="it-IT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it-IT" dirty="0"/>
                  <a:t>, con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it-IT" sz="1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it-IT" sz="1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5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⋯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/>
                                      <m:e/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  <m:e/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⋰</m:t>
                                        </m:r>
                                      </m:e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⋰</m:t>
                                        </m:r>
                                      </m:e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/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⋯</m:t>
                                        </m:r>
                                      </m:e>
                                      <m:e/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it-IT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it-IT" sz="1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it-IT" dirty="0"/>
              </a:p>
              <a:p>
                <a:pPr marL="0" indent="0" algn="just">
                  <a:buNone/>
                </a:pPr>
                <a:endParaRPr lang="it-IT" dirty="0"/>
              </a:p>
              <a:p>
                <a:pPr marL="0" indent="0" algn="just">
                  <a:buNone/>
                </a:pPr>
                <a:endParaRPr lang="it-IT" dirty="0">
                  <a:solidFill>
                    <a:schemeClr val="accent2"/>
                  </a:solidFill>
                </a:endParaRPr>
              </a:p>
              <a:p>
                <a:pPr marL="0" indent="0" algn="just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981522"/>
                <a:ext cx="8784976" cy="5111774"/>
              </a:xfrm>
              <a:blipFill>
                <a:blip r:embed="rId2"/>
                <a:stretch>
                  <a:fillRect l="-577" t="-495" r="-577" b="-1163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17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03648" y="72008"/>
            <a:ext cx="7560840" cy="692696"/>
          </a:xfrm>
        </p:spPr>
        <p:txBody>
          <a:bodyPr/>
          <a:lstStyle/>
          <a:p>
            <a:r>
              <a:rPr lang="it-IT" dirty="0"/>
              <a:t>Esempio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981522"/>
            <a:ext cx="8784976" cy="5111774"/>
          </a:xfrm>
        </p:spPr>
        <p:txBody>
          <a:bodyPr/>
          <a:lstStyle/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endParaRPr lang="it-IT" dirty="0">
              <a:solidFill>
                <a:schemeClr val="accent2"/>
              </a:solidFill>
            </a:endParaRPr>
          </a:p>
          <a:p>
            <a:pPr marL="0" indent="0" algn="just">
              <a:buNone/>
            </a:pPr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tangolo 5">
                <a:extLst>
                  <a:ext uri="{FF2B5EF4-FFF2-40B4-BE49-F238E27FC236}">
                    <a16:creationId xmlns:a16="http://schemas.microsoft.com/office/drawing/2014/main" id="{B2CA46CE-65FC-2444-870B-A0C86D2319C3}"/>
                  </a:ext>
                </a:extLst>
              </p:cNvPr>
              <p:cNvSpPr/>
              <p:nvPr/>
            </p:nvSpPr>
            <p:spPr>
              <a:xfrm>
                <a:off x="122362" y="997479"/>
                <a:ext cx="8784976" cy="51073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Consideriamo un sistema dinamico nella forma:</a:t>
                </a:r>
              </a:p>
              <a:p>
                <a:pPr lvl="0" algn="just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:endParaRPr lang="it-IT" sz="2000" b="0" kern="0" dirty="0">
                  <a:solidFill>
                    <a:srgbClr val="000000"/>
                  </a:solidFill>
                  <a:latin typeface="Garamond"/>
                  <a:cs typeface="+mn-cs"/>
                </a:endParaRPr>
              </a:p>
              <a:p>
                <a:pPr lvl="0" algn="just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it-IT" sz="20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it-IT" sz="20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lang="it-IT" sz="20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it-IT" sz="20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kern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−5</m:t>
                                </m:r>
                              </m:e>
                            </m:mr>
                          </m:m>
                        </m:e>
                      </m:d>
                      <m:r>
                        <a:rPr lang="it-IT" sz="20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d>
                        <m:dPr>
                          <m:ctrlPr>
                            <a:rPr lang="it-IT" sz="20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it-IT" sz="20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lang="it-IT" sz="20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d>
                        <m:dPr>
                          <m:ctrlPr>
                            <a:rPr lang="it-IT" sz="20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kern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r>
                        <a:rPr lang="it-IT" sz="20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lang="it-IT" sz="20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it-IT" sz="20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it-IT" sz="2000" b="0" kern="0" dirty="0">
                  <a:solidFill>
                    <a:srgbClr val="000000"/>
                  </a:solidFill>
                  <a:latin typeface="Garamond"/>
                  <a:cs typeface="+mn-cs"/>
                </a:endParaRPr>
              </a:p>
              <a:p>
                <a:pPr lvl="0" algn="just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Progettare un controllore in retroazione di stato avente </a:t>
                </a:r>
                <a:r>
                  <a:rPr lang="it-IT" sz="2000" b="0" kern="0" dirty="0" err="1">
                    <a:solidFill>
                      <a:srgbClr val="000000"/>
                    </a:solidFill>
                    <a:latin typeface="Garamond"/>
                    <a:cs typeface="+mn-cs"/>
                  </a:rPr>
                  <a:t>autovalori</a:t>
                </a: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 desiderati a ciclo chiuso in:</a:t>
                </a:r>
              </a:p>
              <a:p>
                <a:pPr lvl="0" algn="ctr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1,2</m:t>
                          </m:r>
                        </m:sub>
                      </m:sSub>
                      <m:r>
                        <a:rPr lang="it-IT" sz="20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=−1</m:t>
                      </m:r>
                      <m:r>
                        <a:rPr lang="it-IT" sz="20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±2</m:t>
                      </m:r>
                      <m:r>
                        <a:rPr lang="it-IT" sz="20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𝑗</m:t>
                      </m:r>
                      <m:r>
                        <a:rPr lang="it-IT" sz="20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  ,   </m:t>
                      </m:r>
                      <m:sSub>
                        <m:sSubPr>
                          <m:ctrlP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lang="it-IT" sz="20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=−10</m:t>
                      </m:r>
                    </m:oMath>
                  </m:oMathPara>
                </a14:m>
                <a:endParaRPr lang="it-IT" sz="2000" b="0" kern="0" dirty="0">
                  <a:solidFill>
                    <a:srgbClr val="000000"/>
                  </a:solidFill>
                  <a:latin typeface="Garamond"/>
                  <a:cs typeface="+mn-cs"/>
                </a:endParaRPr>
              </a:p>
              <a:p>
                <a:pPr lvl="0" algn="just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Svolgere tale progettazione sia analiticamente che con l’ausilio del </a:t>
                </a:r>
                <a:r>
                  <a:rPr lang="it-IT" sz="2000" b="0" kern="0" dirty="0" err="1">
                    <a:solidFill>
                      <a:srgbClr val="000000"/>
                    </a:solidFill>
                    <a:latin typeface="Garamond"/>
                    <a:cs typeface="+mn-cs"/>
                  </a:rPr>
                  <a:t>Matlab</a:t>
                </a: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 e verificare le performance del sistema a ciclo chiuso a partire da uno stato iniziale </a:t>
                </a:r>
              </a:p>
              <a:p>
                <a:pPr lvl="0" algn="just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it-IT" sz="20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2  1  0</m:t>
                              </m:r>
                            </m:e>
                          </m:d>
                        </m:e>
                        <m:sup>
                          <m: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it-IT" sz="2000" b="0" kern="0" dirty="0">
                  <a:solidFill>
                    <a:srgbClr val="000000"/>
                  </a:solidFill>
                  <a:latin typeface="Garamond"/>
                  <a:cs typeface="+mn-cs"/>
                </a:endParaRPr>
              </a:p>
              <a:p>
                <a:pPr lvl="0" algn="ctr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:endParaRPr lang="it-IT" sz="2000" b="0" kern="0" dirty="0">
                  <a:solidFill>
                    <a:srgbClr val="000000"/>
                  </a:solidFill>
                  <a:latin typeface="Garamond"/>
                  <a:cs typeface="+mn-cs"/>
                </a:endParaRPr>
              </a:p>
            </p:txBody>
          </p:sp>
        </mc:Choice>
        <mc:Fallback xmlns="">
          <p:sp>
            <p:nvSpPr>
              <p:cNvPr id="6" name="Rettangolo 5">
                <a:extLst>
                  <a:ext uri="{FF2B5EF4-FFF2-40B4-BE49-F238E27FC236}">
                    <a16:creationId xmlns:a16="http://schemas.microsoft.com/office/drawing/2014/main" id="{B2CA46CE-65FC-2444-870B-A0C86D2319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62" y="997479"/>
                <a:ext cx="8784976" cy="5107360"/>
              </a:xfrm>
              <a:prstGeom prst="rect">
                <a:avLst/>
              </a:prstGeom>
              <a:blipFill>
                <a:blip r:embed="rId2"/>
                <a:stretch>
                  <a:fillRect l="-723" t="-744" r="-72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9967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03648" y="72008"/>
            <a:ext cx="7560840" cy="692696"/>
          </a:xfrm>
        </p:spPr>
        <p:txBody>
          <a:bodyPr/>
          <a:lstStyle/>
          <a:p>
            <a:r>
              <a:rPr lang="it-IT" dirty="0"/>
              <a:t>Esempio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1053530"/>
            <a:ext cx="8784976" cy="5111774"/>
          </a:xfrm>
        </p:spPr>
        <p:txBody>
          <a:bodyPr/>
          <a:lstStyle/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endParaRPr lang="it-IT" dirty="0">
              <a:solidFill>
                <a:schemeClr val="accent2"/>
              </a:solidFill>
            </a:endParaRPr>
          </a:p>
          <a:p>
            <a:pPr marL="0" indent="0" algn="just">
              <a:buNone/>
            </a:pPr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tangolo 5">
                <a:extLst>
                  <a:ext uri="{FF2B5EF4-FFF2-40B4-BE49-F238E27FC236}">
                    <a16:creationId xmlns:a16="http://schemas.microsoft.com/office/drawing/2014/main" id="{B2CA46CE-65FC-2444-870B-A0C86D2319C3}"/>
                  </a:ext>
                </a:extLst>
              </p:cNvPr>
              <p:cNvSpPr/>
              <p:nvPr/>
            </p:nvSpPr>
            <p:spPr>
              <a:xfrm>
                <a:off x="122362" y="997479"/>
                <a:ext cx="8784976" cy="53368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La matrice di raggiungibilità del sistema a ciclo aperto risulta</a:t>
                </a:r>
              </a:p>
              <a:p>
                <a:pPr lvl="0" algn="ctr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𝑀</m:t>
                        </m:r>
                      </m:e>
                      <m:sub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𝑟</m:t>
                        </m:r>
                      </m:sub>
                    </m:sSub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t-IT" sz="20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</m:e>
                            <m:e>
                              <m: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−30</m:t>
                              </m:r>
                            </m:e>
                          </m:mr>
                          <m:mr>
                            <m:e>
                              <m: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</m:e>
                            <m:e>
                              <m: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−25</m:t>
                              </m:r>
                            </m:e>
                            <m:e>
                              <m: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125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  </a:t>
                </a:r>
                <a14:m>
                  <m:oMath xmlns:m="http://schemas.openxmlformats.org/officeDocument/2006/math">
                    <m:r>
                      <a:rPr lang="it-IT" sz="20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→   </m:t>
                    </m:r>
                    <m:r>
                      <a:rPr lang="it-IT" sz="20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𝑟𝑎𝑛𝑘</m:t>
                    </m:r>
                    <m:d>
                      <m:dPr>
                        <m:ctrlPr>
                          <a:rPr lang="it-IT" sz="20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0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it-IT" sz="20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𝑀</m:t>
                            </m:r>
                          </m:e>
                          <m:sub>
                            <m:r>
                              <a:rPr lang="it-IT" sz="20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𝑟</m:t>
                            </m:r>
                          </m:sub>
                        </m:sSub>
                      </m:e>
                    </m:d>
                    <m:r>
                      <a:rPr lang="it-IT" sz="20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=3</m:t>
                    </m:r>
                  </m:oMath>
                </a14:m>
                <a:endParaRPr lang="it-IT" sz="2000" b="0" kern="0" dirty="0">
                  <a:solidFill>
                    <a:srgbClr val="000000"/>
                  </a:solidFill>
                  <a:latin typeface="Garamond"/>
                  <a:cs typeface="+mn-cs"/>
                </a:endParaRPr>
              </a:p>
              <a:p>
                <a:pPr lvl="0" algn="just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Il sistema risulta completamente raggiungibile ed è possibile portarlo in II forma canonica di controllo con la matrice di cambiamento di base</a:t>
                </a:r>
              </a:p>
              <a:p>
                <a:pPr lvl="0" algn="just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:endParaRPr lang="it-IT" sz="2000" b="0" kern="0" dirty="0">
                  <a:solidFill>
                    <a:srgbClr val="000000"/>
                  </a:solidFill>
                  <a:latin typeface="Garamond"/>
                  <a:cs typeface="+mn-cs"/>
                </a:endParaRPr>
              </a:p>
              <a:p>
                <a:pPr lvl="0" algn="ctr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it-IT" sz="1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it-IT" sz="1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it-IT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5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it-IT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it-IT" sz="2000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it-IT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it-IT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sz="2000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it-IT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it-IT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⋯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it-IT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sz="2000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it-IT" sz="20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it-IT" sz="2000" i="1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it-IT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it-IT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sz="2000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it-IT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/>
                                      <m:e/>
                                      <m:e>
                                        <m:r>
                                          <a:rPr lang="it-IT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it-IT" sz="20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it-IT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  <m:e/>
                                      <m:e>
                                        <m:r>
                                          <a:rPr lang="it-IT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⋰</m:t>
                                        </m:r>
                                      </m:e>
                                      <m:e>
                                        <m:r>
                                          <a:rPr lang="it-IT" sz="20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it-IT" sz="20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it-IT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sz="2000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it-IT" sz="20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it-IT" sz="2000" i="1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it-IT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⋰</m:t>
                                        </m:r>
                                      </m:e>
                                      <m:e>
                                        <m:r>
                                          <a:rPr lang="it-IT" sz="20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/>
                                      <m:e>
                                        <m:r>
                                          <a:rPr lang="it-IT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it-IT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it-IT" sz="20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it-IT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⋯</m:t>
                                        </m:r>
                                      </m:e>
                                      <m:e/>
                                      <m:e>
                                        <m:r>
                                          <a:rPr lang="it-IT" sz="20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it-IT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it-IT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it-IT" sz="20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it-IT" sz="2000" b="0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it-IT" sz="2000" b="0" i="1" kern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it-IT" sz="2000" b="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kern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it-IT" sz="2000" b="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it-IT" sz="2000" b="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it-IT" sz="2000" b="0" i="1" kern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it-IT" sz="2000" b="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it-IT" sz="2000" b="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it-IT" sz="20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20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it-IT" sz="20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+0.2</m:t>
                                </m:r>
                              </m:e>
                              <m:e>
                                <m:r>
                                  <a:rPr lang="it-IT" sz="20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−0.2</m:t>
                                </m:r>
                              </m:e>
                              <m:e>
                                <m:r>
                                  <a:rPr lang="it-IT" sz="20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+0.2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b="0" kern="0" dirty="0">
                  <a:solidFill>
                    <a:srgbClr val="000000"/>
                  </a:solidFill>
                  <a:latin typeface="Garamond"/>
                  <a:cs typeface="+mn-cs"/>
                </a:endParaRPr>
              </a:p>
            </p:txBody>
          </p:sp>
        </mc:Choice>
        <mc:Fallback xmlns="">
          <p:sp>
            <p:nvSpPr>
              <p:cNvPr id="6" name="Rettangolo 5">
                <a:extLst>
                  <a:ext uri="{FF2B5EF4-FFF2-40B4-BE49-F238E27FC236}">
                    <a16:creationId xmlns:a16="http://schemas.microsoft.com/office/drawing/2014/main" id="{B2CA46CE-65FC-2444-870B-A0C86D2319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62" y="997479"/>
                <a:ext cx="8784976" cy="5336846"/>
              </a:xfrm>
              <a:prstGeom prst="rect">
                <a:avLst/>
              </a:prstGeom>
              <a:blipFill>
                <a:blip r:embed="rId2"/>
                <a:stretch>
                  <a:fillRect l="-723" t="-713" r="-144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3535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03648" y="72008"/>
            <a:ext cx="7560840" cy="692696"/>
          </a:xfrm>
        </p:spPr>
        <p:txBody>
          <a:bodyPr/>
          <a:lstStyle/>
          <a:p>
            <a:r>
              <a:rPr lang="it-IT" dirty="0"/>
              <a:t>Esempio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981522"/>
            <a:ext cx="8784976" cy="5111774"/>
          </a:xfrm>
        </p:spPr>
        <p:txBody>
          <a:bodyPr/>
          <a:lstStyle/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endParaRPr lang="it-IT" dirty="0">
              <a:solidFill>
                <a:schemeClr val="accent2"/>
              </a:solidFill>
            </a:endParaRPr>
          </a:p>
          <a:p>
            <a:pPr marL="0" indent="0" algn="just">
              <a:buNone/>
            </a:pPr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tangolo 5">
                <a:extLst>
                  <a:ext uri="{FF2B5EF4-FFF2-40B4-BE49-F238E27FC236}">
                    <a16:creationId xmlns:a16="http://schemas.microsoft.com/office/drawing/2014/main" id="{B2CA46CE-65FC-2444-870B-A0C86D2319C3}"/>
                  </a:ext>
                </a:extLst>
              </p:cNvPr>
              <p:cNvSpPr/>
              <p:nvPr/>
            </p:nvSpPr>
            <p:spPr>
              <a:xfrm>
                <a:off x="122362" y="836712"/>
                <a:ext cx="8784976" cy="5587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La matrici (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𝐴</m:t>
                        </m:r>
                      </m:e>
                    </m:acc>
                    <m:r>
                      <a:rPr lang="it-IT" sz="20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acc>
                      <m:accPr>
                        <m:chr m:val="̃"/>
                        <m:ctrlPr>
                          <a:rPr lang="it-IT" sz="20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a:rPr lang="it-IT" sz="20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) nella nuova base risultano</a:t>
                </a:r>
              </a:p>
              <a:p>
                <a:pPr lvl="0" algn="just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𝐴</m:t>
                          </m:r>
                        </m:e>
                      </m:acc>
                      <m:r>
                        <a:rPr lang="it-IT" sz="20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kern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  <m:r>
                        <a:rPr lang="it-IT" sz="20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      ;      </m:t>
                      </m:r>
                      <m:acc>
                        <m:accPr>
                          <m:chr m:val="̃"/>
                          <m:ctrlPr>
                            <a:rPr lang="it-IT" sz="20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lang="it-IT" sz="20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𝐵</m:t>
                          </m:r>
                        </m:e>
                      </m:acc>
                      <m:r>
                        <a:rPr lang="it-IT" sz="20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kern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b="0" kern="0" dirty="0">
                  <a:solidFill>
                    <a:srgbClr val="000000"/>
                  </a:solidFill>
                  <a:latin typeface="Garamond"/>
                  <a:cs typeface="+mn-cs"/>
                </a:endParaRPr>
              </a:p>
              <a:p>
                <a:pPr lvl="0" algn="just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Quindi il polinomio caratteristico a ciclo aperto risulta</a:t>
                </a:r>
              </a:p>
              <a:p>
                <a:pPr lvl="0" algn="ctr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𝜆</m:t>
                        </m:r>
                      </m:e>
                    </m:d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lang="it-IT" sz="2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it-IT" sz="2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it-IT" sz="2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it-IT" sz="2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it-IT" sz="2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sz="2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2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𝑠</m:t>
                        </m:r>
                      </m:e>
                      <m:sup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p>
                    </m:sSup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+mn-cs"/>
                      </a:rPr>
                      <m:t>+6</m:t>
                    </m:r>
                    <m:sSup>
                      <m:sSup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𝑠</m:t>
                        </m:r>
                      </m:e>
                      <m:sup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+mn-cs"/>
                      </a:rPr>
                      <m:t>+5</m:t>
                    </m:r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+mn-cs"/>
                      </a:rPr>
                      <m:t>𝑠</m:t>
                    </m:r>
                  </m:oMath>
                </a14:m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.</a:t>
                </a:r>
              </a:p>
              <a:p>
                <a:pPr lvl="0" algn="just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Gli </a:t>
                </a:r>
                <a:r>
                  <a:rPr lang="it-IT" sz="2000" b="0" kern="0" dirty="0" err="1">
                    <a:solidFill>
                      <a:srgbClr val="000000"/>
                    </a:solidFill>
                    <a:latin typeface="Garamond"/>
                    <a:cs typeface="+mn-cs"/>
                  </a:rPr>
                  <a:t>autovalori</a:t>
                </a: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 a ciclo chiuso desiderati, definiscono un polinomio caratteristico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𝐵𝐾</m:t>
                          </m:r>
                        </m:sub>
                      </m:sSub>
                      <m:d>
                        <m:d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it-IT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it-IT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it-IT" sz="2000" b="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20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it-IT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it-IT" sz="20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it-IT" sz="20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it-IT" sz="2000" b="0" dirty="0"/>
                  <a:t>                                   </a:t>
                </a:r>
                <a14:m>
                  <m:oMath xmlns:m="http://schemas.openxmlformats.org/officeDocument/2006/math">
                    <m:r>
                      <a:rPr lang="it-IT" sz="20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it-IT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sz="20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sz="2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sz="2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it-IT" sz="2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it-IT" sz="20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it-IT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0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it-IT" sz="20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it-IT" sz="20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it-IT" sz="20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e>
                    </m:d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+10</m:t>
                        </m:r>
                      </m:e>
                    </m:d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sz="2000" dirty="0"/>
              </a:p>
              <a:p>
                <a:pPr marL="0" indent="0" algn="ctr">
                  <a:buNone/>
                </a:pPr>
                <a:endParaRPr lang="it-IT" sz="2000" b="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  =</m:t>
                      </m:r>
                      <m:sSup>
                        <m:sSupPr>
                          <m:ctrlPr>
                            <a:rPr lang="it-IT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+12</m:t>
                      </m:r>
                      <m:sSup>
                        <m:sSup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+25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+50</m:t>
                      </m:r>
                    </m:oMath>
                  </m:oMathPara>
                </a14:m>
                <a:endParaRPr lang="it-IT" sz="2000" b="0" dirty="0"/>
              </a:p>
              <a:p>
                <a:pPr marL="0" indent="0" algn="just">
                  <a:buNone/>
                </a:pP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Il controllore in retroazione di stato risulta infine </a:t>
                </a:r>
              </a:p>
              <a:p>
                <a:pPr lvl="0" algn="ctr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it-IT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r>
                        <a:rPr lang="it-IT" sz="2000" b="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2000" b="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sz="2000" b="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it-IT" sz="2000" b="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sz="2000" b="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it-IT" sz="2000" b="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it-IT" sz="2000" b="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</m:t>
                          </m:r>
                          <m:sSub>
                            <m:sSubPr>
                              <m:ctrlPr>
                                <a:rPr lang="it-IT" sz="2000" b="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sz="2000" b="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sz="2000" b="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sz="2000" b="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it-IT" sz="2000" b="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sz="2000" b="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sSub>
                            <m:sSubPr>
                              <m:ctrlPr>
                                <a:rPr lang="it-IT" sz="2000" b="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sz="20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t-IT" sz="2000" b="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sz="2000" b="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it-IT" sz="20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it-IT" sz="20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it-IT" sz="20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=[−10  −2.8  −1.2]</m:t>
                      </m:r>
                    </m:oMath>
                  </m:oMathPara>
                </a14:m>
                <a:endParaRPr lang="it-IT" sz="2000" b="0" kern="0" dirty="0">
                  <a:solidFill>
                    <a:srgbClr val="000000"/>
                  </a:solidFill>
                  <a:latin typeface="Garamond"/>
                  <a:cs typeface="+mn-cs"/>
                </a:endParaRPr>
              </a:p>
            </p:txBody>
          </p:sp>
        </mc:Choice>
        <mc:Fallback xmlns="">
          <p:sp>
            <p:nvSpPr>
              <p:cNvPr id="6" name="Rettangolo 5">
                <a:extLst>
                  <a:ext uri="{FF2B5EF4-FFF2-40B4-BE49-F238E27FC236}">
                    <a16:creationId xmlns:a16="http://schemas.microsoft.com/office/drawing/2014/main" id="{B2CA46CE-65FC-2444-870B-A0C86D2319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62" y="836712"/>
                <a:ext cx="8784976" cy="5587171"/>
              </a:xfrm>
              <a:prstGeom prst="rect">
                <a:avLst/>
              </a:prstGeom>
              <a:blipFill>
                <a:blip r:embed="rId2"/>
                <a:stretch>
                  <a:fillRect l="-723" t="-22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1962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03648" y="72008"/>
            <a:ext cx="7560840" cy="692696"/>
          </a:xfrm>
        </p:spPr>
        <p:txBody>
          <a:bodyPr/>
          <a:lstStyle/>
          <a:p>
            <a:r>
              <a:rPr lang="it-IT" dirty="0" err="1"/>
              <a:t>Stabilizzabilità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981522"/>
            <a:ext cx="8784976" cy="5111774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dirty="0"/>
              <a:t>Supponiamo che il sistema considerato non sia completamente raggiungibile. In tal caso gli </a:t>
            </a:r>
            <a:r>
              <a:rPr lang="it-IT" dirty="0" err="1"/>
              <a:t>autovalori</a:t>
            </a:r>
            <a:r>
              <a:rPr lang="it-IT" dirty="0"/>
              <a:t> della parte non raggiungibile dello stato non possono essere modificati mediante controllo in retroazione di stato  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it-IT" dirty="0"/>
          </a:p>
          <a:p>
            <a:r>
              <a:rPr lang="it-IT" dirty="0"/>
              <a:t>Se ci limitiamo a voler imporre l’appartenenza degli </a:t>
            </a:r>
            <a:r>
              <a:rPr lang="it-IT" dirty="0" err="1"/>
              <a:t>autovalori</a:t>
            </a:r>
            <a:r>
              <a:rPr lang="it-IT" dirty="0"/>
              <a:t> al semipiano della variabile complessa con parte reale minore di zero, è possibile almeno porsi il cosiddetto </a:t>
            </a:r>
            <a:r>
              <a:rPr lang="it-IT" b="1" dirty="0"/>
              <a:t>problema della stabilizzazione (mediante reazione dallo stato). </a:t>
            </a:r>
            <a:endParaRPr lang="it-IT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it-IT" dirty="0"/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it-IT" dirty="0">
              <a:solidFill>
                <a:schemeClr val="accent2"/>
              </a:solidFill>
            </a:endParaRP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42E00E0B-A4CE-2442-9AC8-D555FB383695}"/>
              </a:ext>
            </a:extLst>
          </p:cNvPr>
          <p:cNvSpPr/>
          <p:nvPr/>
        </p:nvSpPr>
        <p:spPr>
          <a:xfrm>
            <a:off x="179512" y="3513117"/>
            <a:ext cx="895642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it-IT" sz="2000" b="0" dirty="0">
              <a:latin typeface="+mn-lt"/>
              <a:cs typeface="+mn-cs"/>
            </a:endParaRPr>
          </a:p>
          <a:p>
            <a:endParaRPr lang="it-IT" sz="2000" b="0" dirty="0">
              <a:latin typeface="+mn-lt"/>
              <a:cs typeface="+mn-cs"/>
            </a:endParaRPr>
          </a:p>
          <a:p>
            <a:r>
              <a:rPr lang="it-IT" sz="2000" i="1" dirty="0"/>
              <a:t>Teorema: </a:t>
            </a:r>
            <a:r>
              <a:rPr lang="it-IT" sz="2000" i="1" dirty="0" err="1"/>
              <a:t>Stabilizzabilità</a:t>
            </a:r>
            <a:r>
              <a:rPr lang="it-IT" sz="2000" i="1" dirty="0"/>
              <a:t> </a:t>
            </a:r>
          </a:p>
          <a:p>
            <a:r>
              <a:rPr lang="it-IT" sz="2000" b="0" dirty="0">
                <a:latin typeface="+mn-lt"/>
                <a:cs typeface="+mn-cs"/>
              </a:rPr>
              <a:t>Il problema della stabilizzazione ha soluzione se e solo se gli </a:t>
            </a:r>
            <a:r>
              <a:rPr lang="it-IT" sz="2000" b="0" dirty="0" err="1">
                <a:latin typeface="+mn-lt"/>
                <a:cs typeface="+mn-cs"/>
              </a:rPr>
              <a:t>autovalori</a:t>
            </a:r>
            <a:r>
              <a:rPr lang="it-IT" sz="2000" b="0" dirty="0">
                <a:latin typeface="+mn-lt"/>
                <a:cs typeface="+mn-cs"/>
              </a:rPr>
              <a:t> associati alla sottomatrice A che caratterizza il sottosistema non raggiungibile nella scomposizione canonica di </a:t>
            </a:r>
            <a:r>
              <a:rPr lang="it-IT" sz="2000" b="0" dirty="0" err="1">
                <a:latin typeface="+mn-lt"/>
                <a:cs typeface="+mn-cs"/>
              </a:rPr>
              <a:t>Kalman</a:t>
            </a:r>
            <a:r>
              <a:rPr lang="it-IT" sz="2000" b="0" dirty="0">
                <a:latin typeface="+mn-lt"/>
                <a:cs typeface="+mn-cs"/>
              </a:rPr>
              <a:t> sono tutti a parte reale negativa.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7958B75-6C5B-4E43-9D4F-B80010C7C501}"/>
              </a:ext>
            </a:extLst>
          </p:cNvPr>
          <p:cNvSpPr/>
          <p:nvPr/>
        </p:nvSpPr>
        <p:spPr bwMode="auto">
          <a:xfrm>
            <a:off x="179512" y="4036595"/>
            <a:ext cx="8784976" cy="151433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092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03648" y="72008"/>
            <a:ext cx="7560840" cy="692696"/>
          </a:xfrm>
        </p:spPr>
        <p:txBody>
          <a:bodyPr/>
          <a:lstStyle/>
          <a:p>
            <a:r>
              <a:rPr lang="it-IT" dirty="0"/>
              <a:t>Formula di </a:t>
            </a:r>
            <a:r>
              <a:rPr lang="it-IT" dirty="0" err="1"/>
              <a:t>Ackermann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981522"/>
            <a:ext cx="8784976" cy="5111774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endParaRPr lang="it-IT" dirty="0"/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it-IT" dirty="0">
              <a:solidFill>
                <a:schemeClr val="accent2"/>
              </a:solidFill>
            </a:endParaRP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tangolo 3">
                <a:extLst>
                  <a:ext uri="{FF2B5EF4-FFF2-40B4-BE49-F238E27FC236}">
                    <a16:creationId xmlns:a16="http://schemas.microsoft.com/office/drawing/2014/main" id="{42E00E0B-A4CE-2442-9AC8-D555FB383695}"/>
                  </a:ext>
                </a:extLst>
              </p:cNvPr>
              <p:cNvSpPr/>
              <p:nvPr/>
            </p:nvSpPr>
            <p:spPr>
              <a:xfrm>
                <a:off x="179512" y="476672"/>
                <a:ext cx="8956426" cy="68634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it-IT" sz="2000" b="0" dirty="0">
                  <a:latin typeface="+mn-lt"/>
                  <a:cs typeface="+mn-cs"/>
                </a:endParaRPr>
              </a:p>
              <a:p>
                <a:endParaRPr lang="it-IT" sz="2000" b="0" dirty="0">
                  <a:latin typeface="+mn-lt"/>
                  <a:cs typeface="+mn-cs"/>
                </a:endParaRPr>
              </a:p>
              <a:p>
                <a:r>
                  <a:rPr lang="it-IT" sz="2000" i="1" dirty="0"/>
                  <a:t>Teorema: Formula di </a:t>
                </a:r>
                <a:r>
                  <a:rPr lang="it-IT" sz="2000" i="1" dirty="0" err="1"/>
                  <a:t>Ackermann</a:t>
                </a:r>
                <a:r>
                  <a:rPr lang="it-IT" sz="2000" i="1" dirty="0"/>
                  <a:t> </a:t>
                </a:r>
              </a:p>
              <a:p>
                <a:r>
                  <a:rPr lang="it-IT" sz="2000" b="0" dirty="0">
                    <a:latin typeface="+mn-lt"/>
                    <a:cs typeface="+mn-cs"/>
                  </a:rPr>
                  <a:t>Dato un sistema completamente raggiungibili ed </a:t>
                </a:r>
                <a:r>
                  <a:rPr lang="it-IT" sz="2000" b="0" dirty="0">
                    <a:latin typeface="+mn-lt"/>
                  </a:rPr>
                  <a:t>indicando 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sz="2000" b="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2000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it-IT" sz="2000" b="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it-IT" sz="2000" b="0" i="1">
                        <a:latin typeface="Cambria Math" panose="02040503050406030204" pitchFamily="18" charset="0"/>
                      </a:rPr>
                      <m:t>…, </m:t>
                    </m:r>
                    <m:sSub>
                      <m:sSubPr>
                        <m:ctrlPr>
                          <a:rPr lang="it-IT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it-IT" sz="20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2000" b="0" dirty="0">
                    <a:latin typeface="+mn-lt"/>
                  </a:rPr>
                  <a:t>i coefficienti del polinomio caratteristico a ciclo chiuso desiderato, il controllore in retroazione di stato </a:t>
                </a:r>
                <a14:m>
                  <m:oMath xmlns:m="http://schemas.openxmlformats.org/officeDocument/2006/math">
                    <m:r>
                      <a:rPr lang="it-IT" sz="2000" b="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it-IT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sz="20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000" b="0" i="1">
                        <a:latin typeface="Cambria Math" panose="02040503050406030204" pitchFamily="18" charset="0"/>
                      </a:rPr>
                      <m:t>𝐾𝑥</m:t>
                    </m:r>
                    <m:r>
                      <a:rPr lang="it-IT" sz="20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000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it-IT" sz="20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2000" b="0" dirty="0">
                    <a:latin typeface="+mn-lt"/>
                  </a:rPr>
                  <a:t> per l’assegnamento degli </a:t>
                </a:r>
                <a:r>
                  <a:rPr lang="it-IT" sz="2000" b="0" dirty="0" err="1">
                    <a:latin typeface="+mn-lt"/>
                  </a:rPr>
                  <a:t>autovalori</a:t>
                </a:r>
                <a:r>
                  <a:rPr lang="it-IT" sz="2000" b="0" dirty="0">
                    <a:latin typeface="+mn-lt"/>
                  </a:rPr>
                  <a:t> del sistema a ciclo chiuso presenta come matrice di guadagno:</a:t>
                </a:r>
              </a:p>
              <a:p>
                <a:endParaRPr lang="it-IT" sz="2000" b="0" dirty="0"/>
              </a:p>
              <a:p>
                <a:pPr algn="ctr"/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=−</m:t>
                    </m:r>
                    <m:acc>
                      <m:accPr>
                        <m:chr m:val="̅"/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</m:oMath>
                </a14:m>
                <a:r>
                  <a:rPr lang="it-IT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𝐵𝐾</m:t>
                        </m:r>
                      </m:sub>
                    </m:sSub>
                    <m:d>
                      <m:d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it-IT" sz="2000" b="0" dirty="0"/>
              </a:p>
              <a:p>
                <a:pPr algn="ctr"/>
                <a:endParaRPr lang="it-IT" sz="2000" b="0" dirty="0"/>
              </a:p>
              <a:p>
                <a:pPr algn="just"/>
                <a:r>
                  <a:rPr lang="it-IT" sz="2000" b="0" dirty="0"/>
                  <a:t>con </a:t>
                </a:r>
              </a:p>
              <a:p>
                <a:pPr algn="just"/>
                <a:endParaRPr lang="it-IT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it-IT" sz="20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0  0 …  0  1</m:t>
                          </m:r>
                        </m:e>
                      </m:d>
                      <m:sSubSup>
                        <m:sSubSup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it-IT" sz="2000" b="0" dirty="0"/>
              </a:p>
              <a:p>
                <a:r>
                  <a:rPr lang="it-IT" sz="2000" b="0" dirty="0"/>
                  <a:t>dove:</a:t>
                </a:r>
              </a:p>
              <a:p>
                <a:endParaRPr lang="it-IT" sz="2000" b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𝐵𝐾</m:t>
                        </m:r>
                      </m:sub>
                    </m:sSub>
                    <m:d>
                      <m:d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2000" b="0" dirty="0"/>
                  <a:t> è il polinomio caratteristico desiderato valutato in </a:t>
                </a:r>
                <a14:m>
                  <m:oMath xmlns:m="http://schemas.openxmlformats.org/officeDocument/2006/math">
                    <m:r>
                      <a:rPr lang="it-IT" sz="2000" b="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it-IT" sz="2000" b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it-IT" sz="2000" b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2000" b="0" dirty="0"/>
                  <a:t>è la matrice di raggiungibilità del sistema a ciclo aperto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it-IT" sz="2000" b="0" dirty="0"/>
              </a:p>
              <a:p>
                <a:endParaRPr lang="it-IT" sz="2000" b="0" dirty="0"/>
              </a:p>
              <a:p>
                <a:r>
                  <a:rPr lang="it-IT" sz="2000" b="0" dirty="0">
                    <a:latin typeface="+mn-lt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4" name="Rettangolo 3">
                <a:extLst>
                  <a:ext uri="{FF2B5EF4-FFF2-40B4-BE49-F238E27FC236}">
                    <a16:creationId xmlns:a16="http://schemas.microsoft.com/office/drawing/2014/main" id="{42E00E0B-A4CE-2442-9AC8-D555FB3836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476672"/>
                <a:ext cx="8956426" cy="6863417"/>
              </a:xfrm>
              <a:prstGeom prst="rect">
                <a:avLst/>
              </a:prstGeom>
              <a:blipFill>
                <a:blip r:embed="rId2"/>
                <a:stretch>
                  <a:fillRect l="-567" r="-11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>
            <a:extLst>
              <a:ext uri="{FF2B5EF4-FFF2-40B4-BE49-F238E27FC236}">
                <a16:creationId xmlns:a16="http://schemas.microsoft.com/office/drawing/2014/main" id="{2F80763E-410D-E843-873F-B37B5A38E7AB}"/>
              </a:ext>
            </a:extLst>
          </p:cNvPr>
          <p:cNvSpPr/>
          <p:nvPr/>
        </p:nvSpPr>
        <p:spPr bwMode="auto">
          <a:xfrm>
            <a:off x="107504" y="1053530"/>
            <a:ext cx="8956426" cy="539980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796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03648" y="72008"/>
            <a:ext cx="7560840" cy="692696"/>
          </a:xfrm>
        </p:spPr>
        <p:txBody>
          <a:bodyPr/>
          <a:lstStyle/>
          <a:p>
            <a:r>
              <a:rPr lang="it-IT" dirty="0"/>
              <a:t>Assegnamento degli </a:t>
            </a:r>
            <a:r>
              <a:rPr lang="it-IT" dirty="0" err="1"/>
              <a:t>autovalori</a:t>
            </a:r>
            <a:r>
              <a:rPr lang="it-IT" dirty="0"/>
              <a:t> - raggiungibilità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908720"/>
                <a:ext cx="8784976" cy="5111774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it-IT" b="1" i="1" dirty="0">
                    <a:solidFill>
                      <a:srgbClr val="000000"/>
                    </a:solidFill>
                  </a:rPr>
                  <a:t>Dim. </a:t>
                </a:r>
              </a:p>
              <a:p>
                <a:pPr marL="0" indent="0" algn="just">
                  <a:buNone/>
                </a:pPr>
                <a:r>
                  <a:rPr lang="it-IT" sz="2000" dirty="0"/>
                  <a:t>Premettiamo che, detto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acc>
                              <m:accPr>
                                <m:chr m:val="̅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 …</m:t>
                        </m:r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it-IT" dirty="0"/>
                  <a:t>abbiamo che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0  0 …  0  1</m:t>
                        </m:r>
                      </m:e>
                    </m:d>
                  </m:oMath>
                </a14:m>
                <a:r>
                  <a:rPr lang="it-IT" dirty="0"/>
                  <a:t> e, in base alla definizione di matrice di raggiungibilità:</a:t>
                </a:r>
              </a:p>
              <a:p>
                <a:pPr mar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̅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acc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mr>
                          <m:mr>
                            <m:e>
                              <m:acc>
                                <m:accPr>
                                  <m:chr m:val="̅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acc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mr>
                          <m:mr>
                            <m:e>
                              <m:r>
                                <a:rPr lang="it-I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acc>
                                <m:accPr>
                                  <m:chr m:val="̅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acc>
                              <m:sSup>
                                <m:sSup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mr>
                          <m:mr>
                            <m:e>
                              <m:acc>
                                <m:accPr>
                                  <m:chr m:val="̅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acc>
                              <m:sSup>
                                <m:sSup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it-IT" dirty="0"/>
                  <a:t> </a:t>
                </a:r>
              </a:p>
              <a:p>
                <a:pPr marL="0" indent="0" algn="just">
                  <a:buNone/>
                </a:pPr>
                <a:endParaRPr lang="it-IT" sz="2000" dirty="0"/>
              </a:p>
              <a:p>
                <a:pPr marL="0" indent="0" algn="just">
                  <a:buNone/>
                </a:pPr>
                <a:r>
                  <a:rPr lang="it-IT" dirty="0"/>
                  <a:t>Tale dimostrazione si basa sulla definizione di una forma alternativa della matrice di cambiamento di base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it-IT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𝑇𝑥</m:t>
                    </m:r>
                  </m:oMath>
                </a14:m>
                <a:r>
                  <a:rPr lang="it-IT" dirty="0"/>
                  <a:t> per portare il sistema in II forma canonica di controllabilità.</a:t>
                </a:r>
              </a:p>
              <a:p>
                <a:pPr marL="0" indent="0" algn="just">
                  <a:buNone/>
                </a:pPr>
                <a:r>
                  <a:rPr lang="it-IT" dirty="0"/>
                  <a:t>Detta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  <m:r>
                          <a:rPr lang="it-IT" i="1">
                            <a:latin typeface="Cambria Math" panose="02040503050406030204" pitchFamily="18" charset="0"/>
                          </a:rPr>
                          <m:t>  ;</m:t>
                        </m:r>
                        <m:acc>
                          <m:accPr>
                            <m:chr m:val="̅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  ;…   ;</m:t>
                        </m:r>
                        <m:acc>
                          <m:accPr>
                            <m:chr m:val="̅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  <m:sSup>
                          <m:s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 è possibile dimostrare che tale matrice invertibile porta il sistema in II forma canonica di controllabilità. Procediamo in modo costruttivo calcolando l’evoluzione delle singole componenti di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it-IT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   </m:t>
                        </m:r>
                        <m:acc>
                          <m:accPr>
                            <m:chr m:val="̅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  …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it-IT" dirty="0"/>
                  <a:t>.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908720"/>
                <a:ext cx="8784976" cy="5111774"/>
              </a:xfrm>
              <a:blipFill>
                <a:blip r:embed="rId2"/>
                <a:stretch>
                  <a:fillRect l="-577" t="-746" r="-1299" b="-139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18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03648" y="72008"/>
            <a:ext cx="7560840" cy="692696"/>
          </a:xfrm>
        </p:spPr>
        <p:txBody>
          <a:bodyPr/>
          <a:lstStyle/>
          <a:p>
            <a:r>
              <a:rPr lang="it-IT" dirty="0"/>
              <a:t>Assegnamento degli </a:t>
            </a:r>
            <a:r>
              <a:rPr lang="it-IT" dirty="0" err="1"/>
              <a:t>autovalori</a:t>
            </a:r>
            <a:r>
              <a:rPr lang="it-IT" dirty="0"/>
              <a:t> - raggiungibilità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836712"/>
                <a:ext cx="8784976" cy="5662165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it-IT" b="1" i="1" dirty="0">
                    <a:solidFill>
                      <a:srgbClr val="000000"/>
                    </a:solidFill>
                  </a:rPr>
                  <a:t>Dim. </a:t>
                </a:r>
              </a:p>
              <a:p>
                <a:pPr marL="0" indent="0" algn="just">
                  <a:buNone/>
                </a:pPr>
                <a:r>
                  <a:rPr lang="it-IT" dirty="0">
                    <a:solidFill>
                      <a:srgbClr val="000000"/>
                    </a:solidFill>
                  </a:rPr>
                  <a:t>In base al cambiamento di base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it-IT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it-IT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["/>
                        <m:endChr m:val="]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  <m:r>
                          <a:rPr lang="it-IT" i="1">
                            <a:latin typeface="Cambria Math" panose="02040503050406030204" pitchFamily="18" charset="0"/>
                          </a:rPr>
                          <m:t>  ;</m:t>
                        </m:r>
                        <m:acc>
                          <m:accPr>
                            <m:chr m:val="̅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  ;…   ;</m:t>
                        </m:r>
                        <m:acc>
                          <m:accPr>
                            <m:chr m:val="̅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  <m:sSup>
                          <m:s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it-IT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>
                    <a:solidFill>
                      <a:srgbClr val="000000"/>
                    </a:solidFill>
                  </a:rPr>
                  <a:t>, abbiamo che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it-I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nor/>
                              </m:rPr>
                              <a:rPr lang="it-IT" dirty="0"/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            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it-IT" dirty="0">
                                <a:solidFill>
                                  <a:srgbClr val="000000"/>
                                </a:solidFill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it-I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nor/>
                              </m:rPr>
                              <a:rPr lang="it-IT" dirty="0"/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𝐴𝑥</m:t>
                            </m:r>
                            <m:d>
                              <m:d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          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it-IT" dirty="0">
                                <a:solidFill>
                                  <a:srgbClr val="000000"/>
                                </a:solidFill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it-I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nor/>
                              </m:rPr>
                              <a:rPr lang="it-IT" dirty="0"/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  <m:sSup>
                              <m:sSup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       </m:t>
                            </m:r>
                            <m:r>
                              <m:rPr>
                                <m:nor/>
                              </m:rPr>
                              <a:rPr lang="it-IT" dirty="0">
                                <a:solidFill>
                                  <a:srgbClr val="000000"/>
                                </a:solidFill>
                              </a:rPr>
                              <m:t> </m:t>
                            </m:r>
                          </m:e>
                          <m:e>
                            <m:r>
                              <a:rPr lang="it-I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it-IT" dirty="0">
                                <a:solidFill>
                                  <a:srgbClr val="000000"/>
                                </a:solidFill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it-I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m:rPr>
                                <m:nor/>
                              </m:rPr>
                              <a:rPr lang="it-IT" dirty="0"/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  <m:sSup>
                              <m:sSup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it-IT" dirty="0">
                                <a:solidFill>
                                  <a:srgbClr val="000000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it-IT" b="0" i="0" dirty="0" smtClean="0">
                                <a:solidFill>
                                  <a:srgbClr val="000000"/>
                                </a:solidFill>
                              </a:rPr>
                              <m:t>   </m:t>
                            </m:r>
                          </m:e>
                        </m:eqArr>
                      </m:e>
                    </m:d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>
                    <a:solidFill>
                      <a:srgbClr val="000000"/>
                    </a:solidFill>
                  </a:rPr>
                  <a:t> </a:t>
                </a:r>
              </a:p>
              <a:p>
                <a:pPr marL="0" indent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dirty="0">
                  <a:solidFill>
                    <a:srgbClr val="000000"/>
                  </a:solidFill>
                </a:endParaRPr>
              </a:p>
              <a:p>
                <a:pPr marL="0" indent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dirty="0">
                    <a:solidFill>
                      <a:srgbClr val="000000"/>
                    </a:solidFill>
                  </a:rPr>
                  <a:t>Dato che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̃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acc>
                    <m:d>
                      <m:dPr>
                        <m:ctrlPr>
                          <a:rPr lang="it-IT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𝑇</m:t>
                    </m:r>
                    <m:acc>
                      <m:accPr>
                        <m:chr m:val="̇"/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it-IT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  <m:r>
                          <a:rPr lang="it-IT" i="1">
                            <a:latin typeface="Cambria Math" panose="02040503050406030204" pitchFamily="18" charset="0"/>
                          </a:rPr>
                          <m:t>  ;</m:t>
                        </m:r>
                        <m:acc>
                          <m:accPr>
                            <m:chr m:val="̅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  ;…   ;</m:t>
                        </m:r>
                        <m:acc>
                          <m:accPr>
                            <m:chr m:val="̅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  <m:sSup>
                          <m:s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acc>
                      <m:accPr>
                        <m:chr m:val="̇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it-IT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it-IT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acc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  <m:acc>
                              <m:accPr>
                                <m:chr m:val="̇"/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it-IT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it-IT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𝐴𝑥</m:t>
                                </m:r>
                                <m:d>
                                  <m:dPr>
                                    <m:ctrlPr>
                                      <a:rPr lang="it-IT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𝐵𝑢</m:t>
                                </m:r>
                                <m:d>
                                  <m:dPr>
                                    <m:ctrlPr>
                                      <a:rPr lang="it-IT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𝐴𝑥</m:t>
                            </m:r>
                            <m:d>
                              <m:d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it-I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it-IT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               </m:t>
                            </m:r>
                          </m:e>
                          <m:e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acc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acc>
                              <m:accPr>
                                <m:chr m:val="̇"/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it-IT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it-IT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𝐴𝑥</m:t>
                                </m:r>
                                <m:d>
                                  <m:dPr>
                                    <m:ctrlPr>
                                      <a:rPr lang="it-IT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𝐵𝑢</m:t>
                                </m:r>
                                <m:d>
                                  <m:dPr>
                                    <m:ctrlPr>
                                      <a:rPr lang="it-IT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  <m:sSup>
                              <m:sSup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it-I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it-IT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it-IT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       </m:t>
                            </m:r>
                          </m:e>
                          <m:e>
                            <m:r>
                              <a:rPr lang="it-I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acc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  <m:sSup>
                              <m:sSup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p>
                            </m:sSup>
                            <m:acc>
                              <m:accPr>
                                <m:chr m:val="̇"/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it-IT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it-IT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  <m:sSup>
                              <m:sSup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𝐴𝑥</m:t>
                                </m:r>
                                <m:d>
                                  <m:dPr>
                                    <m:ctrlPr>
                                      <a:rPr lang="it-IT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𝐵𝑢</m:t>
                                </m:r>
                                <m:d>
                                  <m:dPr>
                                    <m:ctrlPr>
                                      <a:rPr lang="it-IT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  <m:sSup>
                              <m:sSup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it-I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it-IT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e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acc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  <m:sSup>
                              <m:sSup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acc>
                              <m:accPr>
                                <m:chr m:val="̇"/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it-IT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it-IT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  <m:sSup>
                              <m:sSup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𝐴𝑥</m:t>
                                </m:r>
                                <m:d>
                                  <m:dPr>
                                    <m:ctrlPr>
                                      <a:rPr lang="it-IT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𝐵𝑢</m:t>
                                </m:r>
                                <m:d>
                                  <m:dPr>
                                    <m:ctrlPr>
                                      <a:rPr lang="it-IT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  <m:r>
                              <a:rPr lang="it-IT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acc>
                            <m:sSup>
                              <m:sSup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it-IT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it-IT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d>
                              <m:dPr>
                                <m:ctrlPr>
                                  <a:rPr lang="it-IT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it-IT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    </m:t>
                            </m:r>
                          </m:e>
                        </m:eqArr>
                      </m:e>
                    </m:d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>
                    <a:solidFill>
                      <a:srgbClr val="000000"/>
                    </a:solidFill>
                  </a:rPr>
                  <a:t>  </a:t>
                </a:r>
              </a:p>
              <a:p>
                <a:pPr marL="0" indent="0" algn="just">
                  <a:buNone/>
                </a:pPr>
                <a:endParaRPr lang="it-IT" dirty="0">
                  <a:solidFill>
                    <a:srgbClr val="000000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it-IT" i="1" dirty="0">
                    <a:solidFill>
                      <a:srgbClr val="000000"/>
                    </a:solidFill>
                  </a:rPr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it-IT" i="1" dirty="0"/>
                  <a:t> 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it-IT" i="1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836712"/>
                <a:ext cx="8784976" cy="5662165"/>
              </a:xfrm>
              <a:blipFill>
                <a:blip r:embed="rId2"/>
                <a:stretch>
                  <a:fillRect l="-577" t="-447" r="-1299" b="-2572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61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03648" y="72008"/>
            <a:ext cx="7560840" cy="692696"/>
          </a:xfrm>
        </p:spPr>
        <p:txBody>
          <a:bodyPr/>
          <a:lstStyle/>
          <a:p>
            <a:r>
              <a:rPr lang="it-IT" dirty="0"/>
              <a:t>Assegnamento degli </a:t>
            </a:r>
            <a:r>
              <a:rPr lang="it-IT" dirty="0" err="1"/>
              <a:t>autovalori</a:t>
            </a:r>
            <a:r>
              <a:rPr lang="it-IT" dirty="0"/>
              <a:t> - raggiungibilità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836712"/>
                <a:ext cx="8784976" cy="5662165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it-IT" b="1" i="1" dirty="0">
                    <a:solidFill>
                      <a:srgbClr val="000000"/>
                    </a:solidFill>
                  </a:rPr>
                  <a:t>Dim. </a:t>
                </a:r>
              </a:p>
              <a:p>
                <a:pPr marL="0" indent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dirty="0">
                    <a:solidFill>
                      <a:srgbClr val="000000"/>
                    </a:solidFill>
                  </a:rPr>
                  <a:t>Scrivendo tali relazioni in forma matriciale</a:t>
                </a:r>
              </a:p>
              <a:p>
                <a:pPr mar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dirty="0">
                  <a:solidFill>
                    <a:srgbClr val="000000"/>
                  </a:solidFill>
                </a:endParaRPr>
              </a:p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it-IT" i="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it-IT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̃"/>
                            <m:ctrlP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</m:acc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it-IT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it-IT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t-IT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/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/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/>
                            <m:e/>
                            <m:e>
                              <m:acc>
                                <m:accPr>
                                  <m:chr m:val="̅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acc>
                              <m:sSup>
                                <m:sSup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  <m:e/>
                            <m:e/>
                            <m:e/>
                          </m:mr>
                        </m:m>
                      </m:e>
                    </m:d>
                    <m:acc>
                      <m:accPr>
                        <m:chr m:val="̃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it-IT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t-IT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  <m:m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  <m:m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  <m:m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it-IT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it-IT" dirty="0"/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it-IT" dirty="0"/>
                  <a:t>Risulta evidente che il sistema è in II forma canonica di controllo dove il vettore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it-IT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it-IT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…   </m:t>
                    </m:r>
                    <m:sSub>
                      <m:sSubPr>
                        <m:ctrlP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it-IT" dirty="0"/>
                  <a:t> , vettore dei coefficiente del polinomio caratteristico di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it-IT" dirty="0"/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it-IT" dirty="0"/>
                  <a:t>Quindi, utilizzando una legge di controllo in retroazione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acc>
                      <m:accPr>
                        <m:chr m:val="̃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it-I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, al fine di  assicurare i modi di evoluzione a ciclo chiuso desiderati,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r>
                        <a:rPr lang="it-IT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it-IT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it-IT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it-IT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it-IT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…   </m:t>
                      </m:r>
                      <m:sSub>
                        <m:sSubPr>
                          <m:ctrlPr>
                            <a:rPr lang="it-IT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it-IT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it-IT" dirty="0"/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it-IT" dirty="0"/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it-IT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it-IT" i="1" dirty="0">
                  <a:solidFill>
                    <a:srgbClr val="000000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it-IT" i="1" dirty="0"/>
                  <a:t> 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it-IT" i="1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836712"/>
                <a:ext cx="8784976" cy="5662165"/>
              </a:xfrm>
              <a:blipFill>
                <a:blip r:embed="rId2"/>
                <a:stretch>
                  <a:fillRect l="-577" t="-447" r="-57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753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03648" y="72008"/>
            <a:ext cx="7560840" cy="692696"/>
          </a:xfrm>
        </p:spPr>
        <p:txBody>
          <a:bodyPr/>
          <a:lstStyle/>
          <a:p>
            <a:r>
              <a:rPr lang="it-IT" dirty="0"/>
              <a:t>Assegnamento degli </a:t>
            </a:r>
            <a:r>
              <a:rPr lang="it-IT" dirty="0" err="1"/>
              <a:t>autovalori</a:t>
            </a:r>
            <a:r>
              <a:rPr lang="it-IT" dirty="0"/>
              <a:t> - raggiungibilità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836712"/>
                <a:ext cx="8784976" cy="5662165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it-IT" b="1" i="1" dirty="0">
                    <a:solidFill>
                      <a:srgbClr val="000000"/>
                    </a:solidFill>
                  </a:rPr>
                  <a:t>Dim. </a:t>
                </a:r>
              </a:p>
              <a:p>
                <a:pPr marL="0" indent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dirty="0">
                    <a:solidFill>
                      <a:srgbClr val="000000"/>
                    </a:solidFill>
                  </a:rPr>
                  <a:t>Considerando che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acc>
                      <m:accPr>
                        <m:chr m:val="̃"/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it-IT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it-IT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r>
                      <a:rPr lang="it-IT" b="0" i="1" smtClean="0">
                        <a:latin typeface="Cambria Math" panose="02040503050406030204" pitchFamily="18" charset="0"/>
                      </a:rPr>
                      <m:t>𝑇𝑥</m:t>
                    </m:r>
                    <m:d>
                      <m:d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𝐾𝑥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it-IT" i="1" dirty="0">
                    <a:solidFill>
                      <a:srgbClr val="000000"/>
                    </a:solidFill>
                  </a:rPr>
                  <a:t> </a:t>
                </a:r>
              </a:p>
              <a:p>
                <a:pPr marL="0" indent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dirty="0">
                  <a:solidFill>
                    <a:srgbClr val="000000"/>
                  </a:solidFill>
                </a:endParaRPr>
              </a:p>
              <a:p>
                <a:pPr marL="0" indent="0" algn="just">
                  <a:buNone/>
                </a:pPr>
                <a:r>
                  <a:rPr lang="it-IT" b="0" dirty="0"/>
                  <a:t>	            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it-IT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  <m:sSup>
                          <m:s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  <m:sSub>
                              <m:sSub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…   </m:t>
                            </m:r>
                            <m:sSub>
                              <m:sSubPr>
                                <m:ctrlP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it-IT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it-IT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it-IT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b="0" dirty="0">
                    <a:solidFill>
                      <a:srgbClr val="000000"/>
                    </a:solidFill>
                  </a:rPr>
                  <a:t> </a:t>
                </a:r>
              </a:p>
              <a:p>
                <a:pPr marL="0" indent="0" algn="just">
                  <a:buNone/>
                </a:pPr>
                <a:r>
                  <a:rPr lang="it-IT" dirty="0">
                    <a:solidFill>
                      <a:srgbClr val="000000"/>
                    </a:solidFill>
                  </a:rPr>
                  <a:t> 			</a:t>
                </a:r>
                <a14:m>
                  <m:oMath xmlns:m="http://schemas.openxmlformats.org/officeDocument/2006/math"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it-IT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</m:t>
                        </m:r>
                        <m:sSub>
                          <m:sSubPr>
                            <m:ctrlP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…   </m:t>
                        </m:r>
                        <m:sSub>
                          <m:sSubPr>
                            <m:ctrlP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it-IT" dirty="0"/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it-IT" dirty="0">
                    <a:solidFill>
                      <a:srgbClr val="000000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it-IT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</m:t>
                        </m:r>
                        <m:sSub>
                          <m:sSubPr>
                            <m:ctrlP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…   </m:t>
                        </m:r>
                        <m:sSub>
                          <m:sSubPr>
                            <m:ctrlP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  <m:r>
                          <a:rPr lang="it-IT" i="1">
                            <a:latin typeface="Cambria Math" panose="02040503050406030204" pitchFamily="18" charset="0"/>
                          </a:rPr>
                          <m:t>  ;</m:t>
                        </m:r>
                        <m:acc>
                          <m:accPr>
                            <m:chr m:val="̅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  ;…   ;</m:t>
                        </m:r>
                        <m:acc>
                          <m:accPr>
                            <m:chr m:val="̅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  <m:sSup>
                          <m:s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 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it-IT" dirty="0">
                    <a:solidFill>
                      <a:srgbClr val="000000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  <m:r>
                      <a:rPr lang="it-IT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  <m:r>
                      <a:rPr lang="it-IT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…   </m:t>
                    </m:r>
                    <m:r>
                      <a:rPr lang="it-IT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it-IT" dirty="0"/>
                  <a:t> 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it-IT" dirty="0">
                    <a:solidFill>
                      <a:srgbClr val="000000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…  </m:t>
                    </m:r>
                    <m:r>
                      <a:rPr lang="it-IT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it-IT" dirty="0"/>
                  <a:t> 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it-IT" b="0" dirty="0"/>
                  <a:t>			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𝐵𝐾</m:t>
                        </m:r>
                      </m:sub>
                    </m:sSub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it-IT" dirty="0"/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it-IT" dirty="0"/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it-IT" dirty="0"/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it-IT" dirty="0"/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it-IT" dirty="0"/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it-IT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it-IT" i="1" dirty="0">
                  <a:solidFill>
                    <a:srgbClr val="000000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it-IT" i="1" dirty="0"/>
                  <a:t> 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it-IT" i="1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836712"/>
                <a:ext cx="8784976" cy="5662165"/>
              </a:xfrm>
              <a:blipFill>
                <a:blip r:embed="rId2"/>
                <a:stretch>
                  <a:fillRect l="-577" t="-447" b="-1633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74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03648" y="72008"/>
            <a:ext cx="7560840" cy="692696"/>
          </a:xfrm>
        </p:spPr>
        <p:txBody>
          <a:bodyPr/>
          <a:lstStyle/>
          <a:p>
            <a:r>
              <a:rPr lang="it-IT" dirty="0"/>
              <a:t>Unicità della matrice di assegnamento degli </a:t>
            </a:r>
            <a:r>
              <a:rPr lang="it-IT" dirty="0" err="1"/>
              <a:t>autovalori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981522"/>
            <a:ext cx="8784976" cy="5111774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endParaRPr lang="it-IT" dirty="0"/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it-IT" dirty="0">
              <a:solidFill>
                <a:schemeClr val="accent2"/>
              </a:solidFill>
            </a:endParaRP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tangolo 3">
                <a:extLst>
                  <a:ext uri="{FF2B5EF4-FFF2-40B4-BE49-F238E27FC236}">
                    <a16:creationId xmlns:a16="http://schemas.microsoft.com/office/drawing/2014/main" id="{42E00E0B-A4CE-2442-9AC8-D555FB383695}"/>
                  </a:ext>
                </a:extLst>
              </p:cNvPr>
              <p:cNvSpPr/>
              <p:nvPr/>
            </p:nvSpPr>
            <p:spPr>
              <a:xfrm>
                <a:off x="179512" y="476672"/>
                <a:ext cx="8956426" cy="47089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it-IT" sz="2000" b="0" dirty="0">
                  <a:latin typeface="+mn-lt"/>
                  <a:cs typeface="+mn-cs"/>
                </a:endParaRPr>
              </a:p>
              <a:p>
                <a:endParaRPr lang="it-IT" sz="2000" b="0" dirty="0">
                  <a:latin typeface="+mn-lt"/>
                  <a:cs typeface="+mn-cs"/>
                </a:endParaRPr>
              </a:p>
              <a:p>
                <a:r>
                  <a:rPr lang="it-IT" sz="2000" i="1" dirty="0"/>
                  <a:t>Teorema: Unicità della matrice di assegnamento degli </a:t>
                </a:r>
                <a:r>
                  <a:rPr lang="it-IT" sz="2000" i="1" dirty="0" err="1"/>
                  <a:t>autovalori</a:t>
                </a:r>
                <a:endParaRPr lang="it-IT" sz="2000" i="1" dirty="0"/>
              </a:p>
              <a:p>
                <a:r>
                  <a:rPr lang="it-IT" sz="2000" b="0" dirty="0">
                    <a:latin typeface="+mn-lt"/>
                    <a:cs typeface="+mn-cs"/>
                  </a:rPr>
                  <a:t>Dato un sistema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2000" i="1">
                            <a:latin typeface="Cambria Math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it-IT" sz="2000" i="1">
                        <a:latin typeface="Cambria Math"/>
                      </a:rPr>
                      <m:t>= </m:t>
                    </m:r>
                    <m:r>
                      <a:rPr lang="it-IT" sz="2000" i="1">
                        <a:latin typeface="Cambria Math"/>
                      </a:rPr>
                      <m:t>𝐴𝑥</m:t>
                    </m:r>
                    <m:d>
                      <m:d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it-IT" sz="2000" i="1">
                        <a:latin typeface="Cambria Math"/>
                      </a:rPr>
                      <m:t>+</m:t>
                    </m:r>
                    <m:r>
                      <a:rPr lang="it-IT" sz="2000" i="1">
                        <a:latin typeface="Cambria Math"/>
                      </a:rPr>
                      <m:t>𝐵𝑢</m:t>
                    </m:r>
                    <m:d>
                      <m:d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m:rPr>
                        <m:nor/>
                      </m:rPr>
                      <a:rPr lang="it-IT" sz="2000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2000" b="0" dirty="0">
                    <a:latin typeface="+mn-lt"/>
                    <a:cs typeface="+mn-cs"/>
                  </a:rPr>
                  <a:t>completamente raggiungibili ed </a:t>
                </a:r>
                <a:r>
                  <a:rPr lang="it-IT" sz="2000" b="0" dirty="0">
                    <a:latin typeface="+mn-lt"/>
                  </a:rPr>
                  <a:t>indicando 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it-IT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it-IT" sz="2000" b="0" i="0" dirty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it-IT" sz="2000" b="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t-IT" sz="2000" b="0" dirty="0">
                    <a:latin typeface="+mn-lt"/>
                  </a:rPr>
                  <a:t> due possibili matrici di controllo per retroazione di stato tali che i sistemi a ciclo chiuso</a:t>
                </a:r>
              </a:p>
              <a:p>
                <a:endParaRPr lang="it-IT" sz="2000" b="0" dirty="0"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000" i="1">
                              <a:latin typeface="Cambria Math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it-IT" sz="2000" i="1">
                          <a:latin typeface="Cambria Math"/>
                        </a:rPr>
                        <m:t>=</m:t>
                      </m:r>
                      <m:r>
                        <a:rPr lang="it-IT" sz="20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000" i="1">
                          <a:latin typeface="Cambria Math"/>
                        </a:rPr>
                        <m:t>𝐴</m:t>
                      </m:r>
                      <m:r>
                        <a:rPr lang="it-IT" sz="2000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2000" b="0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2000" b="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it-IT" sz="2000" i="1">
                          <a:latin typeface="Cambria Math"/>
                        </a:rPr>
                        <m:t>𝑥</m:t>
                      </m:r>
                      <m:d>
                        <m:d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i="1">
                              <a:latin typeface="Cambria Math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it-IT" sz="2000" dirty="0"/>
              </a:p>
              <a:p>
                <a:endParaRPr lang="it-IT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000" i="1">
                              <a:latin typeface="Cambria Math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it-IT" sz="2000" i="1">
                          <a:latin typeface="Cambria Math"/>
                        </a:rPr>
                        <m:t>=</m:t>
                      </m:r>
                      <m:r>
                        <a:rPr lang="it-IT" sz="20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000" i="1">
                          <a:latin typeface="Cambria Math"/>
                        </a:rPr>
                        <m:t>𝐴</m:t>
                      </m:r>
                      <m:r>
                        <a:rPr lang="it-IT" sz="2000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2000" b="0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sz="2000" b="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it-IT" sz="2000" i="1">
                          <a:latin typeface="Cambria Math"/>
                        </a:rPr>
                        <m:t>𝑥</m:t>
                      </m:r>
                      <m:d>
                        <m:d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i="1">
                              <a:latin typeface="Cambria Math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it-IT" sz="2000" dirty="0"/>
              </a:p>
              <a:p>
                <a:endParaRPr lang="it-IT" sz="2000" dirty="0"/>
              </a:p>
              <a:p>
                <a:endParaRPr lang="it-IT" sz="2000" dirty="0"/>
              </a:p>
              <a:p>
                <a:r>
                  <a:rPr lang="it-IT" sz="2000" b="0" dirty="0"/>
                  <a:t>abbiano gli stessi </a:t>
                </a:r>
                <a:r>
                  <a:rPr lang="it-IT" sz="2000" b="0" dirty="0" err="1"/>
                  <a:t>autovalori</a:t>
                </a:r>
                <a:r>
                  <a:rPr lang="it-IT" sz="2000" b="0" dirty="0"/>
                  <a:t>, allora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 dirty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it-IT" sz="2000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2000" b="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it-IT" sz="2000" b="0" dirty="0"/>
              </a:p>
              <a:p>
                <a:endParaRPr lang="it-IT" sz="2000" b="0" dirty="0"/>
              </a:p>
              <a:p>
                <a:r>
                  <a:rPr lang="it-IT" sz="2000" b="0" dirty="0">
                    <a:latin typeface="+mn-lt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4" name="Rettangolo 3">
                <a:extLst>
                  <a:ext uri="{FF2B5EF4-FFF2-40B4-BE49-F238E27FC236}">
                    <a16:creationId xmlns:a16="http://schemas.microsoft.com/office/drawing/2014/main" id="{42E00E0B-A4CE-2442-9AC8-D555FB3836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476672"/>
                <a:ext cx="8956426" cy="4708981"/>
              </a:xfrm>
              <a:prstGeom prst="rect">
                <a:avLst/>
              </a:prstGeom>
              <a:blipFill>
                <a:blip r:embed="rId2"/>
                <a:stretch>
                  <a:fillRect l="-567" r="-42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>
            <a:extLst>
              <a:ext uri="{FF2B5EF4-FFF2-40B4-BE49-F238E27FC236}">
                <a16:creationId xmlns:a16="http://schemas.microsoft.com/office/drawing/2014/main" id="{2F80763E-410D-E843-873F-B37B5A38E7AB}"/>
              </a:ext>
            </a:extLst>
          </p:cNvPr>
          <p:cNvSpPr/>
          <p:nvPr/>
        </p:nvSpPr>
        <p:spPr bwMode="auto">
          <a:xfrm>
            <a:off x="179512" y="1053530"/>
            <a:ext cx="8784976" cy="374362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332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Assegnamento degli </a:t>
            </a:r>
            <a:r>
              <a:rPr lang="it-IT" dirty="0" err="1"/>
              <a:t>autovalori</a:t>
            </a:r>
            <a:r>
              <a:rPr lang="it-IT" dirty="0"/>
              <a:t> vs approccio </a:t>
            </a:r>
            <a:r>
              <a:rPr lang="it-IT" dirty="0" err="1"/>
              <a:t>frequency</a:t>
            </a:r>
            <a:r>
              <a:rPr lang="it-IT" dirty="0"/>
              <a:t> </a:t>
            </a:r>
            <a:r>
              <a:rPr lang="it-IT" dirty="0" err="1"/>
              <a:t>shaping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5111774"/>
          </a:xfrm>
        </p:spPr>
        <p:txBody>
          <a:bodyPr/>
          <a:lstStyle/>
          <a:p>
            <a:pPr algn="just"/>
            <a:r>
              <a:rPr lang="it-IT" dirty="0"/>
              <a:t>La differenza sostanziale tra approccio </a:t>
            </a:r>
            <a:r>
              <a:rPr lang="it-IT" dirty="0" err="1"/>
              <a:t>frequency</a:t>
            </a:r>
            <a:r>
              <a:rPr lang="it-IT" dirty="0"/>
              <a:t> </a:t>
            </a:r>
            <a:r>
              <a:rPr lang="it-IT" dirty="0" err="1"/>
              <a:t>shaping</a:t>
            </a:r>
            <a:r>
              <a:rPr lang="it-IT" dirty="0"/>
              <a:t> (dominio di Laplace) e assegnamento degli </a:t>
            </a:r>
            <a:r>
              <a:rPr lang="it-IT" dirty="0" err="1"/>
              <a:t>autovalori</a:t>
            </a:r>
            <a:r>
              <a:rPr lang="it-IT" dirty="0"/>
              <a:t> (dominio del tempo) risiede nell’insieme delle informazioni che vengono utilizzate per la progettazione del controllore. </a:t>
            </a:r>
          </a:p>
          <a:p>
            <a:pPr algn="just"/>
            <a:r>
              <a:rPr lang="it-IT" b="1" dirty="0">
                <a:solidFill>
                  <a:schemeClr val="accent2"/>
                </a:solidFill>
              </a:rPr>
              <a:t>Nell’approccio </a:t>
            </a:r>
            <a:r>
              <a:rPr lang="it-IT" b="1" dirty="0" err="1">
                <a:solidFill>
                  <a:schemeClr val="accent2"/>
                </a:solidFill>
              </a:rPr>
              <a:t>frequency</a:t>
            </a:r>
            <a:r>
              <a:rPr lang="it-IT" b="1" dirty="0">
                <a:solidFill>
                  <a:schemeClr val="accent2"/>
                </a:solidFill>
              </a:rPr>
              <a:t> </a:t>
            </a:r>
            <a:r>
              <a:rPr lang="it-IT" b="1" dirty="0" err="1">
                <a:solidFill>
                  <a:schemeClr val="accent2"/>
                </a:solidFill>
              </a:rPr>
              <a:t>shaping</a:t>
            </a:r>
            <a:r>
              <a:rPr lang="it-IT" b="1" dirty="0">
                <a:solidFill>
                  <a:schemeClr val="accent2"/>
                </a:solidFill>
              </a:rPr>
              <a:t> </a:t>
            </a:r>
            <a:r>
              <a:rPr lang="it-IT" dirty="0"/>
              <a:t>abbiamo considerato</a:t>
            </a:r>
          </a:p>
          <a:p>
            <a:pPr algn="just"/>
            <a:endParaRPr lang="it-IT" dirty="0"/>
          </a:p>
          <a:p>
            <a:pPr algn="just"/>
            <a:endParaRPr lang="it-IT" dirty="0"/>
          </a:p>
          <a:p>
            <a:pPr algn="just"/>
            <a:endParaRPr lang="it-IT" dirty="0"/>
          </a:p>
          <a:p>
            <a:pPr lvl="1" algn="just"/>
            <a:r>
              <a:rPr lang="it-IT" dirty="0"/>
              <a:t>una descrizione del sistema nel dominio di Laplace; quindi solo i modi di evoluzione raggiungibili ed osservabili sono stati considerati nella progettazione</a:t>
            </a:r>
          </a:p>
          <a:p>
            <a:pPr lvl="1" algn="just"/>
            <a:r>
              <a:rPr lang="it-IT" dirty="0"/>
              <a:t>sistemi SISO supponendo che la sola uscita venisse utilizzata per la progettazione della legge di controllo</a:t>
            </a:r>
          </a:p>
          <a:p>
            <a:pPr algn="just"/>
            <a:r>
              <a:rPr lang="it-IT" dirty="0"/>
              <a:t>La mancanza della conoscenza dell’intero stato rende impossibile un controllo delle singole dinamiche del sistema. Nello stesso tempo, tale approccio permette di considerate diverse specifiche (regime, transitorio) e diverse relazioni ingresso uscita</a:t>
            </a:r>
          </a:p>
          <a:p>
            <a:pPr lvl="1" algn="just"/>
            <a:endParaRPr lang="it-IT" sz="2000" dirty="0"/>
          </a:p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grpSp>
        <p:nvGrpSpPr>
          <p:cNvPr id="18" name="Gruppo 33">
            <a:extLst>
              <a:ext uri="{FF2B5EF4-FFF2-40B4-BE49-F238E27FC236}">
                <a16:creationId xmlns:a16="http://schemas.microsoft.com/office/drawing/2014/main" id="{F2E551BF-ECAA-1547-885C-B36B9A86C1A6}"/>
              </a:ext>
            </a:extLst>
          </p:cNvPr>
          <p:cNvGrpSpPr>
            <a:grpSpLocks/>
          </p:cNvGrpSpPr>
          <p:nvPr/>
        </p:nvGrpSpPr>
        <p:grpSpPr bwMode="auto">
          <a:xfrm>
            <a:off x="1187624" y="2564904"/>
            <a:ext cx="6644711" cy="1368152"/>
            <a:chOff x="9081" y="1878422"/>
            <a:chExt cx="8927286" cy="2342666"/>
          </a:xfrm>
        </p:grpSpPr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76BAE3D6-5CA4-624C-8E15-4D60CDB400CF}"/>
                </a:ext>
              </a:extLst>
            </p:cNvPr>
            <p:cNvSpPr/>
            <p:nvPr/>
          </p:nvSpPr>
          <p:spPr>
            <a:xfrm>
              <a:off x="2123846" y="2492216"/>
              <a:ext cx="1584529" cy="7922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it-IT" dirty="0"/>
                <a:t>K(s)</a:t>
              </a:r>
            </a:p>
          </p:txBody>
        </p:sp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E0B6BC32-B382-504B-B176-63FD7A8F204C}"/>
                </a:ext>
              </a:extLst>
            </p:cNvPr>
            <p:cNvSpPr/>
            <p:nvPr/>
          </p:nvSpPr>
          <p:spPr>
            <a:xfrm>
              <a:off x="5148422" y="2492216"/>
              <a:ext cx="1584529" cy="7922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it-IT" dirty="0"/>
                <a:t>G(s)</a:t>
              </a:r>
            </a:p>
          </p:txBody>
        </p:sp>
        <p:cxnSp>
          <p:nvCxnSpPr>
            <p:cNvPr id="26" name="Connettore 2 25">
              <a:extLst>
                <a:ext uri="{FF2B5EF4-FFF2-40B4-BE49-F238E27FC236}">
                  <a16:creationId xmlns:a16="http://schemas.microsoft.com/office/drawing/2014/main" id="{1A162A9C-C7D3-CE42-A2A5-33C124D0E3AD}"/>
                </a:ext>
              </a:extLst>
            </p:cNvPr>
            <p:cNvCxnSpPr>
              <a:endCxn id="21" idx="1"/>
            </p:cNvCxnSpPr>
            <p:nvPr/>
          </p:nvCxnSpPr>
          <p:spPr>
            <a:xfrm>
              <a:off x="3708375" y="2889111"/>
              <a:ext cx="144004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2 26">
              <a:extLst>
                <a:ext uri="{FF2B5EF4-FFF2-40B4-BE49-F238E27FC236}">
                  <a16:creationId xmlns:a16="http://schemas.microsoft.com/office/drawing/2014/main" id="{B5F72007-B066-0142-9DA5-AD7C49AFB701}"/>
                </a:ext>
              </a:extLst>
            </p:cNvPr>
            <p:cNvCxnSpPr>
              <a:stCxn id="21" idx="3"/>
            </p:cNvCxnSpPr>
            <p:nvPr/>
          </p:nvCxnSpPr>
          <p:spPr>
            <a:xfrm>
              <a:off x="6732951" y="2889111"/>
              <a:ext cx="35882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2 27">
              <a:extLst>
                <a:ext uri="{FF2B5EF4-FFF2-40B4-BE49-F238E27FC236}">
                  <a16:creationId xmlns:a16="http://schemas.microsoft.com/office/drawing/2014/main" id="{B1CF5919-2E0F-DA4C-AC6E-F86500B962CB}"/>
                </a:ext>
              </a:extLst>
            </p:cNvPr>
            <p:cNvCxnSpPr/>
            <p:nvPr/>
          </p:nvCxnSpPr>
          <p:spPr>
            <a:xfrm>
              <a:off x="251942" y="2889111"/>
              <a:ext cx="79226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e 28">
              <a:extLst>
                <a:ext uri="{FF2B5EF4-FFF2-40B4-BE49-F238E27FC236}">
                  <a16:creationId xmlns:a16="http://schemas.microsoft.com/office/drawing/2014/main" id="{138576CB-F601-8E4A-99AB-A530BAEF3910}"/>
                </a:ext>
              </a:extLst>
            </p:cNvPr>
            <p:cNvSpPr/>
            <p:nvPr/>
          </p:nvSpPr>
          <p:spPr>
            <a:xfrm>
              <a:off x="1044207" y="2744641"/>
              <a:ext cx="287374" cy="28893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it-IT" dirty="0"/>
                <a:t>+</a:t>
              </a:r>
            </a:p>
          </p:txBody>
        </p:sp>
        <p:cxnSp>
          <p:nvCxnSpPr>
            <p:cNvPr id="30" name="Connettore 1 29">
              <a:extLst>
                <a:ext uri="{FF2B5EF4-FFF2-40B4-BE49-F238E27FC236}">
                  <a16:creationId xmlns:a16="http://schemas.microsoft.com/office/drawing/2014/main" id="{089EB3DC-C058-5C4E-9AA7-3ACA8E031B48}"/>
                </a:ext>
              </a:extLst>
            </p:cNvPr>
            <p:cNvCxnSpPr/>
            <p:nvPr/>
          </p:nvCxnSpPr>
          <p:spPr>
            <a:xfrm>
              <a:off x="7701152" y="3627334"/>
              <a:ext cx="0" cy="5937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30">
              <a:extLst>
                <a:ext uri="{FF2B5EF4-FFF2-40B4-BE49-F238E27FC236}">
                  <a16:creationId xmlns:a16="http://schemas.microsoft.com/office/drawing/2014/main" id="{B9EE9433-76F7-AB4F-A967-147D581B1A66}"/>
                </a:ext>
              </a:extLst>
            </p:cNvPr>
            <p:cNvCxnSpPr/>
            <p:nvPr/>
          </p:nvCxnSpPr>
          <p:spPr>
            <a:xfrm flipH="1">
              <a:off x="1187100" y="4221088"/>
              <a:ext cx="651405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2 31">
              <a:extLst>
                <a:ext uri="{FF2B5EF4-FFF2-40B4-BE49-F238E27FC236}">
                  <a16:creationId xmlns:a16="http://schemas.microsoft.com/office/drawing/2014/main" id="{29285D47-E825-5C46-82B8-46EAC857316E}"/>
                </a:ext>
              </a:extLst>
            </p:cNvPr>
            <p:cNvCxnSpPr>
              <a:endCxn id="29" idx="4"/>
            </p:cNvCxnSpPr>
            <p:nvPr/>
          </p:nvCxnSpPr>
          <p:spPr>
            <a:xfrm flipV="1">
              <a:off x="1187100" y="3033580"/>
              <a:ext cx="0" cy="118750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2 32">
              <a:extLst>
                <a:ext uri="{FF2B5EF4-FFF2-40B4-BE49-F238E27FC236}">
                  <a16:creationId xmlns:a16="http://schemas.microsoft.com/office/drawing/2014/main" id="{138228A9-E581-134C-9076-A752863F7B40}"/>
                </a:ext>
              </a:extLst>
            </p:cNvPr>
            <p:cNvCxnSpPr>
              <a:stCxn id="29" idx="6"/>
              <a:endCxn id="19" idx="1"/>
            </p:cNvCxnSpPr>
            <p:nvPr/>
          </p:nvCxnSpPr>
          <p:spPr>
            <a:xfrm>
              <a:off x="1331581" y="2889111"/>
              <a:ext cx="79226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CasellaDiTesto 19">
              <a:extLst>
                <a:ext uri="{FF2B5EF4-FFF2-40B4-BE49-F238E27FC236}">
                  <a16:creationId xmlns:a16="http://schemas.microsoft.com/office/drawing/2014/main" id="{B1AE95C6-3335-CA4B-B083-AFC904CB2A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545" y="2219168"/>
              <a:ext cx="35778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2400" dirty="0"/>
                <a:t>+</a:t>
              </a:r>
            </a:p>
          </p:txBody>
        </p:sp>
        <p:sp>
          <p:nvSpPr>
            <p:cNvPr id="35" name="CasellaDiTesto 20">
              <a:extLst>
                <a:ext uri="{FF2B5EF4-FFF2-40B4-BE49-F238E27FC236}">
                  <a16:creationId xmlns:a16="http://schemas.microsoft.com/office/drawing/2014/main" id="{AC41A5D6-8C02-8F47-9337-8E59B6A46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9366" y="2888940"/>
              <a:ext cx="2872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2400"/>
                <a:t>-</a:t>
              </a:r>
            </a:p>
          </p:txBody>
        </p:sp>
        <p:sp>
          <p:nvSpPr>
            <p:cNvPr id="36" name="CasellaDiTesto 21">
              <a:extLst>
                <a:ext uri="{FF2B5EF4-FFF2-40B4-BE49-F238E27FC236}">
                  <a16:creationId xmlns:a16="http://schemas.microsoft.com/office/drawing/2014/main" id="{F01DCD53-A16C-E54B-A583-166D895F56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6215" y="2248316"/>
              <a:ext cx="550152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600" dirty="0"/>
                <a:t>Y(s)</a:t>
              </a:r>
            </a:p>
          </p:txBody>
        </p:sp>
        <p:sp>
          <p:nvSpPr>
            <p:cNvPr id="37" name="Ovale 36">
              <a:extLst>
                <a:ext uri="{FF2B5EF4-FFF2-40B4-BE49-F238E27FC236}">
                  <a16:creationId xmlns:a16="http://schemas.microsoft.com/office/drawing/2014/main" id="{B9CC2022-C9C8-9049-9D1F-E053833684EC}"/>
                </a:ext>
              </a:extLst>
            </p:cNvPr>
            <p:cNvSpPr/>
            <p:nvPr/>
          </p:nvSpPr>
          <p:spPr>
            <a:xfrm>
              <a:off x="7091772" y="2744641"/>
              <a:ext cx="288962" cy="28893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it-IT" dirty="0"/>
                <a:t>+</a:t>
              </a:r>
            </a:p>
          </p:txBody>
        </p:sp>
        <p:cxnSp>
          <p:nvCxnSpPr>
            <p:cNvPr id="38" name="Connettore 2 37">
              <a:extLst>
                <a:ext uri="{FF2B5EF4-FFF2-40B4-BE49-F238E27FC236}">
                  <a16:creationId xmlns:a16="http://schemas.microsoft.com/office/drawing/2014/main" id="{94B18DDB-8B4B-6446-9E91-DBEA6879D682}"/>
                </a:ext>
              </a:extLst>
            </p:cNvPr>
            <p:cNvCxnSpPr>
              <a:endCxn id="37" idx="0"/>
            </p:cNvCxnSpPr>
            <p:nvPr/>
          </p:nvCxnSpPr>
          <p:spPr>
            <a:xfrm>
              <a:off x="7236254" y="2204864"/>
              <a:ext cx="0" cy="53977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2 38">
              <a:extLst>
                <a:ext uri="{FF2B5EF4-FFF2-40B4-BE49-F238E27FC236}">
                  <a16:creationId xmlns:a16="http://schemas.microsoft.com/office/drawing/2014/main" id="{419AA6AF-168E-2D4B-9E77-2CC501EE1C62}"/>
                </a:ext>
              </a:extLst>
            </p:cNvPr>
            <p:cNvCxnSpPr>
              <a:stCxn id="37" idx="6"/>
            </p:cNvCxnSpPr>
            <p:nvPr/>
          </p:nvCxnSpPr>
          <p:spPr>
            <a:xfrm flipV="1">
              <a:off x="7380734" y="2874822"/>
              <a:ext cx="1035183" cy="142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asellaDiTesto 31">
              <a:extLst>
                <a:ext uri="{FF2B5EF4-FFF2-40B4-BE49-F238E27FC236}">
                  <a16:creationId xmlns:a16="http://schemas.microsoft.com/office/drawing/2014/main" id="{F9619846-C409-F74D-93CF-B45BBB2DCB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910" y="2001720"/>
              <a:ext cx="550152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600" dirty="0"/>
                <a:t>U(s)</a:t>
              </a:r>
            </a:p>
          </p:txBody>
        </p:sp>
        <p:sp>
          <p:nvSpPr>
            <p:cNvPr id="41" name="CasellaDiTesto 37">
              <a:extLst>
                <a:ext uri="{FF2B5EF4-FFF2-40B4-BE49-F238E27FC236}">
                  <a16:creationId xmlns:a16="http://schemas.microsoft.com/office/drawing/2014/main" id="{F64C4DEE-DC7B-F74C-947A-2638F85FB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81" y="2001720"/>
              <a:ext cx="550222" cy="338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600" dirty="0"/>
                <a:t>R(s)</a:t>
              </a:r>
            </a:p>
          </p:txBody>
        </p:sp>
        <p:sp>
          <p:nvSpPr>
            <p:cNvPr id="42" name="CasellaDiTesto 38">
              <a:extLst>
                <a:ext uri="{FF2B5EF4-FFF2-40B4-BE49-F238E27FC236}">
                  <a16:creationId xmlns:a16="http://schemas.microsoft.com/office/drawing/2014/main" id="{18427DA5-27E8-E64E-9936-E760026C28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5036" y="1878422"/>
              <a:ext cx="550152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600" dirty="0"/>
                <a:t>D(s)</a:t>
              </a:r>
            </a:p>
          </p:txBody>
        </p:sp>
        <p:sp>
          <p:nvSpPr>
            <p:cNvPr id="43" name="CasellaDiTesto 39">
              <a:extLst>
                <a:ext uri="{FF2B5EF4-FFF2-40B4-BE49-F238E27FC236}">
                  <a16:creationId xmlns:a16="http://schemas.microsoft.com/office/drawing/2014/main" id="{241F44F4-25ED-9349-BB4B-CC45F2669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0334" y="2001720"/>
              <a:ext cx="527710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it-IT" altLang="it-IT" sz="1600" dirty="0"/>
                <a:t>E(s)</a:t>
              </a:r>
            </a:p>
          </p:txBody>
        </p:sp>
      </p:grpSp>
      <p:sp>
        <p:nvSpPr>
          <p:cNvPr id="44" name="Ovale 43">
            <a:extLst>
              <a:ext uri="{FF2B5EF4-FFF2-40B4-BE49-F238E27FC236}">
                <a16:creationId xmlns:a16="http://schemas.microsoft.com/office/drawing/2014/main" id="{7303782F-3B99-9D4B-91BE-B5F551D73202}"/>
              </a:ext>
            </a:extLst>
          </p:cNvPr>
          <p:cNvSpPr/>
          <p:nvPr/>
        </p:nvSpPr>
        <p:spPr bwMode="auto">
          <a:xfrm>
            <a:off x="6802110" y="3424681"/>
            <a:ext cx="215079" cy="1687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it-IT" dirty="0"/>
              <a:t>+</a:t>
            </a:r>
          </a:p>
        </p:txBody>
      </p:sp>
      <p:sp>
        <p:nvSpPr>
          <p:cNvPr id="45" name="CasellaDiTesto 38">
            <a:extLst>
              <a:ext uri="{FF2B5EF4-FFF2-40B4-BE49-F238E27FC236}">
                <a16:creationId xmlns:a16="http://schemas.microsoft.com/office/drawing/2014/main" id="{070E61B6-BE30-D643-B9C8-6C0BA147B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6825" y="3590398"/>
            <a:ext cx="64021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600" dirty="0"/>
              <a:t>N(s)</a:t>
            </a:r>
          </a:p>
        </p:txBody>
      </p: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2342D618-FA95-704F-8DB6-C12B4DC72951}"/>
              </a:ext>
            </a:extLst>
          </p:cNvPr>
          <p:cNvCxnSpPr>
            <a:endCxn id="44" idx="0"/>
          </p:cNvCxnSpPr>
          <p:nvPr/>
        </p:nvCxnSpPr>
        <p:spPr bwMode="auto">
          <a:xfrm>
            <a:off x="6909649" y="3155162"/>
            <a:ext cx="1" cy="2695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A50FC4EA-6E01-6F48-B67F-C6D0DDBBD884}"/>
              </a:ext>
            </a:extLst>
          </p:cNvPr>
          <p:cNvCxnSpPr/>
          <p:nvPr/>
        </p:nvCxnSpPr>
        <p:spPr bwMode="auto">
          <a:xfrm flipH="1">
            <a:off x="7020154" y="3510589"/>
            <a:ext cx="69821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023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Assegnamento degli </a:t>
            </a:r>
            <a:r>
              <a:rPr lang="it-IT" dirty="0" err="1"/>
              <a:t>autovalori</a:t>
            </a:r>
            <a:r>
              <a:rPr lang="it-IT" dirty="0"/>
              <a:t> vs approccio </a:t>
            </a:r>
            <a:r>
              <a:rPr lang="it-IT" dirty="0" err="1"/>
              <a:t>frequency</a:t>
            </a:r>
            <a:r>
              <a:rPr lang="it-IT" dirty="0"/>
              <a:t> </a:t>
            </a:r>
            <a:r>
              <a:rPr lang="it-IT" dirty="0" err="1"/>
              <a:t>shaping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981522"/>
                <a:ext cx="8784976" cy="5111774"/>
              </a:xfrm>
            </p:spPr>
            <p:txBody>
              <a:bodyPr/>
              <a:lstStyle/>
              <a:p>
                <a:r>
                  <a:rPr lang="it-IT" b="1" dirty="0">
                    <a:solidFill>
                      <a:schemeClr val="accent2"/>
                    </a:solidFill>
                  </a:rPr>
                  <a:t>Con la tecnica di assegnamento degli </a:t>
                </a:r>
                <a:r>
                  <a:rPr lang="it-IT" b="1" dirty="0" err="1">
                    <a:solidFill>
                      <a:schemeClr val="accent2"/>
                    </a:solidFill>
                  </a:rPr>
                  <a:t>autovalori</a:t>
                </a:r>
                <a:r>
                  <a:rPr lang="it-IT" b="1" dirty="0">
                    <a:solidFill>
                      <a:schemeClr val="accent2"/>
                    </a:solidFill>
                  </a:rPr>
                  <a:t> </a:t>
                </a:r>
                <a:r>
                  <a:rPr lang="it-IT" dirty="0"/>
                  <a:t>abbiamo supposto</a:t>
                </a:r>
              </a:p>
              <a:p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  <a:p>
                <a:pPr lvl="1"/>
                <a:endParaRPr lang="it-IT" dirty="0"/>
              </a:p>
              <a:p>
                <a:pPr lvl="1"/>
                <a:r>
                  <a:rPr lang="it-IT" dirty="0"/>
                  <a:t>conoscenza del sistema nel dominio del tempo. In questo caso, l’ipotesi di raggiungibilità risulta necessaria per implementare la tecnica di controllo</a:t>
                </a:r>
              </a:p>
              <a:p>
                <a:pPr lvl="1"/>
                <a:r>
                  <a:rPr lang="it-IT" dirty="0"/>
                  <a:t>La retroazione dell’intero vettore di stato. Quindi, in una rappresentazione i-</a:t>
                </a:r>
                <a:r>
                  <a:rPr lang="it-IT" dirty="0" err="1"/>
                  <a:t>s</a:t>
                </a:r>
                <a:r>
                  <a:rPr lang="it-IT" dirty="0"/>
                  <a:t>-u, abbiamo supposto di avere sistemi SIMO con </a:t>
                </a:r>
              </a:p>
              <a:p>
                <a:pPr marL="914400" lvl="2" indent="0" algn="ctr">
                  <a:buNone/>
                </a:pPr>
                <a14:m>
                  <m:oMath xmlns:m="http://schemas.openxmlformats.org/officeDocument/2006/math"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𝐶𝑥</m:t>
                    </m:r>
                    <m:d>
                      <m:d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𝑐𝑜𝑛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it-IT" sz="1800" dirty="0"/>
                  <a:t>  </a:t>
                </a:r>
              </a:p>
              <a:p>
                <a:pPr algn="just"/>
                <a:r>
                  <a:rPr lang="it-IT" dirty="0"/>
                  <a:t>Tale approccio permette di assegnare tutte le dinamiche del sistema ma è difficilmente compatibile con il soddisfacimento di altre specifiche di controllo</a:t>
                </a: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981522"/>
                <a:ext cx="8784976" cy="5111774"/>
              </a:xfrm>
              <a:blipFill>
                <a:blip r:embed="rId2"/>
                <a:stretch>
                  <a:fillRect l="-433" t="-495" r="-1299" b="-17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79CA5E38-9144-EB4C-B7C0-49C363DB2A5A}"/>
              </a:ext>
            </a:extLst>
          </p:cNvPr>
          <p:cNvGrpSpPr/>
          <p:nvPr/>
        </p:nvGrpSpPr>
        <p:grpSpPr>
          <a:xfrm>
            <a:off x="1467085" y="1556792"/>
            <a:ext cx="6552730" cy="1430392"/>
            <a:chOff x="1547662" y="4895216"/>
            <a:chExt cx="6552730" cy="1430392"/>
          </a:xfrm>
        </p:grpSpPr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19DF9AF8-0EA2-374D-9B5E-1B4BEDD7DE0F}"/>
                </a:ext>
              </a:extLst>
            </p:cNvPr>
            <p:cNvSpPr/>
            <p:nvPr/>
          </p:nvSpPr>
          <p:spPr bwMode="auto">
            <a:xfrm>
              <a:off x="2555776" y="5229200"/>
              <a:ext cx="1512168" cy="50405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K</a:t>
              </a:r>
            </a:p>
          </p:txBody>
        </p:sp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46C8614C-13A3-754A-8C6D-C4E92712D7E1}"/>
                </a:ext>
              </a:extLst>
            </p:cNvPr>
            <p:cNvSpPr/>
            <p:nvPr/>
          </p:nvSpPr>
          <p:spPr bwMode="auto">
            <a:xfrm>
              <a:off x="5076058" y="5214870"/>
              <a:ext cx="1512168" cy="50405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Sistema</a:t>
              </a:r>
            </a:p>
          </p:txBody>
        </p:sp>
        <p:cxnSp>
          <p:nvCxnSpPr>
            <p:cNvPr id="9" name="Connettore 2 8">
              <a:extLst>
                <a:ext uri="{FF2B5EF4-FFF2-40B4-BE49-F238E27FC236}">
                  <a16:creationId xmlns:a16="http://schemas.microsoft.com/office/drawing/2014/main" id="{D6FC4946-4BDD-C446-A81B-A9F940CA9540}"/>
                </a:ext>
              </a:extLst>
            </p:cNvPr>
            <p:cNvCxnSpPr>
              <a:stCxn id="4" idx="3"/>
              <a:endCxn id="8" idx="1"/>
            </p:cNvCxnSpPr>
            <p:nvPr/>
          </p:nvCxnSpPr>
          <p:spPr bwMode="auto">
            <a:xfrm flipV="1">
              <a:off x="4067944" y="5466898"/>
              <a:ext cx="1008114" cy="1433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" name="Connettore 2 9">
              <a:extLst>
                <a:ext uri="{FF2B5EF4-FFF2-40B4-BE49-F238E27FC236}">
                  <a16:creationId xmlns:a16="http://schemas.microsoft.com/office/drawing/2014/main" id="{39166B52-2B07-1548-8AC9-F44CB3166C1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88226" y="5466898"/>
              <a:ext cx="1512166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" name="Connettore 2 11">
              <a:extLst>
                <a:ext uri="{FF2B5EF4-FFF2-40B4-BE49-F238E27FC236}">
                  <a16:creationId xmlns:a16="http://schemas.microsoft.com/office/drawing/2014/main" id="{A553034B-635D-C743-81BA-5873E8253091}"/>
                </a:ext>
              </a:extLst>
            </p:cNvPr>
            <p:cNvCxnSpPr/>
            <p:nvPr/>
          </p:nvCxnSpPr>
          <p:spPr bwMode="auto">
            <a:xfrm flipV="1">
              <a:off x="1547662" y="5452568"/>
              <a:ext cx="1008114" cy="1433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" name="Connettore 1 13">
              <a:extLst>
                <a:ext uri="{FF2B5EF4-FFF2-40B4-BE49-F238E27FC236}">
                  <a16:creationId xmlns:a16="http://schemas.microsoft.com/office/drawing/2014/main" id="{367ACA51-9BA0-A145-8169-16398EE4C2A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32142" y="5713540"/>
              <a:ext cx="0" cy="61206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Connettore 1 14">
              <a:extLst>
                <a:ext uri="{FF2B5EF4-FFF2-40B4-BE49-F238E27FC236}">
                  <a16:creationId xmlns:a16="http://schemas.microsoft.com/office/drawing/2014/main" id="{5E1D8B5A-0FE3-5444-87AF-343EF0BC993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547662" y="6310114"/>
              <a:ext cx="4284480" cy="154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Connettore 1 19">
              <a:extLst>
                <a:ext uri="{FF2B5EF4-FFF2-40B4-BE49-F238E27FC236}">
                  <a16:creationId xmlns:a16="http://schemas.microsoft.com/office/drawing/2014/main" id="{25FCAFFE-DCF3-1540-B796-5D4C8A5A181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547662" y="5459733"/>
              <a:ext cx="0" cy="86587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ttangolo 21">
                  <a:extLst>
                    <a:ext uri="{FF2B5EF4-FFF2-40B4-BE49-F238E27FC236}">
                      <a16:creationId xmlns:a16="http://schemas.microsoft.com/office/drawing/2014/main" id="{6DCFFCFD-21DB-EF4C-8911-D6715B56B35D}"/>
                    </a:ext>
                  </a:extLst>
                </p:cNvPr>
                <p:cNvSpPr/>
                <p:nvPr/>
              </p:nvSpPr>
              <p:spPr>
                <a:xfrm>
                  <a:off x="7184753" y="4900415"/>
                  <a:ext cx="82317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i="1">
                            <a:latin typeface="Cambria Math"/>
                          </a:rPr>
                          <m:t>𝑦</m:t>
                        </m:r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22" name="Rettangolo 21">
                  <a:extLst>
                    <a:ext uri="{FF2B5EF4-FFF2-40B4-BE49-F238E27FC236}">
                      <a16:creationId xmlns:a16="http://schemas.microsoft.com/office/drawing/2014/main" id="{6DCFFCFD-21DB-EF4C-8911-D6715B56B3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4753" y="4900415"/>
                  <a:ext cx="823174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8108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ttangolo 22">
                  <a:extLst>
                    <a:ext uri="{FF2B5EF4-FFF2-40B4-BE49-F238E27FC236}">
                      <a16:creationId xmlns:a16="http://schemas.microsoft.com/office/drawing/2014/main" id="{7FAC19A1-6E3D-0D42-9F4F-5AC8291CE8D0}"/>
                    </a:ext>
                  </a:extLst>
                </p:cNvPr>
                <p:cNvSpPr/>
                <p:nvPr/>
              </p:nvSpPr>
              <p:spPr>
                <a:xfrm>
                  <a:off x="5832142" y="5743355"/>
                  <a:ext cx="72334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it-IT" b="0" i="1" dirty="0"/>
                    <a:t>x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/>
                            </a:rPr>
                            <m:t>𝑡</m:t>
                          </m:r>
                        </m:e>
                      </m:d>
                    </m:oMath>
                  </a14:m>
                  <a:endParaRPr lang="it-IT" i="1" dirty="0"/>
                </a:p>
              </p:txBody>
            </p:sp>
          </mc:Choice>
          <mc:Fallback xmlns="">
            <p:sp>
              <p:nvSpPr>
                <p:cNvPr id="23" name="Rettangolo 22">
                  <a:extLst>
                    <a:ext uri="{FF2B5EF4-FFF2-40B4-BE49-F238E27FC236}">
                      <a16:creationId xmlns:a16="http://schemas.microsoft.com/office/drawing/2014/main" id="{7FAC19A1-6E3D-0D42-9F4F-5AC8291CE8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2142" y="5743355"/>
                  <a:ext cx="723340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2069" t="-7895" b="-26316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ttangolo 23">
                  <a:extLst>
                    <a:ext uri="{FF2B5EF4-FFF2-40B4-BE49-F238E27FC236}">
                      <a16:creationId xmlns:a16="http://schemas.microsoft.com/office/drawing/2014/main" id="{74F2ED2E-AF5A-EF48-BB0E-A58DCB044334}"/>
                    </a:ext>
                  </a:extLst>
                </p:cNvPr>
                <p:cNvSpPr/>
                <p:nvPr/>
              </p:nvSpPr>
              <p:spPr>
                <a:xfrm>
                  <a:off x="4226703" y="4895216"/>
                  <a:ext cx="72334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it-IT" b="0" i="1" dirty="0"/>
                    <a:t>u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/>
                            </a:rPr>
                            <m:t>𝑡</m:t>
                          </m:r>
                        </m:e>
                      </m:d>
                    </m:oMath>
                  </a14:m>
                  <a:endParaRPr lang="it-IT" i="1" dirty="0"/>
                </a:p>
              </p:txBody>
            </p:sp>
          </mc:Choice>
          <mc:Fallback xmlns="">
            <p:sp>
              <p:nvSpPr>
                <p:cNvPr id="24" name="Rettangolo 23">
                  <a:extLst>
                    <a:ext uri="{FF2B5EF4-FFF2-40B4-BE49-F238E27FC236}">
                      <a16:creationId xmlns:a16="http://schemas.microsoft.com/office/drawing/2014/main" id="{74F2ED2E-AF5A-EF48-BB0E-A58DCB0443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6703" y="4895216"/>
                  <a:ext cx="72334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2069" t="-10811" b="-27027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94028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Assegnamento degli </a:t>
            </a:r>
            <a:r>
              <a:rPr lang="it-IT" dirty="0" err="1"/>
              <a:t>autovalori</a:t>
            </a:r>
            <a:r>
              <a:rPr lang="it-IT" dirty="0"/>
              <a:t> vs approccio </a:t>
            </a:r>
            <a:r>
              <a:rPr lang="it-IT" dirty="0" err="1"/>
              <a:t>frequency</a:t>
            </a:r>
            <a:r>
              <a:rPr lang="it-IT" dirty="0"/>
              <a:t> </a:t>
            </a:r>
            <a:r>
              <a:rPr lang="it-IT" dirty="0" err="1"/>
              <a:t>shaping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981522"/>
            <a:ext cx="8784976" cy="5111774"/>
          </a:xfrm>
        </p:spPr>
        <p:txBody>
          <a:bodyPr/>
          <a:lstStyle/>
          <a:p>
            <a:pPr algn="just"/>
            <a:r>
              <a:rPr lang="it-IT" dirty="0"/>
              <a:t>Nel seguito di questo corso affronteremo due generalizzazioni del problema dell’assegnamento degli </a:t>
            </a:r>
            <a:r>
              <a:rPr lang="it-IT" dirty="0" err="1"/>
              <a:t>autovalori</a:t>
            </a:r>
            <a:r>
              <a:rPr lang="it-IT" dirty="0"/>
              <a:t> che risolvono parte delle limitazioni assegnate in precedenza:</a:t>
            </a:r>
          </a:p>
          <a:p>
            <a:pPr algn="just"/>
            <a:endParaRPr lang="it-IT" dirty="0"/>
          </a:p>
          <a:p>
            <a:pPr lvl="1" algn="just"/>
            <a:r>
              <a:rPr lang="it-IT" sz="2000" b="1" dirty="0">
                <a:solidFill>
                  <a:schemeClr val="accent2"/>
                </a:solidFill>
              </a:rPr>
              <a:t>Assegnamento degli </a:t>
            </a:r>
            <a:r>
              <a:rPr lang="it-IT" sz="2000" b="1" dirty="0" err="1">
                <a:solidFill>
                  <a:schemeClr val="accent2"/>
                </a:solidFill>
              </a:rPr>
              <a:t>autovalori</a:t>
            </a:r>
            <a:r>
              <a:rPr lang="it-IT" sz="2000" b="1" dirty="0">
                <a:solidFill>
                  <a:schemeClr val="accent2"/>
                </a:solidFill>
              </a:rPr>
              <a:t> con specifiche di regime</a:t>
            </a:r>
          </a:p>
          <a:p>
            <a:pPr lvl="1" algn="just"/>
            <a:endParaRPr lang="it-IT" sz="2000" b="1" dirty="0">
              <a:solidFill>
                <a:schemeClr val="accent2"/>
              </a:solidFill>
            </a:endParaRPr>
          </a:p>
          <a:p>
            <a:pPr lvl="1" algn="just"/>
            <a:r>
              <a:rPr lang="it-IT" sz="2000" b="1" dirty="0">
                <a:solidFill>
                  <a:schemeClr val="accent2"/>
                </a:solidFill>
              </a:rPr>
              <a:t>Assegnamento degli </a:t>
            </a:r>
            <a:r>
              <a:rPr lang="it-IT" sz="2000" b="1" dirty="0" err="1">
                <a:solidFill>
                  <a:schemeClr val="accent2"/>
                </a:solidFill>
              </a:rPr>
              <a:t>autovalori</a:t>
            </a:r>
            <a:r>
              <a:rPr lang="it-IT" sz="2000" b="1" dirty="0">
                <a:solidFill>
                  <a:schemeClr val="accent2"/>
                </a:solidFill>
              </a:rPr>
              <a:t> a partire dalla conoscenza delle uscite del sistema e non dell’intero vettore di stato</a:t>
            </a:r>
          </a:p>
          <a:p>
            <a:pPr lvl="1" algn="just"/>
            <a:endParaRPr lang="it-IT" sz="2000" b="1" dirty="0">
              <a:solidFill>
                <a:schemeClr val="accent2"/>
              </a:solidFill>
            </a:endParaRPr>
          </a:p>
          <a:p>
            <a:pPr algn="just"/>
            <a:r>
              <a:rPr lang="it-IT" dirty="0"/>
              <a:t>In corsi più avanzati, è possibile generalizzare entrambe queste tecniche di controllo nel dominio di Laplace e nel dominio del tempo anche a casi Multi-Input, in cui il segnale di controllo non è più scalare ma vettoriale.</a:t>
            </a:r>
          </a:p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20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CARLO@ZSQZHD0P69FCEKCE" val="2976"/>
  <p:tag name="DEFAULTDISPLAYSOURCE" val="\documentclass{slides}\pagestyle{empty}&#10;\usepackage{amsmath}&#10;\usepackage{amsfonts}&#10;\begin{document}&#10;\begin{align*}&#10;&#10;\end{align*}&#10;\end{document}&#10;"/>
  <p:tag name="EMBEDFONTS" val="1"/>
</p:tagLst>
</file>

<file path=ppt/theme/theme1.xml><?xml version="1.0" encoding="utf-8"?>
<a:theme xmlns:a="http://schemas.openxmlformats.org/drawingml/2006/main" name="Struttura predefinita">
  <a:themeElements>
    <a:clrScheme name="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Verdana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DF14A0A7E7A51419A46051E6F391250" ma:contentTypeVersion="0" ma:contentTypeDescription="Creare un nuovo documento." ma:contentTypeScope="" ma:versionID="60bf65bfbfb5cdc364fc884ed05b0e9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5194ef39032683069acb23aaa508486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0FBDBDC-67FC-4DE1-8A64-7267264F2BBF}"/>
</file>

<file path=customXml/itemProps2.xml><?xml version="1.0" encoding="utf-8"?>
<ds:datastoreItem xmlns:ds="http://schemas.openxmlformats.org/officeDocument/2006/customXml" ds:itemID="{DF514FF8-BF98-4ABB-A056-1D3E5F36DC1F}"/>
</file>

<file path=customXml/itemProps3.xml><?xml version="1.0" encoding="utf-8"?>
<ds:datastoreItem xmlns:ds="http://schemas.openxmlformats.org/officeDocument/2006/customXml" ds:itemID="{D87297F9-4431-424D-8025-85B7E502116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32335</TotalTime>
  <Words>2040</Words>
  <Application>Microsoft Macintosh PowerPoint</Application>
  <PresentationFormat>Presentazione su schermo (4:3)</PresentationFormat>
  <Paragraphs>269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8" baseType="lpstr">
      <vt:lpstr>Times New Roman</vt:lpstr>
      <vt:lpstr>Palatino</vt:lpstr>
      <vt:lpstr>Cambria Math</vt:lpstr>
      <vt:lpstr>Garamond</vt:lpstr>
      <vt:lpstr>Arial</vt:lpstr>
      <vt:lpstr>Wingdings 2</vt:lpstr>
      <vt:lpstr>Verdana</vt:lpstr>
      <vt:lpstr>Struttura predefinita</vt:lpstr>
      <vt:lpstr>Presentazione standard di PowerPoint</vt:lpstr>
      <vt:lpstr>Assegnamento degli autovalori</vt:lpstr>
      <vt:lpstr>Assegnamento degli autovalori</vt:lpstr>
      <vt:lpstr>Assegnamento degli autovalori - raggiungibilità</vt:lpstr>
      <vt:lpstr>Assegnamento degli autovalori - raggiungibilità</vt:lpstr>
      <vt:lpstr>Assegnamento degli autovalori - raggiungibilità</vt:lpstr>
      <vt:lpstr>Assegnamento degli autovalori - raggiungibilità</vt:lpstr>
      <vt:lpstr>Esempio</vt:lpstr>
      <vt:lpstr>Esempio</vt:lpstr>
      <vt:lpstr>Esempio</vt:lpstr>
      <vt:lpstr>Stabilizzabilità</vt:lpstr>
      <vt:lpstr>Formula di Ackermann</vt:lpstr>
      <vt:lpstr>Assegnamento degli autovalori - raggiungibilità</vt:lpstr>
      <vt:lpstr>Assegnamento degli autovalori - raggiungibilità</vt:lpstr>
      <vt:lpstr>Assegnamento degli autovalori - raggiungibilità</vt:lpstr>
      <vt:lpstr>Assegnamento degli autovalori - raggiungibilità</vt:lpstr>
      <vt:lpstr>Unicità della matrice di assegnamento degli autovalori</vt:lpstr>
      <vt:lpstr>Assegnamento degli autovalori vs approccio frequency shaping</vt:lpstr>
      <vt:lpstr>Assegnamento degli autovalori vs approccio frequency shaping</vt:lpstr>
      <vt:lpstr>Assegnamento degli autovalori vs approccio frequency shaping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Carlo</dc:creator>
  <cp:lastModifiedBy>ROBERTO AMBROSINO</cp:lastModifiedBy>
  <cp:revision>960</cp:revision>
  <dcterms:created xsi:type="dcterms:W3CDTF">1601-01-01T00:00:00Z</dcterms:created>
  <dcterms:modified xsi:type="dcterms:W3CDTF">2022-12-14T15:14:56Z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0x0101004DF14A0A7E7A51419A46051E6F391250</vt:lpwstr>
  </property>
</Properties>
</file>